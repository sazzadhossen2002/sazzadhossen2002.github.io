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65"/>
  </p:notesMasterIdLst>
  <p:handoutMasterIdLst>
    <p:handoutMasterId r:id="rId66"/>
  </p:handoutMasterIdLst>
  <p:sldIdLst>
    <p:sldId id="256" r:id="rId2"/>
    <p:sldId id="419" r:id="rId3"/>
    <p:sldId id="348" r:id="rId4"/>
    <p:sldId id="257" r:id="rId5"/>
    <p:sldId id="353" r:id="rId6"/>
    <p:sldId id="354" r:id="rId7"/>
    <p:sldId id="421" r:id="rId8"/>
    <p:sldId id="420" r:id="rId9"/>
    <p:sldId id="422" r:id="rId10"/>
    <p:sldId id="383" r:id="rId11"/>
    <p:sldId id="356" r:id="rId12"/>
    <p:sldId id="358" r:id="rId13"/>
    <p:sldId id="360" r:id="rId14"/>
    <p:sldId id="361" r:id="rId15"/>
    <p:sldId id="418" r:id="rId16"/>
    <p:sldId id="365" r:id="rId17"/>
    <p:sldId id="375" r:id="rId18"/>
    <p:sldId id="376" r:id="rId19"/>
    <p:sldId id="377" r:id="rId20"/>
    <p:sldId id="378" r:id="rId21"/>
    <p:sldId id="362" r:id="rId22"/>
    <p:sldId id="370" r:id="rId23"/>
    <p:sldId id="369" r:id="rId24"/>
    <p:sldId id="367" r:id="rId25"/>
    <p:sldId id="366" r:id="rId26"/>
    <p:sldId id="371" r:id="rId27"/>
    <p:sldId id="373" r:id="rId28"/>
    <p:sldId id="384" r:id="rId29"/>
    <p:sldId id="263" r:id="rId30"/>
    <p:sldId id="357" r:id="rId31"/>
    <p:sldId id="385" r:id="rId32"/>
    <p:sldId id="387" r:id="rId33"/>
    <p:sldId id="389" r:id="rId34"/>
    <p:sldId id="388" r:id="rId35"/>
    <p:sldId id="390" r:id="rId36"/>
    <p:sldId id="396" r:id="rId37"/>
    <p:sldId id="395" r:id="rId38"/>
    <p:sldId id="402" r:id="rId39"/>
    <p:sldId id="404" r:id="rId40"/>
    <p:sldId id="403" r:id="rId41"/>
    <p:sldId id="355" r:id="rId42"/>
    <p:sldId id="399" r:id="rId43"/>
    <p:sldId id="406" r:id="rId44"/>
    <p:sldId id="407" r:id="rId45"/>
    <p:sldId id="363" r:id="rId46"/>
    <p:sldId id="381" r:id="rId47"/>
    <p:sldId id="382" r:id="rId48"/>
    <p:sldId id="423" r:id="rId49"/>
    <p:sldId id="277" r:id="rId50"/>
    <p:sldId id="391" r:id="rId51"/>
    <p:sldId id="401" r:id="rId52"/>
    <p:sldId id="405" r:id="rId53"/>
    <p:sldId id="409" r:id="rId54"/>
    <p:sldId id="392" r:id="rId55"/>
    <p:sldId id="364" r:id="rId56"/>
    <p:sldId id="413" r:id="rId57"/>
    <p:sldId id="415" r:id="rId58"/>
    <p:sldId id="417" r:id="rId59"/>
    <p:sldId id="411" r:id="rId60"/>
    <p:sldId id="397" r:id="rId61"/>
    <p:sldId id="398" r:id="rId62"/>
    <p:sldId id="400" r:id="rId63"/>
    <p:sldId id="410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DE"/>
    <a:srgbClr val="FFF6E5"/>
    <a:srgbClr val="D4D4D4"/>
    <a:srgbClr val="000066"/>
    <a:srgbClr val="C88800"/>
    <a:srgbClr val="B45A00"/>
    <a:srgbClr val="F6C3FF"/>
    <a:srgbClr val="B35A00"/>
    <a:srgbClr val="7F3F00"/>
    <a:srgbClr val="7979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0065" autoAdjust="0"/>
  </p:normalViewPr>
  <p:slideViewPr>
    <p:cSldViewPr snapToGrid="0">
      <p:cViewPr varScale="1">
        <p:scale>
          <a:sx n="80" d="100"/>
          <a:sy n="80" d="100"/>
        </p:scale>
        <p:origin x="94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82" d="100"/>
        <a:sy n="182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36A12E-F61D-43E2-A590-85305BBA3FC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2508E6-0249-44A1-AD07-161BCE236C0D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Overview of RF Receiver</a:t>
          </a:r>
        </a:p>
      </dgm:t>
    </dgm:pt>
    <dgm:pt modelId="{B076F488-F715-4D7B-99C9-248BA43FFB57}" type="parTrans" cxnId="{76A2D96D-48D7-4EDB-8056-5972920A8538}">
      <dgm:prSet/>
      <dgm:spPr/>
      <dgm:t>
        <a:bodyPr/>
        <a:lstStyle/>
        <a:p>
          <a:endParaRPr lang="en-US"/>
        </a:p>
      </dgm:t>
    </dgm:pt>
    <dgm:pt modelId="{B76AB250-7EBF-41A2-9D80-608892E29152}" type="sibTrans" cxnId="{76A2D96D-48D7-4EDB-8056-5972920A8538}">
      <dgm:prSet/>
      <dgm:spPr/>
      <dgm:t>
        <a:bodyPr/>
        <a:lstStyle/>
        <a:p>
          <a:endParaRPr lang="en-US"/>
        </a:p>
      </dgm:t>
    </dgm:pt>
    <dgm:pt modelId="{C67F7F39-1463-420F-BEDE-ECE92412406C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Low Pass Filter</a:t>
          </a:r>
        </a:p>
      </dgm:t>
    </dgm:pt>
    <dgm:pt modelId="{39D8A517-73B2-48D1-AA0B-837EE9A26A80}" type="parTrans" cxnId="{D730FF08-EA2E-4441-A175-05EC5A1AD50A}">
      <dgm:prSet/>
      <dgm:spPr/>
      <dgm:t>
        <a:bodyPr/>
        <a:lstStyle/>
        <a:p>
          <a:endParaRPr lang="en-US"/>
        </a:p>
      </dgm:t>
    </dgm:pt>
    <dgm:pt modelId="{B404E353-BFB6-42A9-9085-80FB46546B94}" type="sibTrans" cxnId="{D730FF08-EA2E-4441-A175-05EC5A1AD50A}">
      <dgm:prSet/>
      <dgm:spPr/>
      <dgm:t>
        <a:bodyPr/>
        <a:lstStyle/>
        <a:p>
          <a:endParaRPr lang="en-US"/>
        </a:p>
      </dgm:t>
    </dgm:pt>
    <dgm:pt modelId="{887C75AD-737B-4883-B77A-3591B6A5C51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Mixer</a:t>
          </a:r>
        </a:p>
      </dgm:t>
    </dgm:pt>
    <dgm:pt modelId="{0805266B-557A-4F4A-B984-47D3F8D4BE22}" type="parTrans" cxnId="{51AE1DF7-3B90-4C61-A4B9-ABDEEE511DAC}">
      <dgm:prSet/>
      <dgm:spPr/>
      <dgm:t>
        <a:bodyPr/>
        <a:lstStyle/>
        <a:p>
          <a:endParaRPr lang="en-US"/>
        </a:p>
      </dgm:t>
    </dgm:pt>
    <dgm:pt modelId="{CFD01E86-3C7F-4663-B4EA-D964EBCED013}" type="sibTrans" cxnId="{51AE1DF7-3B90-4C61-A4B9-ABDEEE511DAC}">
      <dgm:prSet/>
      <dgm:spPr/>
      <dgm:t>
        <a:bodyPr/>
        <a:lstStyle/>
        <a:p>
          <a:endParaRPr lang="en-US"/>
        </a:p>
      </dgm:t>
    </dgm:pt>
    <dgm:pt modelId="{A06C532D-1E6B-4A99-8F38-719C820AEB41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Low Noise Amplifier</a:t>
          </a:r>
        </a:p>
      </dgm:t>
    </dgm:pt>
    <dgm:pt modelId="{2EDC260E-F5F1-42DC-A29A-6D46AEE054C6}" type="parTrans" cxnId="{47553E42-E98D-4E69-B442-A1CB80D87800}">
      <dgm:prSet/>
      <dgm:spPr/>
      <dgm:t>
        <a:bodyPr/>
        <a:lstStyle/>
        <a:p>
          <a:endParaRPr lang="en-US"/>
        </a:p>
      </dgm:t>
    </dgm:pt>
    <dgm:pt modelId="{E900D4E3-8521-4A58-9E68-676FAE129E83}" type="sibTrans" cxnId="{47553E42-E98D-4E69-B442-A1CB80D87800}">
      <dgm:prSet/>
      <dgm:spPr/>
      <dgm:t>
        <a:bodyPr/>
        <a:lstStyle/>
        <a:p>
          <a:endParaRPr lang="en-US"/>
        </a:p>
      </dgm:t>
    </dgm:pt>
    <dgm:pt modelId="{5FD7417F-33D2-46CC-A396-E4D2D61628BB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Band Pass Filter</a:t>
          </a:r>
        </a:p>
      </dgm:t>
    </dgm:pt>
    <dgm:pt modelId="{395B8CDD-51BE-4EE2-A073-084C8472EB4C}" type="parTrans" cxnId="{73737636-C3E6-47A7-AE6A-B6243B33091F}">
      <dgm:prSet/>
      <dgm:spPr/>
      <dgm:t>
        <a:bodyPr/>
        <a:lstStyle/>
        <a:p>
          <a:endParaRPr lang="en-US"/>
        </a:p>
      </dgm:t>
    </dgm:pt>
    <dgm:pt modelId="{37AB88E8-B047-4BA4-BF35-95A980A1AE10}" type="sibTrans" cxnId="{73737636-C3E6-47A7-AE6A-B6243B33091F}">
      <dgm:prSet/>
      <dgm:spPr/>
      <dgm:t>
        <a:bodyPr/>
        <a:lstStyle/>
        <a:p>
          <a:endParaRPr lang="en-US"/>
        </a:p>
      </dgm:t>
    </dgm:pt>
    <dgm:pt modelId="{0B00EB34-A757-489B-A20D-1BF580B58791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Integrated RF Receiver</a:t>
          </a:r>
        </a:p>
      </dgm:t>
    </dgm:pt>
    <dgm:pt modelId="{36E3C230-62F3-44A2-8BCA-58881AA3343C}" type="parTrans" cxnId="{643DCF6E-5699-4288-99AE-2AFAAC9F153A}">
      <dgm:prSet/>
      <dgm:spPr/>
      <dgm:t>
        <a:bodyPr/>
        <a:lstStyle/>
        <a:p>
          <a:endParaRPr lang="en-US"/>
        </a:p>
      </dgm:t>
    </dgm:pt>
    <dgm:pt modelId="{8CFD230D-879B-420D-8870-DEE81E176895}" type="sibTrans" cxnId="{643DCF6E-5699-4288-99AE-2AFAAC9F153A}">
      <dgm:prSet/>
      <dgm:spPr/>
      <dgm:t>
        <a:bodyPr/>
        <a:lstStyle/>
        <a:p>
          <a:endParaRPr lang="en-US"/>
        </a:p>
      </dgm:t>
    </dgm:pt>
    <dgm:pt modelId="{53E261B4-C468-41A3-9995-7206B6926504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4C4019DC-93E6-4699-AB5D-B5CF7DC736D6}" type="parTrans" cxnId="{9F457556-223E-4B5B-B636-AD906CB0E7C5}">
      <dgm:prSet/>
      <dgm:spPr/>
      <dgm:t>
        <a:bodyPr/>
        <a:lstStyle/>
        <a:p>
          <a:endParaRPr lang="en-US"/>
        </a:p>
      </dgm:t>
    </dgm:pt>
    <dgm:pt modelId="{8EA5731D-9EC6-428A-93E6-77FCC2CE71BB}" type="sibTrans" cxnId="{9F457556-223E-4B5B-B636-AD906CB0E7C5}">
      <dgm:prSet/>
      <dgm:spPr/>
      <dgm:t>
        <a:bodyPr/>
        <a:lstStyle/>
        <a:p>
          <a:endParaRPr lang="en-US"/>
        </a:p>
      </dgm:t>
    </dgm:pt>
    <dgm:pt modelId="{3C7DAB56-95AA-42B8-AAEE-4F130E5FE0C7}" type="pres">
      <dgm:prSet presAssocID="{B636A12E-F61D-43E2-A590-85305BBA3FCF}" presName="Name0" presStyleCnt="0">
        <dgm:presLayoutVars>
          <dgm:chMax val="7"/>
          <dgm:chPref val="7"/>
          <dgm:dir/>
        </dgm:presLayoutVars>
      </dgm:prSet>
      <dgm:spPr/>
    </dgm:pt>
    <dgm:pt modelId="{01255A75-09C5-4AAD-9139-78FCE84249E7}" type="pres">
      <dgm:prSet presAssocID="{B636A12E-F61D-43E2-A590-85305BBA3FCF}" presName="Name1" presStyleCnt="0"/>
      <dgm:spPr/>
    </dgm:pt>
    <dgm:pt modelId="{B1F7339C-1330-4EE4-B04B-A34AA8395429}" type="pres">
      <dgm:prSet presAssocID="{B636A12E-F61D-43E2-A590-85305BBA3FCF}" presName="cycle" presStyleCnt="0"/>
      <dgm:spPr/>
    </dgm:pt>
    <dgm:pt modelId="{18D5291A-43D4-47FD-A7C5-8B83B9BEE9FC}" type="pres">
      <dgm:prSet presAssocID="{B636A12E-F61D-43E2-A590-85305BBA3FCF}" presName="srcNode" presStyleLbl="node1" presStyleIdx="0" presStyleCnt="7"/>
      <dgm:spPr/>
    </dgm:pt>
    <dgm:pt modelId="{83341114-1ED9-43FA-9172-30F16FFFDDB2}" type="pres">
      <dgm:prSet presAssocID="{B636A12E-F61D-43E2-A590-85305BBA3FCF}" presName="conn" presStyleLbl="parChTrans1D2" presStyleIdx="0" presStyleCnt="1"/>
      <dgm:spPr/>
    </dgm:pt>
    <dgm:pt modelId="{051BAA4D-2D07-446B-8864-3152EBC149E4}" type="pres">
      <dgm:prSet presAssocID="{B636A12E-F61D-43E2-A590-85305BBA3FCF}" presName="extraNode" presStyleLbl="node1" presStyleIdx="0" presStyleCnt="7"/>
      <dgm:spPr/>
    </dgm:pt>
    <dgm:pt modelId="{C74B9B8D-6389-4938-8930-A909ADBFC2E1}" type="pres">
      <dgm:prSet presAssocID="{B636A12E-F61D-43E2-A590-85305BBA3FCF}" presName="dstNode" presStyleLbl="node1" presStyleIdx="0" presStyleCnt="7"/>
      <dgm:spPr/>
    </dgm:pt>
    <dgm:pt modelId="{0D4344C1-F8F1-4862-B297-2D3C84749C66}" type="pres">
      <dgm:prSet presAssocID="{022508E6-0249-44A1-AD07-161BCE236C0D}" presName="text_1" presStyleLbl="node1" presStyleIdx="0" presStyleCnt="7">
        <dgm:presLayoutVars>
          <dgm:bulletEnabled val="1"/>
        </dgm:presLayoutVars>
      </dgm:prSet>
      <dgm:spPr/>
    </dgm:pt>
    <dgm:pt modelId="{5A8FE525-9672-4476-845D-A5E4CAE63206}" type="pres">
      <dgm:prSet presAssocID="{022508E6-0249-44A1-AD07-161BCE236C0D}" presName="accent_1" presStyleCnt="0"/>
      <dgm:spPr/>
    </dgm:pt>
    <dgm:pt modelId="{713187EC-D67D-4069-9B34-DD18849A374C}" type="pres">
      <dgm:prSet presAssocID="{022508E6-0249-44A1-AD07-161BCE236C0D}" presName="accentRepeatNode" presStyleLbl="solidFgAcc1" presStyleIdx="0" presStyleCnt="7"/>
      <dgm:spPr/>
    </dgm:pt>
    <dgm:pt modelId="{2E170ADB-E4DE-4661-AFBF-59552D65AE4E}" type="pres">
      <dgm:prSet presAssocID="{C67F7F39-1463-420F-BEDE-ECE92412406C}" presName="text_2" presStyleLbl="node1" presStyleIdx="1" presStyleCnt="7">
        <dgm:presLayoutVars>
          <dgm:bulletEnabled val="1"/>
        </dgm:presLayoutVars>
      </dgm:prSet>
      <dgm:spPr/>
    </dgm:pt>
    <dgm:pt modelId="{E1B661AC-D2E4-47A2-8B40-BD912D8C45E1}" type="pres">
      <dgm:prSet presAssocID="{C67F7F39-1463-420F-BEDE-ECE92412406C}" presName="accent_2" presStyleCnt="0"/>
      <dgm:spPr/>
    </dgm:pt>
    <dgm:pt modelId="{EA94081E-A419-4DBF-96F3-DB465F744423}" type="pres">
      <dgm:prSet presAssocID="{C67F7F39-1463-420F-BEDE-ECE92412406C}" presName="accentRepeatNode" presStyleLbl="solidFgAcc1" presStyleIdx="1" presStyleCnt="7"/>
      <dgm:spPr/>
    </dgm:pt>
    <dgm:pt modelId="{9CB420B1-6516-4F1F-81D9-F46DA9AABEFF}" type="pres">
      <dgm:prSet presAssocID="{887C75AD-737B-4883-B77A-3591B6A5C51F}" presName="text_3" presStyleLbl="node1" presStyleIdx="2" presStyleCnt="7">
        <dgm:presLayoutVars>
          <dgm:bulletEnabled val="1"/>
        </dgm:presLayoutVars>
      </dgm:prSet>
      <dgm:spPr/>
    </dgm:pt>
    <dgm:pt modelId="{5B1289EC-2584-4A11-9FA4-4191876123F1}" type="pres">
      <dgm:prSet presAssocID="{887C75AD-737B-4883-B77A-3591B6A5C51F}" presName="accent_3" presStyleCnt="0"/>
      <dgm:spPr/>
    </dgm:pt>
    <dgm:pt modelId="{59783338-AA1D-4ECC-BC18-C1F8B9798E04}" type="pres">
      <dgm:prSet presAssocID="{887C75AD-737B-4883-B77A-3591B6A5C51F}" presName="accentRepeatNode" presStyleLbl="solidFgAcc1" presStyleIdx="2" presStyleCnt="7"/>
      <dgm:spPr/>
    </dgm:pt>
    <dgm:pt modelId="{F1D2049F-AE46-4E89-8129-0E4C92D03B39}" type="pres">
      <dgm:prSet presAssocID="{A06C532D-1E6B-4A99-8F38-719C820AEB41}" presName="text_4" presStyleLbl="node1" presStyleIdx="3" presStyleCnt="7">
        <dgm:presLayoutVars>
          <dgm:bulletEnabled val="1"/>
        </dgm:presLayoutVars>
      </dgm:prSet>
      <dgm:spPr/>
    </dgm:pt>
    <dgm:pt modelId="{1E99A56C-CFD0-431A-A8E2-C72A67E3106F}" type="pres">
      <dgm:prSet presAssocID="{A06C532D-1E6B-4A99-8F38-719C820AEB41}" presName="accent_4" presStyleCnt="0"/>
      <dgm:spPr/>
    </dgm:pt>
    <dgm:pt modelId="{60C74C8C-E90D-4E33-B276-28ED00EBAC6C}" type="pres">
      <dgm:prSet presAssocID="{A06C532D-1E6B-4A99-8F38-719C820AEB41}" presName="accentRepeatNode" presStyleLbl="solidFgAcc1" presStyleIdx="3" presStyleCnt="7"/>
      <dgm:spPr/>
    </dgm:pt>
    <dgm:pt modelId="{CF0EE783-C69C-48DD-A88E-E9B5EDED58D6}" type="pres">
      <dgm:prSet presAssocID="{5FD7417F-33D2-46CC-A396-E4D2D61628BB}" presName="text_5" presStyleLbl="node1" presStyleIdx="4" presStyleCnt="7">
        <dgm:presLayoutVars>
          <dgm:bulletEnabled val="1"/>
        </dgm:presLayoutVars>
      </dgm:prSet>
      <dgm:spPr/>
    </dgm:pt>
    <dgm:pt modelId="{9918D572-86CF-4B1C-9A66-4FB055230186}" type="pres">
      <dgm:prSet presAssocID="{5FD7417F-33D2-46CC-A396-E4D2D61628BB}" presName="accent_5" presStyleCnt="0"/>
      <dgm:spPr/>
    </dgm:pt>
    <dgm:pt modelId="{11DDFF8E-CAC7-4174-861C-85BA840150BA}" type="pres">
      <dgm:prSet presAssocID="{5FD7417F-33D2-46CC-A396-E4D2D61628BB}" presName="accentRepeatNode" presStyleLbl="solidFgAcc1" presStyleIdx="4" presStyleCnt="7"/>
      <dgm:spPr/>
    </dgm:pt>
    <dgm:pt modelId="{BC56D5FF-7BED-44AE-9D58-3A9BE97DACFD}" type="pres">
      <dgm:prSet presAssocID="{0B00EB34-A757-489B-A20D-1BF580B58791}" presName="text_6" presStyleLbl="node1" presStyleIdx="5" presStyleCnt="7">
        <dgm:presLayoutVars>
          <dgm:bulletEnabled val="1"/>
        </dgm:presLayoutVars>
      </dgm:prSet>
      <dgm:spPr/>
    </dgm:pt>
    <dgm:pt modelId="{85055653-D3D2-4648-81B2-1AC14F9868C1}" type="pres">
      <dgm:prSet presAssocID="{0B00EB34-A757-489B-A20D-1BF580B58791}" presName="accent_6" presStyleCnt="0"/>
      <dgm:spPr/>
    </dgm:pt>
    <dgm:pt modelId="{A8E22497-CF8F-45EE-84E7-86EABDC408E7}" type="pres">
      <dgm:prSet presAssocID="{0B00EB34-A757-489B-A20D-1BF580B58791}" presName="accentRepeatNode" presStyleLbl="solidFgAcc1" presStyleIdx="5" presStyleCnt="7"/>
      <dgm:spPr/>
    </dgm:pt>
    <dgm:pt modelId="{D3D57AED-3C9B-4FFF-8EE3-B951C92CF170}" type="pres">
      <dgm:prSet presAssocID="{53E261B4-C468-41A3-9995-7206B6926504}" presName="text_7" presStyleLbl="node1" presStyleIdx="6" presStyleCnt="7">
        <dgm:presLayoutVars>
          <dgm:bulletEnabled val="1"/>
        </dgm:presLayoutVars>
      </dgm:prSet>
      <dgm:spPr/>
    </dgm:pt>
    <dgm:pt modelId="{1BBEB215-5BE9-4AFF-90AC-F71D43AB41CD}" type="pres">
      <dgm:prSet presAssocID="{53E261B4-C468-41A3-9995-7206B6926504}" presName="accent_7" presStyleCnt="0"/>
      <dgm:spPr/>
    </dgm:pt>
    <dgm:pt modelId="{AAC8D959-307A-4CFA-A9AE-E859013F1E38}" type="pres">
      <dgm:prSet presAssocID="{53E261B4-C468-41A3-9995-7206B6926504}" presName="accentRepeatNode" presStyleLbl="solidFgAcc1" presStyleIdx="6" presStyleCnt="7"/>
      <dgm:spPr/>
    </dgm:pt>
  </dgm:ptLst>
  <dgm:cxnLst>
    <dgm:cxn modelId="{0340B101-BE14-44FF-B0CD-3E71FF397C3D}" type="presOf" srcId="{C67F7F39-1463-420F-BEDE-ECE92412406C}" destId="{2E170ADB-E4DE-4661-AFBF-59552D65AE4E}" srcOrd="0" destOrd="0" presId="urn:microsoft.com/office/officeart/2008/layout/VerticalCurvedList"/>
    <dgm:cxn modelId="{5C025B04-DB8D-488C-95F1-226B7D73A2C0}" type="presOf" srcId="{B636A12E-F61D-43E2-A590-85305BBA3FCF}" destId="{3C7DAB56-95AA-42B8-AAEE-4F130E5FE0C7}" srcOrd="0" destOrd="0" presId="urn:microsoft.com/office/officeart/2008/layout/VerticalCurvedList"/>
    <dgm:cxn modelId="{D730FF08-EA2E-4441-A175-05EC5A1AD50A}" srcId="{B636A12E-F61D-43E2-A590-85305BBA3FCF}" destId="{C67F7F39-1463-420F-BEDE-ECE92412406C}" srcOrd="1" destOrd="0" parTransId="{39D8A517-73B2-48D1-AA0B-837EE9A26A80}" sibTransId="{B404E353-BFB6-42A9-9085-80FB46546B94}"/>
    <dgm:cxn modelId="{8019E420-ABEB-4FF1-9AC1-0E207E7C9CBF}" type="presOf" srcId="{887C75AD-737B-4883-B77A-3591B6A5C51F}" destId="{9CB420B1-6516-4F1F-81D9-F46DA9AABEFF}" srcOrd="0" destOrd="0" presId="urn:microsoft.com/office/officeart/2008/layout/VerticalCurvedList"/>
    <dgm:cxn modelId="{8BA74831-CB8B-48CD-8396-98FD5832E878}" type="presOf" srcId="{B76AB250-7EBF-41A2-9D80-608892E29152}" destId="{83341114-1ED9-43FA-9172-30F16FFFDDB2}" srcOrd="0" destOrd="0" presId="urn:microsoft.com/office/officeart/2008/layout/VerticalCurvedList"/>
    <dgm:cxn modelId="{73737636-C3E6-47A7-AE6A-B6243B33091F}" srcId="{B636A12E-F61D-43E2-A590-85305BBA3FCF}" destId="{5FD7417F-33D2-46CC-A396-E4D2D61628BB}" srcOrd="4" destOrd="0" parTransId="{395B8CDD-51BE-4EE2-A073-084C8472EB4C}" sibTransId="{37AB88E8-B047-4BA4-BF35-95A980A1AE10}"/>
    <dgm:cxn modelId="{47553E42-E98D-4E69-B442-A1CB80D87800}" srcId="{B636A12E-F61D-43E2-A590-85305BBA3FCF}" destId="{A06C532D-1E6B-4A99-8F38-719C820AEB41}" srcOrd="3" destOrd="0" parTransId="{2EDC260E-F5F1-42DC-A29A-6D46AEE054C6}" sibTransId="{E900D4E3-8521-4A58-9E68-676FAE129E83}"/>
    <dgm:cxn modelId="{76A2D96D-48D7-4EDB-8056-5972920A8538}" srcId="{B636A12E-F61D-43E2-A590-85305BBA3FCF}" destId="{022508E6-0249-44A1-AD07-161BCE236C0D}" srcOrd="0" destOrd="0" parTransId="{B076F488-F715-4D7B-99C9-248BA43FFB57}" sibTransId="{B76AB250-7EBF-41A2-9D80-608892E29152}"/>
    <dgm:cxn modelId="{643DCF6E-5699-4288-99AE-2AFAAC9F153A}" srcId="{B636A12E-F61D-43E2-A590-85305BBA3FCF}" destId="{0B00EB34-A757-489B-A20D-1BF580B58791}" srcOrd="5" destOrd="0" parTransId="{36E3C230-62F3-44A2-8BCA-58881AA3343C}" sibTransId="{8CFD230D-879B-420D-8870-DEE81E176895}"/>
    <dgm:cxn modelId="{9F457556-223E-4B5B-B636-AD906CB0E7C5}" srcId="{B636A12E-F61D-43E2-A590-85305BBA3FCF}" destId="{53E261B4-C468-41A3-9995-7206B6926504}" srcOrd="6" destOrd="0" parTransId="{4C4019DC-93E6-4699-AB5D-B5CF7DC736D6}" sibTransId="{8EA5731D-9EC6-428A-93E6-77FCC2CE71BB}"/>
    <dgm:cxn modelId="{46A5B459-B851-4B2C-B5A1-B04B4A33DEE3}" type="presOf" srcId="{A06C532D-1E6B-4A99-8F38-719C820AEB41}" destId="{F1D2049F-AE46-4E89-8129-0E4C92D03B39}" srcOrd="0" destOrd="0" presId="urn:microsoft.com/office/officeart/2008/layout/VerticalCurvedList"/>
    <dgm:cxn modelId="{02088995-48E5-4ED9-B978-9A8FBF58385E}" type="presOf" srcId="{53E261B4-C468-41A3-9995-7206B6926504}" destId="{D3D57AED-3C9B-4FFF-8EE3-B951C92CF170}" srcOrd="0" destOrd="0" presId="urn:microsoft.com/office/officeart/2008/layout/VerticalCurvedList"/>
    <dgm:cxn modelId="{C28F74B4-2458-4278-BE04-EEDE1B269EAE}" type="presOf" srcId="{0B00EB34-A757-489B-A20D-1BF580B58791}" destId="{BC56D5FF-7BED-44AE-9D58-3A9BE97DACFD}" srcOrd="0" destOrd="0" presId="urn:microsoft.com/office/officeart/2008/layout/VerticalCurvedList"/>
    <dgm:cxn modelId="{87BEB0B4-D992-477B-A785-9337CD5DCBFD}" type="presOf" srcId="{022508E6-0249-44A1-AD07-161BCE236C0D}" destId="{0D4344C1-F8F1-4862-B297-2D3C84749C66}" srcOrd="0" destOrd="0" presId="urn:microsoft.com/office/officeart/2008/layout/VerticalCurvedList"/>
    <dgm:cxn modelId="{BC3FCBF2-7862-4B86-A455-FDB864454306}" type="presOf" srcId="{5FD7417F-33D2-46CC-A396-E4D2D61628BB}" destId="{CF0EE783-C69C-48DD-A88E-E9B5EDED58D6}" srcOrd="0" destOrd="0" presId="urn:microsoft.com/office/officeart/2008/layout/VerticalCurvedList"/>
    <dgm:cxn modelId="{51AE1DF7-3B90-4C61-A4B9-ABDEEE511DAC}" srcId="{B636A12E-F61D-43E2-A590-85305BBA3FCF}" destId="{887C75AD-737B-4883-B77A-3591B6A5C51F}" srcOrd="2" destOrd="0" parTransId="{0805266B-557A-4F4A-B984-47D3F8D4BE22}" sibTransId="{CFD01E86-3C7F-4663-B4EA-D964EBCED013}"/>
    <dgm:cxn modelId="{52E5422A-3202-491E-B89A-53812D9C57EA}" type="presParOf" srcId="{3C7DAB56-95AA-42B8-AAEE-4F130E5FE0C7}" destId="{01255A75-09C5-4AAD-9139-78FCE84249E7}" srcOrd="0" destOrd="0" presId="urn:microsoft.com/office/officeart/2008/layout/VerticalCurvedList"/>
    <dgm:cxn modelId="{1B78A91F-877C-463E-8C6C-2E8DA35EBC73}" type="presParOf" srcId="{01255A75-09C5-4AAD-9139-78FCE84249E7}" destId="{B1F7339C-1330-4EE4-B04B-A34AA8395429}" srcOrd="0" destOrd="0" presId="urn:microsoft.com/office/officeart/2008/layout/VerticalCurvedList"/>
    <dgm:cxn modelId="{7396CA24-8632-40EF-A99B-2AE88193E123}" type="presParOf" srcId="{B1F7339C-1330-4EE4-B04B-A34AA8395429}" destId="{18D5291A-43D4-47FD-A7C5-8B83B9BEE9FC}" srcOrd="0" destOrd="0" presId="urn:microsoft.com/office/officeart/2008/layout/VerticalCurvedList"/>
    <dgm:cxn modelId="{18F974AE-1AB4-4686-9D42-F1EEEA29FD6B}" type="presParOf" srcId="{B1F7339C-1330-4EE4-B04B-A34AA8395429}" destId="{83341114-1ED9-43FA-9172-30F16FFFDDB2}" srcOrd="1" destOrd="0" presId="urn:microsoft.com/office/officeart/2008/layout/VerticalCurvedList"/>
    <dgm:cxn modelId="{6D032595-BCD2-4C16-8267-3C5539CBEEA8}" type="presParOf" srcId="{B1F7339C-1330-4EE4-B04B-A34AA8395429}" destId="{051BAA4D-2D07-446B-8864-3152EBC149E4}" srcOrd="2" destOrd="0" presId="urn:microsoft.com/office/officeart/2008/layout/VerticalCurvedList"/>
    <dgm:cxn modelId="{4F8D2857-3D25-4942-A69F-437FB80EED9C}" type="presParOf" srcId="{B1F7339C-1330-4EE4-B04B-A34AA8395429}" destId="{C74B9B8D-6389-4938-8930-A909ADBFC2E1}" srcOrd="3" destOrd="0" presId="urn:microsoft.com/office/officeart/2008/layout/VerticalCurvedList"/>
    <dgm:cxn modelId="{61B0D158-E7C9-44DA-A025-F145D749906C}" type="presParOf" srcId="{01255A75-09C5-4AAD-9139-78FCE84249E7}" destId="{0D4344C1-F8F1-4862-B297-2D3C84749C66}" srcOrd="1" destOrd="0" presId="urn:microsoft.com/office/officeart/2008/layout/VerticalCurvedList"/>
    <dgm:cxn modelId="{B1908BAB-96A4-48FA-8CD3-E03EEDACD778}" type="presParOf" srcId="{01255A75-09C5-4AAD-9139-78FCE84249E7}" destId="{5A8FE525-9672-4476-845D-A5E4CAE63206}" srcOrd="2" destOrd="0" presId="urn:microsoft.com/office/officeart/2008/layout/VerticalCurvedList"/>
    <dgm:cxn modelId="{92EB286C-6E7E-4A95-91D2-E3E757974AF0}" type="presParOf" srcId="{5A8FE525-9672-4476-845D-A5E4CAE63206}" destId="{713187EC-D67D-4069-9B34-DD18849A374C}" srcOrd="0" destOrd="0" presId="urn:microsoft.com/office/officeart/2008/layout/VerticalCurvedList"/>
    <dgm:cxn modelId="{286A76D7-BDF3-4946-9153-B88B1E2CF4E3}" type="presParOf" srcId="{01255A75-09C5-4AAD-9139-78FCE84249E7}" destId="{2E170ADB-E4DE-4661-AFBF-59552D65AE4E}" srcOrd="3" destOrd="0" presId="urn:microsoft.com/office/officeart/2008/layout/VerticalCurvedList"/>
    <dgm:cxn modelId="{870ABA48-BE8A-439C-99ED-C0F7A3BC1AFA}" type="presParOf" srcId="{01255A75-09C5-4AAD-9139-78FCE84249E7}" destId="{E1B661AC-D2E4-47A2-8B40-BD912D8C45E1}" srcOrd="4" destOrd="0" presId="urn:microsoft.com/office/officeart/2008/layout/VerticalCurvedList"/>
    <dgm:cxn modelId="{55587FDC-43DC-409D-85DD-5714E566FEEC}" type="presParOf" srcId="{E1B661AC-D2E4-47A2-8B40-BD912D8C45E1}" destId="{EA94081E-A419-4DBF-96F3-DB465F744423}" srcOrd="0" destOrd="0" presId="urn:microsoft.com/office/officeart/2008/layout/VerticalCurvedList"/>
    <dgm:cxn modelId="{50C3A824-CB30-4582-AEEB-1F13E9AF0870}" type="presParOf" srcId="{01255A75-09C5-4AAD-9139-78FCE84249E7}" destId="{9CB420B1-6516-4F1F-81D9-F46DA9AABEFF}" srcOrd="5" destOrd="0" presId="urn:microsoft.com/office/officeart/2008/layout/VerticalCurvedList"/>
    <dgm:cxn modelId="{0A998636-928D-4438-BCA7-C70888A1D075}" type="presParOf" srcId="{01255A75-09C5-4AAD-9139-78FCE84249E7}" destId="{5B1289EC-2584-4A11-9FA4-4191876123F1}" srcOrd="6" destOrd="0" presId="urn:microsoft.com/office/officeart/2008/layout/VerticalCurvedList"/>
    <dgm:cxn modelId="{93A0299C-31A6-4C9A-8348-44143FBCACDE}" type="presParOf" srcId="{5B1289EC-2584-4A11-9FA4-4191876123F1}" destId="{59783338-AA1D-4ECC-BC18-C1F8B9798E04}" srcOrd="0" destOrd="0" presId="urn:microsoft.com/office/officeart/2008/layout/VerticalCurvedList"/>
    <dgm:cxn modelId="{EE7EFFEA-BAA8-4793-9B58-62374E4FC398}" type="presParOf" srcId="{01255A75-09C5-4AAD-9139-78FCE84249E7}" destId="{F1D2049F-AE46-4E89-8129-0E4C92D03B39}" srcOrd="7" destOrd="0" presId="urn:microsoft.com/office/officeart/2008/layout/VerticalCurvedList"/>
    <dgm:cxn modelId="{43D2DC19-D52C-407A-B1D5-862B5736DEA0}" type="presParOf" srcId="{01255A75-09C5-4AAD-9139-78FCE84249E7}" destId="{1E99A56C-CFD0-431A-A8E2-C72A67E3106F}" srcOrd="8" destOrd="0" presId="urn:microsoft.com/office/officeart/2008/layout/VerticalCurvedList"/>
    <dgm:cxn modelId="{C3C263EF-2CF2-46BC-A545-CD67C5D6B255}" type="presParOf" srcId="{1E99A56C-CFD0-431A-A8E2-C72A67E3106F}" destId="{60C74C8C-E90D-4E33-B276-28ED00EBAC6C}" srcOrd="0" destOrd="0" presId="urn:microsoft.com/office/officeart/2008/layout/VerticalCurvedList"/>
    <dgm:cxn modelId="{0DA319A3-9EDB-4DD0-A93A-6B4591540B31}" type="presParOf" srcId="{01255A75-09C5-4AAD-9139-78FCE84249E7}" destId="{CF0EE783-C69C-48DD-A88E-E9B5EDED58D6}" srcOrd="9" destOrd="0" presId="urn:microsoft.com/office/officeart/2008/layout/VerticalCurvedList"/>
    <dgm:cxn modelId="{9911AFAC-8C58-4282-89C6-051C509FD23C}" type="presParOf" srcId="{01255A75-09C5-4AAD-9139-78FCE84249E7}" destId="{9918D572-86CF-4B1C-9A66-4FB055230186}" srcOrd="10" destOrd="0" presId="urn:microsoft.com/office/officeart/2008/layout/VerticalCurvedList"/>
    <dgm:cxn modelId="{295739D6-37AB-4800-8358-5A697096DAD6}" type="presParOf" srcId="{9918D572-86CF-4B1C-9A66-4FB055230186}" destId="{11DDFF8E-CAC7-4174-861C-85BA840150BA}" srcOrd="0" destOrd="0" presId="urn:microsoft.com/office/officeart/2008/layout/VerticalCurvedList"/>
    <dgm:cxn modelId="{B6C67464-6F28-479D-BD17-3EAE9D94838E}" type="presParOf" srcId="{01255A75-09C5-4AAD-9139-78FCE84249E7}" destId="{BC56D5FF-7BED-44AE-9D58-3A9BE97DACFD}" srcOrd="11" destOrd="0" presId="urn:microsoft.com/office/officeart/2008/layout/VerticalCurvedList"/>
    <dgm:cxn modelId="{ED327137-8B0E-4794-8F9B-1AFFB90DA893}" type="presParOf" srcId="{01255A75-09C5-4AAD-9139-78FCE84249E7}" destId="{85055653-D3D2-4648-81B2-1AC14F9868C1}" srcOrd="12" destOrd="0" presId="urn:microsoft.com/office/officeart/2008/layout/VerticalCurvedList"/>
    <dgm:cxn modelId="{9D38810B-3E5F-4ABB-86BA-D64DAD729F7A}" type="presParOf" srcId="{85055653-D3D2-4648-81B2-1AC14F9868C1}" destId="{A8E22497-CF8F-45EE-84E7-86EABDC408E7}" srcOrd="0" destOrd="0" presId="urn:microsoft.com/office/officeart/2008/layout/VerticalCurvedList"/>
    <dgm:cxn modelId="{30EEC4C1-5700-4F2F-ADAC-F11521AAC7FF}" type="presParOf" srcId="{01255A75-09C5-4AAD-9139-78FCE84249E7}" destId="{D3D57AED-3C9B-4FFF-8EE3-B951C92CF170}" srcOrd="13" destOrd="0" presId="urn:microsoft.com/office/officeart/2008/layout/VerticalCurvedList"/>
    <dgm:cxn modelId="{7966EFF3-1B4C-41EA-8B5E-D993056C26CB}" type="presParOf" srcId="{01255A75-09C5-4AAD-9139-78FCE84249E7}" destId="{1BBEB215-5BE9-4AFF-90AC-F71D43AB41CD}" srcOrd="14" destOrd="0" presId="urn:microsoft.com/office/officeart/2008/layout/VerticalCurvedList"/>
    <dgm:cxn modelId="{B160E4C3-5DFE-44D2-BE52-F94C6F0C4F1D}" type="presParOf" srcId="{1BBEB215-5BE9-4AFF-90AC-F71D43AB41CD}" destId="{AAC8D959-307A-4CFA-A9AE-E859013F1E3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341114-1ED9-43FA-9172-30F16FFFDDB2}">
      <dsp:nvSpPr>
        <dsp:cNvPr id="0" name=""/>
        <dsp:cNvSpPr/>
      </dsp:nvSpPr>
      <dsp:spPr>
        <a:xfrm>
          <a:off x="-5749761" y="-880585"/>
          <a:ext cx="6849459" cy="6849459"/>
        </a:xfrm>
        <a:prstGeom prst="blockArc">
          <a:avLst>
            <a:gd name="adj1" fmla="val 18900000"/>
            <a:gd name="adj2" fmla="val 2700000"/>
            <a:gd name="adj3" fmla="val 315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4344C1-F8F1-4862-B297-2D3C84749C66}">
      <dsp:nvSpPr>
        <dsp:cNvPr id="0" name=""/>
        <dsp:cNvSpPr/>
      </dsp:nvSpPr>
      <dsp:spPr>
        <a:xfrm>
          <a:off x="356943" y="231313"/>
          <a:ext cx="8597207" cy="4624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7049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Overview of RF Receiver</a:t>
          </a:r>
        </a:p>
      </dsp:txBody>
      <dsp:txXfrm>
        <a:off x="356943" y="231313"/>
        <a:ext cx="8597207" cy="462423"/>
      </dsp:txXfrm>
    </dsp:sp>
    <dsp:sp modelId="{713187EC-D67D-4069-9B34-DD18849A374C}">
      <dsp:nvSpPr>
        <dsp:cNvPr id="0" name=""/>
        <dsp:cNvSpPr/>
      </dsp:nvSpPr>
      <dsp:spPr>
        <a:xfrm>
          <a:off x="67928" y="173510"/>
          <a:ext cx="578029" cy="5780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70ADB-E4DE-4661-AFBF-59552D65AE4E}">
      <dsp:nvSpPr>
        <dsp:cNvPr id="0" name=""/>
        <dsp:cNvSpPr/>
      </dsp:nvSpPr>
      <dsp:spPr>
        <a:xfrm>
          <a:off x="775709" y="925356"/>
          <a:ext cx="8178441" cy="4624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7049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Low Pass Filter</a:t>
          </a:r>
        </a:p>
      </dsp:txBody>
      <dsp:txXfrm>
        <a:off x="775709" y="925356"/>
        <a:ext cx="8178441" cy="462423"/>
      </dsp:txXfrm>
    </dsp:sp>
    <dsp:sp modelId="{EA94081E-A419-4DBF-96F3-DB465F744423}">
      <dsp:nvSpPr>
        <dsp:cNvPr id="0" name=""/>
        <dsp:cNvSpPr/>
      </dsp:nvSpPr>
      <dsp:spPr>
        <a:xfrm>
          <a:off x="486694" y="867553"/>
          <a:ext cx="578029" cy="5780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B420B1-6516-4F1F-81D9-F46DA9AABEFF}">
      <dsp:nvSpPr>
        <dsp:cNvPr id="0" name=""/>
        <dsp:cNvSpPr/>
      </dsp:nvSpPr>
      <dsp:spPr>
        <a:xfrm>
          <a:off x="1005191" y="1618889"/>
          <a:ext cx="7948960" cy="4624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7049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Mixer</a:t>
          </a:r>
        </a:p>
      </dsp:txBody>
      <dsp:txXfrm>
        <a:off x="1005191" y="1618889"/>
        <a:ext cx="7948960" cy="462423"/>
      </dsp:txXfrm>
    </dsp:sp>
    <dsp:sp modelId="{59783338-AA1D-4ECC-BC18-C1F8B9798E04}">
      <dsp:nvSpPr>
        <dsp:cNvPr id="0" name=""/>
        <dsp:cNvSpPr/>
      </dsp:nvSpPr>
      <dsp:spPr>
        <a:xfrm>
          <a:off x="716176" y="1561086"/>
          <a:ext cx="578029" cy="5780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D2049F-AE46-4E89-8129-0E4C92D03B39}">
      <dsp:nvSpPr>
        <dsp:cNvPr id="0" name=""/>
        <dsp:cNvSpPr/>
      </dsp:nvSpPr>
      <dsp:spPr>
        <a:xfrm>
          <a:off x="1078462" y="2312932"/>
          <a:ext cx="7875688" cy="4624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7049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Low Noise Amplifier</a:t>
          </a:r>
        </a:p>
      </dsp:txBody>
      <dsp:txXfrm>
        <a:off x="1078462" y="2312932"/>
        <a:ext cx="7875688" cy="462423"/>
      </dsp:txXfrm>
    </dsp:sp>
    <dsp:sp modelId="{60C74C8C-E90D-4E33-B276-28ED00EBAC6C}">
      <dsp:nvSpPr>
        <dsp:cNvPr id="0" name=""/>
        <dsp:cNvSpPr/>
      </dsp:nvSpPr>
      <dsp:spPr>
        <a:xfrm>
          <a:off x="789447" y="2255129"/>
          <a:ext cx="578029" cy="5780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EE783-C69C-48DD-A88E-E9B5EDED58D6}">
      <dsp:nvSpPr>
        <dsp:cNvPr id="0" name=""/>
        <dsp:cNvSpPr/>
      </dsp:nvSpPr>
      <dsp:spPr>
        <a:xfrm>
          <a:off x="1005191" y="3006974"/>
          <a:ext cx="7948960" cy="4624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7049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Band Pass Filter</a:t>
          </a:r>
        </a:p>
      </dsp:txBody>
      <dsp:txXfrm>
        <a:off x="1005191" y="3006974"/>
        <a:ext cx="7948960" cy="462423"/>
      </dsp:txXfrm>
    </dsp:sp>
    <dsp:sp modelId="{11DDFF8E-CAC7-4174-861C-85BA840150BA}">
      <dsp:nvSpPr>
        <dsp:cNvPr id="0" name=""/>
        <dsp:cNvSpPr/>
      </dsp:nvSpPr>
      <dsp:spPr>
        <a:xfrm>
          <a:off x="716176" y="2949171"/>
          <a:ext cx="578029" cy="5780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6D5FF-7BED-44AE-9D58-3A9BE97DACFD}">
      <dsp:nvSpPr>
        <dsp:cNvPr id="0" name=""/>
        <dsp:cNvSpPr/>
      </dsp:nvSpPr>
      <dsp:spPr>
        <a:xfrm>
          <a:off x="775709" y="3700508"/>
          <a:ext cx="8178441" cy="4624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7049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Integrated RF Receiver</a:t>
          </a:r>
        </a:p>
      </dsp:txBody>
      <dsp:txXfrm>
        <a:off x="775709" y="3700508"/>
        <a:ext cx="8178441" cy="462423"/>
      </dsp:txXfrm>
    </dsp:sp>
    <dsp:sp modelId="{A8E22497-CF8F-45EE-84E7-86EABDC408E7}">
      <dsp:nvSpPr>
        <dsp:cNvPr id="0" name=""/>
        <dsp:cNvSpPr/>
      </dsp:nvSpPr>
      <dsp:spPr>
        <a:xfrm>
          <a:off x="486694" y="3642705"/>
          <a:ext cx="578029" cy="5780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57AED-3C9B-4FFF-8EE3-B951C92CF170}">
      <dsp:nvSpPr>
        <dsp:cNvPr id="0" name=""/>
        <dsp:cNvSpPr/>
      </dsp:nvSpPr>
      <dsp:spPr>
        <a:xfrm>
          <a:off x="356943" y="4394550"/>
          <a:ext cx="8597207" cy="4624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7049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356943" y="4394550"/>
        <a:ext cx="8597207" cy="462423"/>
      </dsp:txXfrm>
    </dsp:sp>
    <dsp:sp modelId="{AAC8D959-307A-4CFA-A9AE-E859013F1E38}">
      <dsp:nvSpPr>
        <dsp:cNvPr id="0" name=""/>
        <dsp:cNvSpPr/>
      </dsp:nvSpPr>
      <dsp:spPr>
        <a:xfrm>
          <a:off x="67928" y="4336747"/>
          <a:ext cx="578029" cy="5780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F09591-4C8C-1F20-E383-18BA3BF13A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D98CD-95C0-580E-2737-72CE690E37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CFCC1-3D09-4E08-8050-583AE10E28C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AE102-3E5E-4BBB-CB39-C0DC4E1C18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C7E84-FDB7-8419-93A1-2C5E048B54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353C3-A445-407D-B559-41F8619FC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69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0:38:18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1 155 24575,'1'-11'0,"2"1"0,-1 0 0,1-1 0,2 2 0,-1-2 0,7-9 0,-1-3 0,-8 20 0,0 0 0,-1 0 0,0-1 0,2 1 0,-1 0 0,0 1 0,1-2 0,-1 3 0,1-2 0,0 0 0,0 1 0,0 0 0,1 0 0,-2 0 0,2 0 0,5-3 0,-6 4 0,-1 1 0,0 0 0,1-1 0,-1 1 0,0 0 0,1 0 0,-1-1 0,1 2 0,-1-1 0,0 0 0,1 0 0,-1 1 0,2-1 0,-3 0 0,2 1 0,-1 0 0,0 0 0,0 0 0,0 0 0,0 0 0,0 1 0,1-2 0,-2 2 0,1 0 0,0-1 0,0 1 0,1 3 0,5 1 0,-4 2 0,1-1 0,0 1 0,0 1 0,-2-1 0,1 0 0,-1 0 0,2 13 0,5 6 0,3 28 0,-12-45 0,0 0 0,1-1 0,1 0 0,-1 0 0,2 1 0,7 11 0,-8-15 0,2 0 0,-2 0 0,3 0 0,-1 1 0,0-1 0,1-1 0,0 0 0,7 5 0,-11-9 0,0 1 0,0-2 0,0 1 0,1 0 0,-2 0 0,1 0 0,0-1 0,1 1 0,-1-1 0,1 1 0,-2-1 0,1 0 0,1 1 0,-1-1 0,1 0 0,-1 0 0,0-1 0,0 1 0,1-1 0,-2 1 0,2-1 0,-1 1 0,0 0 0,0-1 0,1-1 0,-2 1 0,2 1 0,-2-1 0,1-1 0,0 2 0,-1-1 0,1-1 0,-2 1 0,3 0 0,0-4 0,3-2 0,-1-1 0,0 0 0,-2 1 0,2-1 0,-1 0 0,-1 0 0,0 0 0,1-11 0,2 2 0,24-96-1365,-29 107-5461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569AD-D07D-4E2F-86F8-451AA94BD8C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784C2-DA05-46B4-A93D-9B50DE345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29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478/raft-2019-0028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oi.org/10.1109/JSSC.2003.821783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784C2-DA05-46B4-A93D-9B50DE345C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87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784C2-DA05-46B4-A93D-9B50DE345C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9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32178ec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32178ec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 b="1" dirty="0">
                <a:latin typeface="Century" panose="02040604050505020304" pitchFamily="18" charset="0"/>
              </a:rPr>
              <a:t>[1] </a:t>
            </a:r>
            <a:r>
              <a:rPr lang="en-US" sz="1200" dirty="0">
                <a:latin typeface="Century" panose="02040604050505020304" pitchFamily="18" charset="0"/>
              </a:rPr>
              <a:t>Al-Rawi, Muhanned. "Design of 2.4 GHz Transceiver for Wireless Communication." </a:t>
            </a:r>
            <a:r>
              <a:rPr lang="en-US" sz="1200" i="1" dirty="0">
                <a:latin typeface="Century" panose="02040604050505020304" pitchFamily="18" charset="0"/>
              </a:rPr>
              <a:t>Land Forces Academy Review</a:t>
            </a:r>
            <a:r>
              <a:rPr lang="en-US" sz="1200" dirty="0">
                <a:latin typeface="Century" panose="02040604050505020304" pitchFamily="18" charset="0"/>
              </a:rPr>
              <a:t>, vol. 24, no. 3, Nicolae </a:t>
            </a:r>
            <a:r>
              <a:rPr lang="en-US" sz="1200" dirty="0" err="1">
                <a:latin typeface="Century" panose="02040604050505020304" pitchFamily="18" charset="0"/>
              </a:rPr>
              <a:t>Balcescu</a:t>
            </a:r>
            <a:r>
              <a:rPr lang="en-US" sz="1200" dirty="0">
                <a:latin typeface="Century" panose="02040604050505020304" pitchFamily="18" charset="0"/>
              </a:rPr>
              <a:t> Land Forces Academy, 2019, pp. 232-241. </a:t>
            </a:r>
            <a:r>
              <a:rPr lang="en-US" sz="1200" dirty="0">
                <a:latin typeface="Century" panose="02040604050505020304" pitchFamily="18" charset="0"/>
                <a:hlinkClick r:id="rId3"/>
              </a:rPr>
              <a:t>https://doi.org/10.2478/raft-2019-0028</a:t>
            </a:r>
            <a:r>
              <a:rPr lang="en-US" sz="1200" dirty="0">
                <a:latin typeface="Century" panose="02040604050505020304" pitchFamily="18" charset="0"/>
              </a:rPr>
              <a:t>.</a:t>
            </a:r>
          </a:p>
          <a:p>
            <a:r>
              <a:rPr lang="en-US" sz="1200" b="1" dirty="0">
                <a:latin typeface="Century" panose="02040604050505020304" pitchFamily="18" charset="0"/>
              </a:rPr>
              <a:t>[2] </a:t>
            </a:r>
            <a:r>
              <a:rPr lang="en-US" sz="1200" dirty="0">
                <a:latin typeface="Century" panose="02040604050505020304" pitchFamily="18" charset="0"/>
              </a:rPr>
              <a:t>Guan, Xiang, and Ali </a:t>
            </a:r>
            <a:r>
              <a:rPr lang="en-US" sz="1200" dirty="0" err="1">
                <a:latin typeface="Century" panose="02040604050505020304" pitchFamily="18" charset="0"/>
              </a:rPr>
              <a:t>Hajimiri</a:t>
            </a:r>
            <a:r>
              <a:rPr lang="en-US" sz="1200" dirty="0">
                <a:latin typeface="Century" panose="02040604050505020304" pitchFamily="18" charset="0"/>
              </a:rPr>
              <a:t>. “A 24-GHz CMOS Front-End”. IEEE Journal of Solid-State Circuits 39 (2): 368–73. </a:t>
            </a:r>
            <a:r>
              <a:rPr lang="en-US" sz="1200" dirty="0">
                <a:latin typeface="Century" panose="02040604050505020304" pitchFamily="18" charset="0"/>
                <a:hlinkClick r:id="rId4"/>
              </a:rPr>
              <a:t>https://doi.org/10.1109/JSSC.2003.821783</a:t>
            </a:r>
            <a:r>
              <a:rPr lang="en-US" sz="1200" dirty="0">
                <a:latin typeface="Century" panose="02040604050505020304" pitchFamily="18" charset="0"/>
              </a:rPr>
              <a:t>..</a:t>
            </a:r>
          </a:p>
          <a:p>
            <a:r>
              <a:rPr lang="en-US" sz="1200" b="1" dirty="0">
                <a:latin typeface="Century" panose="02040604050505020304" pitchFamily="18" charset="0"/>
              </a:rPr>
              <a:t>[3]  </a:t>
            </a:r>
            <a:r>
              <a:rPr lang="en-US" sz="1200" dirty="0">
                <a:latin typeface="Century" panose="02040604050505020304" pitchFamily="18" charset="0"/>
              </a:rPr>
              <a:t>Razavi, Behzad. "CMOS RF receiver design for wireless LAN applications." RAWCON 99. IEEE Radio and Wireless Conference (Cat. No. 99EX292). </a:t>
            </a:r>
          </a:p>
          <a:p>
            <a:r>
              <a:rPr lang="en-US" sz="1200" b="1" dirty="0">
                <a:latin typeface="Century" panose="02040604050505020304" pitchFamily="18" charset="0"/>
              </a:rPr>
              <a:t>[4] </a:t>
            </a:r>
            <a:r>
              <a:rPr lang="en-US" sz="1200" dirty="0">
                <a:latin typeface="Century" panose="02040604050505020304" pitchFamily="18" charset="0"/>
              </a:rPr>
              <a:t>Chu, Chen-Yuan, et al. "A 24GHz low-power CMOS receiver design "</a:t>
            </a:r>
            <a:r>
              <a:rPr lang="en-US" sz="1200" i="1" dirty="0">
                <a:latin typeface="Century" panose="02040604050505020304" pitchFamily="18" charset="0"/>
              </a:rPr>
              <a:t>IEEE International Symposium on Circuits and Systems (ISCAS)</a:t>
            </a:r>
            <a:r>
              <a:rPr lang="en-US" sz="1200" dirty="0">
                <a:latin typeface="Century" panose="02040604050505020304" pitchFamily="18" charset="0"/>
              </a:rPr>
              <a:t>. </a:t>
            </a:r>
          </a:p>
          <a:p>
            <a:r>
              <a:rPr lang="en-US" sz="1200" b="1" dirty="0">
                <a:latin typeface="Century" panose="02040604050505020304" pitchFamily="18" charset="0"/>
              </a:rPr>
              <a:t>[5] </a:t>
            </a:r>
            <a:r>
              <a:rPr lang="en-US" sz="1200" dirty="0">
                <a:latin typeface="Century" panose="02040604050505020304" pitchFamily="18" charset="0"/>
              </a:rPr>
              <a:t>Bhuiyan, Arif. “Design of a Band-Pass Filter in 0,18 </a:t>
            </a:r>
            <a:r>
              <a:rPr lang="el-GR" sz="1200" dirty="0">
                <a:latin typeface="Century" panose="02040604050505020304" pitchFamily="18" charset="0"/>
              </a:rPr>
              <a:t>Μ</a:t>
            </a:r>
            <a:r>
              <a:rPr lang="en-US" sz="1200" dirty="0">
                <a:latin typeface="Century" panose="02040604050505020304" pitchFamily="18" charset="0"/>
              </a:rPr>
              <a:t>m CMOS for 2,4 GHz Reader-Less RFID Transponder.” </a:t>
            </a:r>
            <a:r>
              <a:rPr lang="en-US" sz="1200" dirty="0" err="1">
                <a:latin typeface="Century" panose="02040604050505020304" pitchFamily="18" charset="0"/>
              </a:rPr>
              <a:t>Tehnicki</a:t>
            </a:r>
            <a:r>
              <a:rPr lang="en-US" sz="1200" dirty="0">
                <a:latin typeface="Century" panose="02040604050505020304" pitchFamily="18" charset="0"/>
              </a:rPr>
              <a:t> 	</a:t>
            </a:r>
            <a:r>
              <a:rPr lang="en-US" sz="1200" dirty="0" err="1">
                <a:latin typeface="Century" panose="02040604050505020304" pitchFamily="18" charset="0"/>
              </a:rPr>
              <a:t>Vjesnik</a:t>
            </a:r>
            <a:r>
              <a:rPr lang="en-US" sz="1200" dirty="0">
                <a:latin typeface="Century" panose="02040604050505020304" pitchFamily="18" charset="0"/>
              </a:rPr>
              <a:t> - Technical Gazette, Mechanical Engineering Faculty in </a:t>
            </a:r>
            <a:r>
              <a:rPr lang="en-US" sz="1200" dirty="0" err="1">
                <a:latin typeface="Century" panose="02040604050505020304" pitchFamily="18" charset="0"/>
              </a:rPr>
              <a:t>Slavonski</a:t>
            </a:r>
            <a:r>
              <a:rPr lang="en-US" sz="1200" dirty="0">
                <a:latin typeface="Century" panose="02040604050505020304" pitchFamily="18" charset="0"/>
              </a:rPr>
              <a:t> Brod, 2017.</a:t>
            </a:r>
          </a:p>
          <a:p>
            <a:pPr algn="just"/>
            <a:r>
              <a:rPr lang="en-US" sz="1200" b="1" dirty="0">
                <a:latin typeface="Century" panose="02040604050505020304" pitchFamily="18" charset="0"/>
              </a:rPr>
              <a:t>[6] </a:t>
            </a:r>
            <a:r>
              <a:rPr lang="en-US" sz="1200" dirty="0">
                <a:latin typeface="Century" panose="02040604050505020304" pitchFamily="18" charset="0"/>
              </a:rPr>
              <a:t>X. Wang, C. C. Boon, K. Yang and L. Kong, "A 20–80 MHz Continuously Tunable Gm-C Low-Pass Filter for Ultra-Low Power WBAN Receiver Front-End," in </a:t>
            </a:r>
            <a:r>
              <a:rPr lang="en-US" sz="1200" i="1" dirty="0">
                <a:latin typeface="Century" panose="02040604050505020304" pitchFamily="18" charset="0"/>
              </a:rPr>
              <a:t>IEEE Access</a:t>
            </a:r>
            <a:r>
              <a:rPr lang="en-US" sz="1200" dirty="0">
                <a:latin typeface="Century" panose="02040604050505020304" pitchFamily="18" charset="0"/>
              </a:rPr>
              <a:t>, vol. 9, pp. 154136-154142,</a:t>
            </a:r>
            <a:endParaRPr lang="en-US" sz="1200" b="1" dirty="0">
              <a:latin typeface="Century" panose="02040604050505020304" pitchFamily="18" charset="0"/>
            </a:endParaRPr>
          </a:p>
          <a:p>
            <a:pPr algn="just"/>
            <a:endParaRPr lang="en-US" sz="1200" dirty="0">
              <a:latin typeface="Century" panose="020406040505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784C2-DA05-46B4-A93D-9B50DE345C8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11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88AB-B8F5-4878-A6A7-707D7A474A60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6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7CD6D-1E73-4A66-BFFB-985213D85FA6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9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3114-CFDE-4C61-9AAF-038353E01B60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8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010BE-46EC-4DAA-9738-8CC47B607624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0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C5CF-FFE5-4B00-B9EE-9A7CBA2C388E}" type="datetime1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7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77FAD-1740-4C89-A615-9E3FB9304191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8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15BB-1005-4D6B-BBEC-DF4A1AC00D9E}" type="datetime1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26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7FF1-83C6-40F7-A178-A99283879E66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4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5F62-65AF-42A9-BD4C-0A699BABAA22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5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5241E-63E7-47F1-8841-EA6622C04B31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6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E983-720F-4430-B307-80121D971DE6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9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83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513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733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63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618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700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7416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235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7272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42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7251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9DAF6-8AC4-454C-A531-A7ABC228A081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49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6" r:id="rId18"/>
    <p:sldLayoutId id="2147483657" r:id="rId19"/>
    <p:sldLayoutId id="2147483658" r:id="rId20"/>
    <p:sldLayoutId id="2147483659" r:id="rId21"/>
    <p:sldLayoutId id="2147483680" r:id="rId22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emf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jpe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7.jpeg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customXml" Target="../ink/ink1.xml"/><Relationship Id="rId7" Type="http://schemas.openxmlformats.org/officeDocument/2006/relationships/image" Target="../media/image3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20.png"/><Relationship Id="rId9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37.png"/><Relationship Id="rId4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10.jpe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48.png"/><Relationship Id="rId7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5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0.jpe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5.png"/><Relationship Id="rId4" Type="http://schemas.openxmlformats.org/officeDocument/2006/relationships/image" Target="../media/image10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.png"/><Relationship Id="rId7" Type="http://schemas.openxmlformats.org/officeDocument/2006/relationships/image" Target="../media/image5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2.png"/><Relationship Id="rId4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8.jpeg"/><Relationship Id="rId4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.jpeg"/><Relationship Id="rId5" Type="http://schemas.openxmlformats.org/officeDocument/2006/relationships/image" Target="../media/image2.png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2.pn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2.png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.png"/><Relationship Id="rId4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9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.png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Relationship Id="rId9" Type="http://schemas.openxmlformats.org/officeDocument/2006/relationships/image" Target="../media/image9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sv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88.sv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85942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rgbClr val="EEECE1">
                  <a:shade val="45000"/>
                  <a:satMod val="135000"/>
                </a:srgbClr>
                <a:prstClr val="white"/>
              </a:duotone>
            </a:blip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/>
          <p:cNvSpPr/>
          <p:nvPr/>
        </p:nvSpPr>
        <p:spPr>
          <a:xfrm>
            <a:off x="140880" y="104256"/>
            <a:ext cx="925920" cy="662100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en-US" sz="1200" dirty="0">
              <a:solidFill>
                <a:srgbClr val="FF0000"/>
              </a:solidFill>
            </a:endParaRPr>
          </a:p>
        </p:txBody>
      </p:sp>
      <p:pic>
        <p:nvPicPr>
          <p:cNvPr id="3" name="Picture 2" descr="Contact - UIU - Department of Biotechnology and Genetic Engineering">
            <a:extLst>
              <a:ext uri="{FF2B5EF4-FFF2-40B4-BE49-F238E27FC236}">
                <a16:creationId xmlns:a16="http://schemas.microsoft.com/office/drawing/2014/main" id="{BD13F82A-A41B-4A5F-FF26-1287DD5D2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485" y="104257"/>
            <a:ext cx="1144457" cy="114445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D7AAA5-3F3E-476B-64DC-15C397ADC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63" y="5967711"/>
            <a:ext cx="757554" cy="75755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0A9C9EF-3546-5652-F3E7-3188C889E4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290" y="766917"/>
            <a:ext cx="7570839" cy="565594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9B974-4EA3-194D-2537-BD1D715F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7A1E7A-E441-B3BC-DAC0-A03544D26C91}"/>
              </a:ext>
            </a:extLst>
          </p:cNvPr>
          <p:cNvSpPr/>
          <p:nvPr/>
        </p:nvSpPr>
        <p:spPr>
          <a:xfrm>
            <a:off x="0" y="0"/>
            <a:ext cx="12185942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0A44C6D-052F-E9A6-A3BE-5B9D3CD52EE0}"/>
              </a:ext>
            </a:extLst>
          </p:cNvPr>
          <p:cNvSpPr/>
          <p:nvPr/>
        </p:nvSpPr>
        <p:spPr>
          <a:xfrm>
            <a:off x="140880" y="104257"/>
            <a:ext cx="925920" cy="662100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05F1A01-4DE2-16A0-345F-CE44C0D57629}"/>
              </a:ext>
            </a:extLst>
          </p:cNvPr>
          <p:cNvSpPr txBox="1"/>
          <p:nvPr/>
        </p:nvSpPr>
        <p:spPr>
          <a:xfrm>
            <a:off x="1309737" y="2463745"/>
            <a:ext cx="10697737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AU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a 2.45 GHz RF </a:t>
            </a:r>
          </a:p>
          <a:p>
            <a:pPr algn="ctr">
              <a:spcBef>
                <a:spcPct val="0"/>
              </a:spcBef>
            </a:pPr>
            <a:r>
              <a:rPr lang="en-AU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Receiver in CMOS 45nm technology</a:t>
            </a:r>
            <a:endParaRPr lang="en-US" sz="4400" b="1" dirty="0">
              <a:solidFill>
                <a:srgbClr val="004AAC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</p:txBody>
      </p:sp>
      <p:pic>
        <p:nvPicPr>
          <p:cNvPr id="3" name="Picture 2" descr="Contact - UIU - Department of Biotechnology and Genetic Engineering">
            <a:extLst>
              <a:ext uri="{FF2B5EF4-FFF2-40B4-BE49-F238E27FC236}">
                <a16:creationId xmlns:a16="http://schemas.microsoft.com/office/drawing/2014/main" id="{F3F09A26-99CC-336B-4EB3-0A4CCCE5F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485" y="104257"/>
            <a:ext cx="1144457" cy="114445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3F4631-15BC-8430-0D97-25848FF7A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680" y="1248714"/>
            <a:ext cx="2138143" cy="21381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C05A23-AFC0-7D7E-03E6-42A0ABB06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0263" y="6044089"/>
            <a:ext cx="757554" cy="75755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ED8EF42-4A23-1D75-5C3F-33D72C05A030}"/>
              </a:ext>
            </a:extLst>
          </p:cNvPr>
          <p:cNvGrpSpPr/>
          <p:nvPr/>
        </p:nvGrpSpPr>
        <p:grpSpPr>
          <a:xfrm>
            <a:off x="3799665" y="4110258"/>
            <a:ext cx="6676776" cy="1641535"/>
            <a:chOff x="3681677" y="4575184"/>
            <a:chExt cx="6676776" cy="164153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FD4661F-9DA3-59DA-E9BE-3BD6BA35E5E0}"/>
                </a:ext>
              </a:extLst>
            </p:cNvPr>
            <p:cNvGrpSpPr/>
            <p:nvPr/>
          </p:nvGrpSpPr>
          <p:grpSpPr>
            <a:xfrm>
              <a:off x="3681677" y="4575184"/>
              <a:ext cx="6676776" cy="1641535"/>
              <a:chOff x="-163548" y="390793"/>
              <a:chExt cx="7664514" cy="1365330"/>
            </a:xfrm>
          </p:grpSpPr>
          <p:sp>
            <p:nvSpPr>
              <p:cNvPr id="6" name="Isosceles Triangle 5">
                <a:extLst>
                  <a:ext uri="{FF2B5EF4-FFF2-40B4-BE49-F238E27FC236}">
                    <a16:creationId xmlns:a16="http://schemas.microsoft.com/office/drawing/2014/main" id="{694858A5-4081-B9EC-94ED-AD62C00F65C3}"/>
                  </a:ext>
                </a:extLst>
              </p:cNvPr>
              <p:cNvSpPr/>
              <p:nvPr/>
            </p:nvSpPr>
            <p:spPr>
              <a:xfrm rot="10800000">
                <a:off x="-163548" y="390793"/>
                <a:ext cx="269125" cy="323582"/>
              </a:xfrm>
              <a:prstGeom prst="triangle">
                <a:avLst/>
              </a:prstGeom>
              <a:solidFill>
                <a:srgbClr val="0070C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D88DCAE-71AC-2E23-1057-E47F918D3324}"/>
                  </a:ext>
                </a:extLst>
              </p:cNvPr>
              <p:cNvSpPr/>
              <p:nvPr/>
            </p:nvSpPr>
            <p:spPr>
              <a:xfrm>
                <a:off x="402431" y="1057275"/>
                <a:ext cx="437322" cy="33395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9" name="Isosceles Triangle 8">
                <a:extLst>
                  <a:ext uri="{FF2B5EF4-FFF2-40B4-BE49-F238E27FC236}">
                    <a16:creationId xmlns:a16="http://schemas.microsoft.com/office/drawing/2014/main" id="{0F5B8784-8D73-7BD4-30B6-444E4CFF6FA0}"/>
                  </a:ext>
                </a:extLst>
              </p:cNvPr>
              <p:cNvSpPr/>
              <p:nvPr/>
            </p:nvSpPr>
            <p:spPr>
              <a:xfrm rot="5400000">
                <a:off x="1242218" y="961231"/>
                <a:ext cx="569430" cy="538066"/>
              </a:xfrm>
              <a:prstGeom prst="triangl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3932AA1-C3CF-729D-707D-3A68805CB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28986" y="661626"/>
                <a:ext cx="0" cy="60543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5EDD5A8-7BF3-B863-A0E9-B0517046CC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28986" y="1250156"/>
                <a:ext cx="35447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E8FF54D-D6B6-24B4-8989-56EF3CDA08F0}"/>
                  </a:ext>
                </a:extLst>
              </p:cNvPr>
              <p:cNvCxnSpPr/>
              <p:nvPr/>
            </p:nvCxnSpPr>
            <p:spPr>
              <a:xfrm>
                <a:off x="831056" y="1257300"/>
                <a:ext cx="393404" cy="265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8307D33-7CF4-BEE8-4896-8BCDBB4FE67A}"/>
                  </a:ext>
                </a:extLst>
              </p:cNvPr>
              <p:cNvCxnSpPr/>
              <p:nvPr/>
            </p:nvCxnSpPr>
            <p:spPr>
              <a:xfrm>
                <a:off x="1788319" y="1228725"/>
                <a:ext cx="339328" cy="535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2165B17-0FC3-D809-B6A4-C818E09D02B1}"/>
                  </a:ext>
                </a:extLst>
              </p:cNvPr>
              <p:cNvSpPr/>
              <p:nvPr/>
            </p:nvSpPr>
            <p:spPr>
              <a:xfrm>
                <a:off x="3364004" y="1096861"/>
                <a:ext cx="593709" cy="33717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81F2D47-0599-D7E0-29C0-2253489F6644}"/>
                  </a:ext>
                </a:extLst>
              </p:cNvPr>
              <p:cNvCxnSpPr>
                <a:cxnSpLocks/>
                <a:endCxn id="36" idx="3"/>
              </p:cNvCxnSpPr>
              <p:nvPr/>
            </p:nvCxnSpPr>
            <p:spPr>
              <a:xfrm>
                <a:off x="2574466" y="1230975"/>
                <a:ext cx="637938" cy="247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5BC8027-F391-63DE-939D-4CD4D5EC1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91816" y="1267057"/>
                <a:ext cx="73399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Isosceles Triangle 29">
                <a:extLst>
                  <a:ext uri="{FF2B5EF4-FFF2-40B4-BE49-F238E27FC236}">
                    <a16:creationId xmlns:a16="http://schemas.microsoft.com/office/drawing/2014/main" id="{32F93962-D26D-8849-CD93-35FCC7B24D6B}"/>
                  </a:ext>
                </a:extLst>
              </p:cNvPr>
              <p:cNvSpPr/>
              <p:nvPr/>
            </p:nvSpPr>
            <p:spPr>
              <a:xfrm rot="5400000">
                <a:off x="299165" y="1194514"/>
                <a:ext cx="57537" cy="97127"/>
              </a:xfrm>
              <a:prstGeom prst="triangl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1" name="Isosceles Triangle 30">
                <a:extLst>
                  <a:ext uri="{FF2B5EF4-FFF2-40B4-BE49-F238E27FC236}">
                    <a16:creationId xmlns:a16="http://schemas.microsoft.com/office/drawing/2014/main" id="{12DCF918-2AEC-5186-F771-E928B9B9BA48}"/>
                  </a:ext>
                </a:extLst>
              </p:cNvPr>
              <p:cNvSpPr/>
              <p:nvPr/>
            </p:nvSpPr>
            <p:spPr>
              <a:xfrm rot="5400000">
                <a:off x="1179512" y="1219994"/>
                <a:ext cx="59900" cy="73201"/>
              </a:xfrm>
              <a:prstGeom prst="triangl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6CDB19BB-1111-14AA-4E58-DB19B4432BB0}"/>
                  </a:ext>
                </a:extLst>
              </p:cNvPr>
              <p:cNvSpPr/>
              <p:nvPr/>
            </p:nvSpPr>
            <p:spPr>
              <a:xfrm rot="5400000">
                <a:off x="2082482" y="1184751"/>
                <a:ext cx="45085" cy="88265"/>
              </a:xfrm>
              <a:prstGeom prst="triangl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BB8F7957-4BAF-A0E9-A80B-98083ABE93C1}"/>
                  </a:ext>
                </a:extLst>
              </p:cNvPr>
              <p:cNvSpPr/>
              <p:nvPr/>
            </p:nvSpPr>
            <p:spPr>
              <a:xfrm rot="5400000">
                <a:off x="3226669" y="1192075"/>
                <a:ext cx="54216" cy="82745"/>
              </a:xfrm>
              <a:prstGeom prst="triangl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" name="Isosceles Triangle 36">
                <a:extLst>
                  <a:ext uri="{FF2B5EF4-FFF2-40B4-BE49-F238E27FC236}">
                    <a16:creationId xmlns:a16="http://schemas.microsoft.com/office/drawing/2014/main" id="{C3537211-1983-920A-5848-D2DE6D99A25A}"/>
                  </a:ext>
                </a:extLst>
              </p:cNvPr>
              <p:cNvSpPr/>
              <p:nvPr/>
            </p:nvSpPr>
            <p:spPr>
              <a:xfrm rot="5400000">
                <a:off x="4727369" y="1190572"/>
                <a:ext cx="129880" cy="132994"/>
              </a:xfrm>
              <a:prstGeom prst="triangl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B21AE03-1A94-B0DA-9BC6-98BD04035DC2}"/>
                  </a:ext>
                </a:extLst>
              </p:cNvPr>
              <p:cNvSpPr/>
              <p:nvPr/>
            </p:nvSpPr>
            <p:spPr>
              <a:xfrm>
                <a:off x="481013" y="1478756"/>
                <a:ext cx="279584" cy="79162"/>
              </a:xfrm>
              <a:custGeom>
                <a:avLst/>
                <a:gdLst>
                  <a:gd name="connsiteX0" fmla="*/ 0 w 476333"/>
                  <a:gd name="connsiteY0" fmla="*/ 76744 h 151510"/>
                  <a:gd name="connsiteX1" fmla="*/ 182327 w 476333"/>
                  <a:gd name="connsiteY1" fmla="*/ 2155 h 151510"/>
                  <a:gd name="connsiteX2" fmla="*/ 337029 w 476333"/>
                  <a:gd name="connsiteY2" fmla="*/ 151332 h 151510"/>
                  <a:gd name="connsiteX3" fmla="*/ 464106 w 476333"/>
                  <a:gd name="connsiteY3" fmla="*/ 32543 h 151510"/>
                  <a:gd name="connsiteX4" fmla="*/ 464106 w 476333"/>
                  <a:gd name="connsiteY4" fmla="*/ 35306 h 15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333" h="151510">
                    <a:moveTo>
                      <a:pt x="0" y="76744"/>
                    </a:moveTo>
                    <a:cubicBezTo>
                      <a:pt x="63078" y="33234"/>
                      <a:pt x="126156" y="-10276"/>
                      <a:pt x="182327" y="2155"/>
                    </a:cubicBezTo>
                    <a:cubicBezTo>
                      <a:pt x="238498" y="14586"/>
                      <a:pt x="290066" y="146267"/>
                      <a:pt x="337029" y="151332"/>
                    </a:cubicBezTo>
                    <a:cubicBezTo>
                      <a:pt x="383992" y="156397"/>
                      <a:pt x="442927" y="51881"/>
                      <a:pt x="464106" y="32543"/>
                    </a:cubicBezTo>
                    <a:cubicBezTo>
                      <a:pt x="485285" y="13205"/>
                      <a:pt x="474695" y="24255"/>
                      <a:pt x="464106" y="35306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E5681D43-BB03-DBFF-2A6F-5F0D67F25DF0}"/>
                  </a:ext>
                </a:extLst>
              </p:cNvPr>
              <p:cNvSpPr/>
              <p:nvPr/>
            </p:nvSpPr>
            <p:spPr>
              <a:xfrm>
                <a:off x="488156" y="1693068"/>
                <a:ext cx="265771" cy="63055"/>
              </a:xfrm>
              <a:custGeom>
                <a:avLst/>
                <a:gdLst>
                  <a:gd name="connsiteX0" fmla="*/ 0 w 476333"/>
                  <a:gd name="connsiteY0" fmla="*/ 76744 h 151510"/>
                  <a:gd name="connsiteX1" fmla="*/ 182327 w 476333"/>
                  <a:gd name="connsiteY1" fmla="*/ 2155 h 151510"/>
                  <a:gd name="connsiteX2" fmla="*/ 337029 w 476333"/>
                  <a:gd name="connsiteY2" fmla="*/ 151332 h 151510"/>
                  <a:gd name="connsiteX3" fmla="*/ 464106 w 476333"/>
                  <a:gd name="connsiteY3" fmla="*/ 32543 h 151510"/>
                  <a:gd name="connsiteX4" fmla="*/ 464106 w 476333"/>
                  <a:gd name="connsiteY4" fmla="*/ 35306 h 15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333" h="151510">
                    <a:moveTo>
                      <a:pt x="0" y="76744"/>
                    </a:moveTo>
                    <a:cubicBezTo>
                      <a:pt x="63078" y="33234"/>
                      <a:pt x="126156" y="-10276"/>
                      <a:pt x="182327" y="2155"/>
                    </a:cubicBezTo>
                    <a:cubicBezTo>
                      <a:pt x="238498" y="14586"/>
                      <a:pt x="290066" y="146267"/>
                      <a:pt x="337029" y="151332"/>
                    </a:cubicBezTo>
                    <a:cubicBezTo>
                      <a:pt x="383992" y="156397"/>
                      <a:pt x="442927" y="51881"/>
                      <a:pt x="464106" y="32543"/>
                    </a:cubicBezTo>
                    <a:cubicBezTo>
                      <a:pt x="485285" y="13205"/>
                      <a:pt x="474695" y="24255"/>
                      <a:pt x="464106" y="35306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92E21B5-8BE5-0643-1C32-53F5FF51E9B8}"/>
                  </a:ext>
                </a:extLst>
              </p:cNvPr>
              <p:cNvSpPr/>
              <p:nvPr/>
            </p:nvSpPr>
            <p:spPr>
              <a:xfrm>
                <a:off x="481013" y="1585912"/>
                <a:ext cx="279584" cy="65753"/>
              </a:xfrm>
              <a:custGeom>
                <a:avLst/>
                <a:gdLst>
                  <a:gd name="connsiteX0" fmla="*/ 0 w 476333"/>
                  <a:gd name="connsiteY0" fmla="*/ 76744 h 151510"/>
                  <a:gd name="connsiteX1" fmla="*/ 182327 w 476333"/>
                  <a:gd name="connsiteY1" fmla="*/ 2155 h 151510"/>
                  <a:gd name="connsiteX2" fmla="*/ 337029 w 476333"/>
                  <a:gd name="connsiteY2" fmla="*/ 151332 h 151510"/>
                  <a:gd name="connsiteX3" fmla="*/ 464106 w 476333"/>
                  <a:gd name="connsiteY3" fmla="*/ 32543 h 151510"/>
                  <a:gd name="connsiteX4" fmla="*/ 464106 w 476333"/>
                  <a:gd name="connsiteY4" fmla="*/ 35306 h 15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333" h="151510">
                    <a:moveTo>
                      <a:pt x="0" y="76744"/>
                    </a:moveTo>
                    <a:cubicBezTo>
                      <a:pt x="63078" y="33234"/>
                      <a:pt x="126156" y="-10276"/>
                      <a:pt x="182327" y="2155"/>
                    </a:cubicBezTo>
                    <a:cubicBezTo>
                      <a:pt x="238498" y="14586"/>
                      <a:pt x="290066" y="146267"/>
                      <a:pt x="337029" y="151332"/>
                    </a:cubicBezTo>
                    <a:cubicBezTo>
                      <a:pt x="383992" y="156397"/>
                      <a:pt x="442927" y="51881"/>
                      <a:pt x="464106" y="32543"/>
                    </a:cubicBezTo>
                    <a:cubicBezTo>
                      <a:pt x="485285" y="13205"/>
                      <a:pt x="474695" y="24255"/>
                      <a:pt x="464106" y="35306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088E8C52-5B3B-CF68-9607-F5D231AB543D}"/>
                  </a:ext>
                </a:extLst>
              </p:cNvPr>
              <p:cNvCxnSpPr/>
              <p:nvPr/>
            </p:nvCxnSpPr>
            <p:spPr>
              <a:xfrm flipV="1">
                <a:off x="616744" y="1485900"/>
                <a:ext cx="52488" cy="46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4D18CACA-95AF-C86D-57C7-6FFA87FCF3F7}"/>
                  </a:ext>
                </a:extLst>
              </p:cNvPr>
              <p:cNvCxnSpPr/>
              <p:nvPr/>
            </p:nvCxnSpPr>
            <p:spPr>
              <a:xfrm flipV="1">
                <a:off x="588169" y="1685925"/>
                <a:ext cx="52488" cy="46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 Box 19">
                <a:extLst>
                  <a:ext uri="{FF2B5EF4-FFF2-40B4-BE49-F238E27FC236}">
                    <a16:creationId xmlns:a16="http://schemas.microsoft.com/office/drawing/2014/main" id="{BAC46A3D-6572-5311-E583-CB0CEE619827}"/>
                  </a:ext>
                </a:extLst>
              </p:cNvPr>
              <p:cNvSpPr txBox="1"/>
              <p:nvPr/>
            </p:nvSpPr>
            <p:spPr>
              <a:xfrm>
                <a:off x="359594" y="772043"/>
                <a:ext cx="931420" cy="569431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200" b="1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BPF</a:t>
                </a:r>
              </a:p>
            </p:txBody>
          </p:sp>
          <p:sp>
            <p:nvSpPr>
              <p:cNvPr id="48" name="Text Box 19">
                <a:extLst>
                  <a:ext uri="{FF2B5EF4-FFF2-40B4-BE49-F238E27FC236}">
                    <a16:creationId xmlns:a16="http://schemas.microsoft.com/office/drawing/2014/main" id="{AD8DBFD7-C434-C977-0A63-8ACB9DA187E2}"/>
                  </a:ext>
                </a:extLst>
              </p:cNvPr>
              <p:cNvSpPr txBox="1"/>
              <p:nvPr/>
            </p:nvSpPr>
            <p:spPr>
              <a:xfrm>
                <a:off x="1182724" y="1084752"/>
                <a:ext cx="707001" cy="29823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200" b="1" kern="100" dirty="0">
                    <a:solidFill>
                      <a:srgbClr val="000066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LNA</a:t>
                </a:r>
              </a:p>
            </p:txBody>
          </p:sp>
          <p:sp>
            <p:nvSpPr>
              <p:cNvPr id="50" name="Text Box 19">
                <a:extLst>
                  <a:ext uri="{FF2B5EF4-FFF2-40B4-BE49-F238E27FC236}">
                    <a16:creationId xmlns:a16="http://schemas.microsoft.com/office/drawing/2014/main" id="{457D2A47-E9C7-4426-A6CD-E95C6CCC07A9}"/>
                  </a:ext>
                </a:extLst>
              </p:cNvPr>
              <p:cNvSpPr txBox="1"/>
              <p:nvPr/>
            </p:nvSpPr>
            <p:spPr>
              <a:xfrm>
                <a:off x="3382091" y="1133789"/>
                <a:ext cx="847963" cy="23273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200" b="1" kern="100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LPF</a:t>
                </a:r>
              </a:p>
            </p:txBody>
          </p:sp>
          <p:sp>
            <p:nvSpPr>
              <p:cNvPr id="52" name="Flowchart: Summing Junction 51">
                <a:extLst>
                  <a:ext uri="{FF2B5EF4-FFF2-40B4-BE49-F238E27FC236}">
                    <a16:creationId xmlns:a16="http://schemas.microsoft.com/office/drawing/2014/main" id="{66F222D3-89A1-F4FE-476D-4F56C719A4C1}"/>
                  </a:ext>
                </a:extLst>
              </p:cNvPr>
              <p:cNvSpPr/>
              <p:nvPr/>
            </p:nvSpPr>
            <p:spPr>
              <a:xfrm>
                <a:off x="2228495" y="1057341"/>
                <a:ext cx="297996" cy="297997"/>
              </a:xfrm>
              <a:prstGeom prst="flowChartSummingJunctio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6" name="Text Box 19">
                <a:extLst>
                  <a:ext uri="{FF2B5EF4-FFF2-40B4-BE49-F238E27FC236}">
                    <a16:creationId xmlns:a16="http://schemas.microsoft.com/office/drawing/2014/main" id="{91DF0FA9-43A1-3684-7815-C89948A20683}"/>
                  </a:ext>
                </a:extLst>
              </p:cNvPr>
              <p:cNvSpPr txBox="1"/>
              <p:nvPr/>
            </p:nvSpPr>
            <p:spPr>
              <a:xfrm>
                <a:off x="2013813" y="772043"/>
                <a:ext cx="971510" cy="21291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200" b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Mixer</a:t>
                </a:r>
              </a:p>
            </p:txBody>
          </p:sp>
          <p:sp>
            <p:nvSpPr>
              <p:cNvPr id="54" name="Text Box 19">
                <a:extLst>
                  <a:ext uri="{FF2B5EF4-FFF2-40B4-BE49-F238E27FC236}">
                    <a16:creationId xmlns:a16="http://schemas.microsoft.com/office/drawing/2014/main" id="{DDCE5947-B35F-EDDE-2B10-7F6C657D4819}"/>
                  </a:ext>
                </a:extLst>
              </p:cNvPr>
              <p:cNvSpPr txBox="1"/>
              <p:nvPr/>
            </p:nvSpPr>
            <p:spPr>
              <a:xfrm>
                <a:off x="6074696" y="1133789"/>
                <a:ext cx="1426270" cy="50373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spcAft>
                    <a:spcPts val="800"/>
                  </a:spcAft>
                  <a:buNone/>
                </a:pPr>
                <a:endParaRPr lang="en-US" sz="1200" b="1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02E8D305-07A0-5BDA-7822-47D995A53769}"/>
                </a:ext>
              </a:extLst>
            </p:cNvPr>
            <p:cNvSpPr/>
            <p:nvPr/>
          </p:nvSpPr>
          <p:spPr>
            <a:xfrm>
              <a:off x="8119047" y="5376495"/>
              <a:ext cx="1304617" cy="50674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800"/>
                </a:spcAft>
              </a:pPr>
              <a:r>
                <a:rPr lang="en-US" sz="12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Demodulated</a:t>
              </a:r>
            </a:p>
            <a:p>
              <a:pPr algn="ctr">
                <a:spcAft>
                  <a:spcPts val="800"/>
                </a:spcAft>
              </a:pPr>
              <a:r>
                <a:rPr lang="en-US" sz="12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Message Signal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990591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5BF58-D135-2B52-5FAF-B7D669C2D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E42B387-79BD-17EF-6054-A82A077D9B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64E064F-D65E-007B-6F02-4E312A36A5FE}"/>
              </a:ext>
            </a:extLst>
          </p:cNvPr>
          <p:cNvGrpSpPr/>
          <p:nvPr/>
        </p:nvGrpSpPr>
        <p:grpSpPr>
          <a:xfrm>
            <a:off x="415560" y="394832"/>
            <a:ext cx="11360880" cy="5882909"/>
            <a:chOff x="726272" y="715760"/>
            <a:chExt cx="13633057" cy="705948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4D9D36-177F-375B-7D81-3DD8C227B8F4}"/>
                </a:ext>
              </a:extLst>
            </p:cNvPr>
            <p:cNvSpPr txBox="1"/>
            <p:nvPr/>
          </p:nvSpPr>
          <p:spPr>
            <a:xfrm>
              <a:off x="1339654" y="2927761"/>
              <a:ext cx="3093720" cy="1095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667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Co-Supervisor:</a:t>
              </a:r>
            </a:p>
            <a:p>
              <a:pPr algn="ctr"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Dr. </a:t>
              </a:r>
              <a:r>
                <a:rPr lang="en-US" sz="2000" b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Raqibul</a:t>
              </a:r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Mostafa</a:t>
              </a:r>
            </a:p>
            <a:p>
              <a:pPr algn="ctr">
                <a:buNone/>
              </a:pPr>
              <a:r>
                <a:rPr lang="en-US" sz="1667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Professor, Dept. of EEE</a:t>
              </a:r>
            </a:p>
          </p:txBody>
        </p:sp>
        <p:pic>
          <p:nvPicPr>
            <p:cNvPr id="8" name="Picture 7" descr="A person with a beard&#10;&#10;AI-generated content may be incorrect.">
              <a:extLst>
                <a:ext uri="{FF2B5EF4-FFF2-40B4-BE49-F238E27FC236}">
                  <a16:creationId xmlns:a16="http://schemas.microsoft.com/office/drawing/2014/main" id="{316ADCDF-B42D-DD37-6A93-CDA3A8664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7" r="1520" b="6667"/>
            <a:stretch>
              <a:fillRect/>
            </a:stretch>
          </p:blipFill>
          <p:spPr>
            <a:xfrm>
              <a:off x="7940219" y="1001585"/>
              <a:ext cx="1721197" cy="1733580"/>
            </a:xfrm>
            <a:custGeom>
              <a:avLst/>
              <a:gdLst>
                <a:gd name="connsiteX0" fmla="*/ 1059180 w 2118360"/>
                <a:gd name="connsiteY0" fmla="*/ 0 h 2133600"/>
                <a:gd name="connsiteX1" fmla="*/ 2118360 w 2118360"/>
                <a:gd name="connsiteY1" fmla="*/ 1066800 h 2133600"/>
                <a:gd name="connsiteX2" fmla="*/ 1059180 w 2118360"/>
                <a:gd name="connsiteY2" fmla="*/ 2133600 h 2133600"/>
                <a:gd name="connsiteX3" fmla="*/ 0 w 2118360"/>
                <a:gd name="connsiteY3" fmla="*/ 1066800 h 2133600"/>
                <a:gd name="connsiteX4" fmla="*/ 1059180 w 2118360"/>
                <a:gd name="connsiteY4" fmla="*/ 0 h 21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8360" h="2133600">
                  <a:moveTo>
                    <a:pt x="1059180" y="0"/>
                  </a:moveTo>
                  <a:cubicBezTo>
                    <a:pt x="1644149" y="0"/>
                    <a:pt x="2118360" y="477623"/>
                    <a:pt x="2118360" y="1066800"/>
                  </a:cubicBezTo>
                  <a:cubicBezTo>
                    <a:pt x="2118360" y="1655977"/>
                    <a:pt x="1644149" y="2133600"/>
                    <a:pt x="1059180" y="2133600"/>
                  </a:cubicBezTo>
                  <a:cubicBezTo>
                    <a:pt x="474211" y="2133600"/>
                    <a:pt x="0" y="1655977"/>
                    <a:pt x="0" y="1066800"/>
                  </a:cubicBezTo>
                  <a:cubicBezTo>
                    <a:pt x="0" y="477623"/>
                    <a:pt x="474211" y="0"/>
                    <a:pt x="1059180" y="0"/>
                  </a:cubicBezTo>
                  <a:close/>
                </a:path>
              </a:pathLst>
            </a:custGeom>
          </p:spPr>
        </p:pic>
        <p:pic>
          <p:nvPicPr>
            <p:cNvPr id="9" name="Picture 8" descr="A person with his arms crossed&#10;&#10;AI-generated content may be incorrect.">
              <a:extLst>
                <a:ext uri="{FF2B5EF4-FFF2-40B4-BE49-F238E27FC236}">
                  <a16:creationId xmlns:a16="http://schemas.microsoft.com/office/drawing/2014/main" id="{C4630559-AEE3-5B51-39D5-CB1068B40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764" r="15354" b="17343"/>
            <a:stretch>
              <a:fillRect/>
            </a:stretch>
          </p:blipFill>
          <p:spPr>
            <a:xfrm rot="443966">
              <a:off x="11655275" y="4687828"/>
              <a:ext cx="1795681" cy="1808599"/>
            </a:xfrm>
            <a:custGeom>
              <a:avLst/>
              <a:gdLst>
                <a:gd name="connsiteX0" fmla="*/ 1059180 w 2118360"/>
                <a:gd name="connsiteY0" fmla="*/ 0 h 2133600"/>
                <a:gd name="connsiteX1" fmla="*/ 2118360 w 2118360"/>
                <a:gd name="connsiteY1" fmla="*/ 1066800 h 2133600"/>
                <a:gd name="connsiteX2" fmla="*/ 1059180 w 2118360"/>
                <a:gd name="connsiteY2" fmla="*/ 2133600 h 2133600"/>
                <a:gd name="connsiteX3" fmla="*/ 0 w 2118360"/>
                <a:gd name="connsiteY3" fmla="*/ 1066800 h 2133600"/>
                <a:gd name="connsiteX4" fmla="*/ 1059180 w 2118360"/>
                <a:gd name="connsiteY4" fmla="*/ 0 h 21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8360" h="2133600">
                  <a:moveTo>
                    <a:pt x="1059180" y="0"/>
                  </a:moveTo>
                  <a:cubicBezTo>
                    <a:pt x="1644149" y="0"/>
                    <a:pt x="2118360" y="477623"/>
                    <a:pt x="2118360" y="1066800"/>
                  </a:cubicBezTo>
                  <a:cubicBezTo>
                    <a:pt x="2118360" y="1655977"/>
                    <a:pt x="1644149" y="2133600"/>
                    <a:pt x="1059180" y="2133600"/>
                  </a:cubicBezTo>
                  <a:cubicBezTo>
                    <a:pt x="474211" y="2133600"/>
                    <a:pt x="0" y="1655977"/>
                    <a:pt x="0" y="1066800"/>
                  </a:cubicBezTo>
                  <a:cubicBezTo>
                    <a:pt x="0" y="477623"/>
                    <a:pt x="474211" y="0"/>
                    <a:pt x="1059180" y="0"/>
                  </a:cubicBezTo>
                  <a:close/>
                </a:path>
              </a:pathLst>
            </a:custGeom>
          </p:spPr>
        </p:pic>
        <p:pic>
          <p:nvPicPr>
            <p:cNvPr id="10" name="Picture 9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5EB941CB-0FED-0868-8BF9-8A2620C51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0" t="6589" r="21315" b="6589"/>
            <a:stretch>
              <a:fillRect/>
            </a:stretch>
          </p:blipFill>
          <p:spPr>
            <a:xfrm rot="227071">
              <a:off x="11712110" y="987389"/>
              <a:ext cx="1682014" cy="1694114"/>
            </a:xfrm>
            <a:custGeom>
              <a:avLst/>
              <a:gdLst>
                <a:gd name="connsiteX0" fmla="*/ 1059180 w 2118360"/>
                <a:gd name="connsiteY0" fmla="*/ 0 h 2133600"/>
                <a:gd name="connsiteX1" fmla="*/ 2118360 w 2118360"/>
                <a:gd name="connsiteY1" fmla="*/ 1066800 h 2133600"/>
                <a:gd name="connsiteX2" fmla="*/ 1059180 w 2118360"/>
                <a:gd name="connsiteY2" fmla="*/ 2133600 h 2133600"/>
                <a:gd name="connsiteX3" fmla="*/ 0 w 2118360"/>
                <a:gd name="connsiteY3" fmla="*/ 1066800 h 2133600"/>
                <a:gd name="connsiteX4" fmla="*/ 1059180 w 2118360"/>
                <a:gd name="connsiteY4" fmla="*/ 0 h 21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8360" h="2133600">
                  <a:moveTo>
                    <a:pt x="1059180" y="0"/>
                  </a:moveTo>
                  <a:cubicBezTo>
                    <a:pt x="1644149" y="0"/>
                    <a:pt x="2118360" y="477623"/>
                    <a:pt x="2118360" y="1066800"/>
                  </a:cubicBezTo>
                  <a:cubicBezTo>
                    <a:pt x="2118360" y="1655977"/>
                    <a:pt x="1644149" y="2133600"/>
                    <a:pt x="1059180" y="2133600"/>
                  </a:cubicBezTo>
                  <a:cubicBezTo>
                    <a:pt x="474211" y="2133600"/>
                    <a:pt x="0" y="1655977"/>
                    <a:pt x="0" y="1066800"/>
                  </a:cubicBezTo>
                  <a:cubicBezTo>
                    <a:pt x="0" y="477623"/>
                    <a:pt x="474211" y="0"/>
                    <a:pt x="1059180" y="0"/>
                  </a:cubicBezTo>
                  <a:close/>
                </a:path>
              </a:pathLst>
            </a:custGeom>
          </p:spPr>
        </p:pic>
        <p:pic>
          <p:nvPicPr>
            <p:cNvPr id="11" name="Picture 10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EAA8F1C7-F711-C059-5DBF-998EE0D07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217" r="14221"/>
            <a:stretch>
              <a:fillRect/>
            </a:stretch>
          </p:blipFill>
          <p:spPr>
            <a:xfrm rot="21377132" flipH="1">
              <a:off x="7988675" y="4716443"/>
              <a:ext cx="1721016" cy="1733397"/>
            </a:xfrm>
            <a:custGeom>
              <a:avLst/>
              <a:gdLst>
                <a:gd name="connsiteX0" fmla="*/ 1059180 w 2118360"/>
                <a:gd name="connsiteY0" fmla="*/ 0 h 2133600"/>
                <a:gd name="connsiteX1" fmla="*/ 2118360 w 2118360"/>
                <a:gd name="connsiteY1" fmla="*/ 1066800 h 2133600"/>
                <a:gd name="connsiteX2" fmla="*/ 1059180 w 2118360"/>
                <a:gd name="connsiteY2" fmla="*/ 2133600 h 2133600"/>
                <a:gd name="connsiteX3" fmla="*/ 0 w 2118360"/>
                <a:gd name="connsiteY3" fmla="*/ 1066800 h 2133600"/>
                <a:gd name="connsiteX4" fmla="*/ 1059180 w 2118360"/>
                <a:gd name="connsiteY4" fmla="*/ 0 h 21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8360" h="2133600">
                  <a:moveTo>
                    <a:pt x="1059180" y="0"/>
                  </a:moveTo>
                  <a:cubicBezTo>
                    <a:pt x="1644149" y="0"/>
                    <a:pt x="2118360" y="477623"/>
                    <a:pt x="2118360" y="1066800"/>
                  </a:cubicBezTo>
                  <a:cubicBezTo>
                    <a:pt x="2118360" y="1655977"/>
                    <a:pt x="1644149" y="2133600"/>
                    <a:pt x="1059180" y="2133600"/>
                  </a:cubicBezTo>
                  <a:cubicBezTo>
                    <a:pt x="474211" y="2133600"/>
                    <a:pt x="0" y="1655977"/>
                    <a:pt x="0" y="1066800"/>
                  </a:cubicBezTo>
                  <a:cubicBezTo>
                    <a:pt x="0" y="477623"/>
                    <a:pt x="474211" y="0"/>
                    <a:pt x="1059180" y="0"/>
                  </a:cubicBezTo>
                  <a:close/>
                </a:path>
              </a:pathLst>
            </a:custGeom>
          </p:spPr>
        </p:pic>
        <p:pic>
          <p:nvPicPr>
            <p:cNvPr id="13" name="Picture 12" descr="A person with dark hair wearing a blue and black jacket&#10;&#10;AI-generated content may be incorrect.">
              <a:extLst>
                <a:ext uri="{FF2B5EF4-FFF2-40B4-BE49-F238E27FC236}">
                  <a16:creationId xmlns:a16="http://schemas.microsoft.com/office/drawing/2014/main" id="{C8F16441-FBDB-D7FE-C782-A94D8FDD1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8008"/>
            <a:stretch>
              <a:fillRect/>
            </a:stretch>
          </p:blipFill>
          <p:spPr>
            <a:xfrm>
              <a:off x="1823646" y="4356761"/>
              <a:ext cx="2118360" cy="2133601"/>
            </a:xfrm>
            <a:prstGeom prst="roundRect">
              <a:avLst/>
            </a:prstGeom>
          </p:spPr>
        </p:pic>
        <p:pic>
          <p:nvPicPr>
            <p:cNvPr id="14" name="Picture 13" descr="A person with a beard&#10;&#10;AI-generated content may be incorrect.">
              <a:extLst>
                <a:ext uri="{FF2B5EF4-FFF2-40B4-BE49-F238E27FC236}">
                  <a16:creationId xmlns:a16="http://schemas.microsoft.com/office/drawing/2014/main" id="{3D5207C7-6DCC-2245-ED75-CC0548091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7914" b="11511"/>
            <a:stretch>
              <a:fillRect/>
            </a:stretch>
          </p:blipFill>
          <p:spPr>
            <a:xfrm>
              <a:off x="1782782" y="715760"/>
              <a:ext cx="2118360" cy="2133601"/>
            </a:xfrm>
            <a:prstGeom prst="round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03D605-FD3C-D7C0-C453-C0F804006144}"/>
                </a:ext>
              </a:extLst>
            </p:cNvPr>
            <p:cNvSpPr/>
            <p:nvPr/>
          </p:nvSpPr>
          <p:spPr>
            <a:xfrm>
              <a:off x="5943600" y="2546184"/>
              <a:ext cx="3093720" cy="95901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E89DE98-A716-922E-848E-5539E392C407}"/>
                </a:ext>
              </a:extLst>
            </p:cNvPr>
            <p:cNvSpPr txBox="1"/>
            <p:nvPr/>
          </p:nvSpPr>
          <p:spPr>
            <a:xfrm>
              <a:off x="726272" y="6604524"/>
              <a:ext cx="4265769" cy="1095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667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Co-Supervisor:</a:t>
              </a:r>
            </a:p>
            <a:p>
              <a:pPr algn="ctr"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Dr. Md. </a:t>
              </a:r>
              <a:r>
                <a:rPr lang="en-US" sz="2000" b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Hasanuzzaman</a:t>
              </a:r>
              <a:endPara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buNone/>
              </a:pPr>
              <a:r>
                <a:rPr lang="en-US" sz="1667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Associate Professor, Dept. of EEE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691E46-03EB-2573-D64D-C575052D2347}"/>
                </a:ext>
              </a:extLst>
            </p:cNvPr>
            <p:cNvSpPr txBox="1"/>
            <p:nvPr/>
          </p:nvSpPr>
          <p:spPr>
            <a:xfrm>
              <a:off x="7230161" y="2889857"/>
              <a:ext cx="3361651" cy="115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667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Chair:</a:t>
              </a:r>
            </a:p>
            <a:p>
              <a:pPr algn="ctr"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Azad Hossain </a:t>
              </a:r>
              <a:r>
                <a:rPr lang="en-US" sz="2000" b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Saykat</a:t>
              </a:r>
              <a:endPara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buNone/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021 221 017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B111161-4309-23C1-52C4-B94BC878FB41}"/>
                </a:ext>
              </a:extLst>
            </p:cNvPr>
            <p:cNvSpPr txBox="1"/>
            <p:nvPr/>
          </p:nvSpPr>
          <p:spPr>
            <a:xfrm>
              <a:off x="10964079" y="2940857"/>
              <a:ext cx="3361651" cy="115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667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Member:</a:t>
              </a:r>
            </a:p>
            <a:p>
              <a:pPr algn="ctr">
                <a:buNone/>
              </a:pPr>
              <a:r>
                <a:rPr lang="en-US" sz="2000" b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Sazzad</a:t>
              </a:r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Hossen</a:t>
              </a:r>
            </a:p>
            <a:p>
              <a:pPr algn="ctr">
                <a:buNone/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021 221 026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B865D94-B4CE-A66D-7207-E83D5E9608D3}"/>
                </a:ext>
              </a:extLst>
            </p:cNvPr>
            <p:cNvSpPr txBox="1"/>
            <p:nvPr/>
          </p:nvSpPr>
          <p:spPr>
            <a:xfrm>
              <a:off x="10997678" y="6617932"/>
              <a:ext cx="3361651" cy="115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667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Member:</a:t>
              </a:r>
            </a:p>
            <a:p>
              <a:pPr algn="ctr"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Md. </a:t>
              </a:r>
              <a:r>
                <a:rPr lang="en-US" sz="2000" b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Tahman</a:t>
              </a:r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Hossain</a:t>
              </a:r>
            </a:p>
            <a:p>
              <a:pPr algn="ctr">
                <a:buNone/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021 221 099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AA40514-FAF9-41C9-C8E2-2A1ECF9B0716}"/>
                </a:ext>
              </a:extLst>
            </p:cNvPr>
            <p:cNvSpPr txBox="1"/>
            <p:nvPr/>
          </p:nvSpPr>
          <p:spPr>
            <a:xfrm>
              <a:off x="7230161" y="6604780"/>
              <a:ext cx="3361651" cy="115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667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Recorder:</a:t>
              </a:r>
            </a:p>
            <a:p>
              <a:pPr algn="ctr">
                <a:buNone/>
              </a:pPr>
              <a:r>
                <a:rPr lang="en-US" sz="2000" b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Suvom</a:t>
              </a:r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Karmakar</a:t>
              </a:r>
            </a:p>
            <a:p>
              <a:pPr algn="ctr">
                <a:buNone/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021 221 027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85A5C6-82AD-F1E1-9809-94E81594D11F}"/>
              </a:ext>
            </a:extLst>
          </p:cNvPr>
          <p:cNvCxnSpPr>
            <a:cxnSpLocks/>
          </p:cNvCxnSpPr>
          <p:nvPr/>
        </p:nvCxnSpPr>
        <p:spPr>
          <a:xfrm>
            <a:off x="4763333" y="576470"/>
            <a:ext cx="0" cy="55490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30091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28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Table of Content</a:t>
            </a:r>
          </a:p>
        </p:txBody>
      </p:sp>
      <p:sp>
        <p:nvSpPr>
          <p:cNvPr id="14" name="AutoShape 14"/>
          <p:cNvSpPr/>
          <p:nvPr/>
        </p:nvSpPr>
        <p:spPr>
          <a:xfrm flipH="1">
            <a:off x="685813" y="1457878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utoShape 16"/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AutoShape 6" descr="Image of ">
            <a:extLst>
              <a:ext uri="{FF2B5EF4-FFF2-40B4-BE49-F238E27FC236}">
                <a16:creationId xmlns:a16="http://schemas.microsoft.com/office/drawing/2014/main" id="{F4DF5F0F-1155-F5E9-7490-4CA45A332C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BE1136-6278-6A93-93C4-FE3600C09B69}"/>
              </a:ext>
            </a:extLst>
          </p:cNvPr>
          <p:cNvSpPr txBox="1"/>
          <p:nvPr/>
        </p:nvSpPr>
        <p:spPr>
          <a:xfrm>
            <a:off x="9925657" y="6270433"/>
            <a:ext cx="1570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Shakil Sikder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021 213 048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16C6A8-C53F-61D4-85E1-5661FF1D7B64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9D60C6F-AD28-3E72-4BB6-2E00C48A45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6891864"/>
              </p:ext>
            </p:extLst>
          </p:nvPr>
        </p:nvGraphicFramePr>
        <p:xfrm>
          <a:off x="2311037" y="1287112"/>
          <a:ext cx="9022080" cy="5088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598705D-2376-CA3A-24DA-302A2D4987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57" y="2642742"/>
            <a:ext cx="1761767" cy="157251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D433-68A5-E6C7-3CCF-B4C86CA3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39197B-3776-54C8-07F7-0E71F50A4E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1668CB7-996A-E7F7-A90A-C09EAEA517CC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Why RF Receivers Matter?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80400AFD-8DA7-5EDF-D951-D1FD6B9C88CB}"/>
              </a:ext>
            </a:extLst>
          </p:cNvPr>
          <p:cNvSpPr/>
          <p:nvPr/>
        </p:nvSpPr>
        <p:spPr>
          <a:xfrm flipH="1">
            <a:off x="685813" y="1457878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12EF18DB-D962-1EC5-B0E1-67D75F0AF2C4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2235A7-ED2C-00E0-01CD-77807F7F18E6}"/>
              </a:ext>
            </a:extLst>
          </p:cNvPr>
          <p:cNvSpPr txBox="1"/>
          <p:nvPr/>
        </p:nvSpPr>
        <p:spPr>
          <a:xfrm>
            <a:off x="564519" y="1256045"/>
            <a:ext cx="43857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1" name="AutoShape 6" descr="Image of ">
            <a:extLst>
              <a:ext uri="{FF2B5EF4-FFF2-40B4-BE49-F238E27FC236}">
                <a16:creationId xmlns:a16="http://schemas.microsoft.com/office/drawing/2014/main" id="{D217D9B3-5E6B-7AA1-F27C-D550341A4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118F6-7A30-8C7D-1A52-B9E8716F4A40}"/>
              </a:ext>
            </a:extLst>
          </p:cNvPr>
          <p:cNvSpPr txBox="1"/>
          <p:nvPr/>
        </p:nvSpPr>
        <p:spPr>
          <a:xfrm>
            <a:off x="685099" y="4512677"/>
            <a:ext cx="66678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Applications</a:t>
            </a:r>
          </a:p>
        </p:txBody>
      </p:sp>
      <p:sp>
        <p:nvSpPr>
          <p:cNvPr id="3" name="Google Shape;94;p4">
            <a:extLst>
              <a:ext uri="{FF2B5EF4-FFF2-40B4-BE49-F238E27FC236}">
                <a16:creationId xmlns:a16="http://schemas.microsoft.com/office/drawing/2014/main" id="{80A3AAFB-AE09-47A5-5505-CA6B9BAD043E}"/>
              </a:ext>
            </a:extLst>
          </p:cNvPr>
          <p:cNvSpPr txBox="1"/>
          <p:nvPr/>
        </p:nvSpPr>
        <p:spPr>
          <a:xfrm>
            <a:off x="1377851" y="1704076"/>
            <a:ext cx="10118507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Compact and Low-power.</a:t>
            </a:r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RF front-end performance directly affects signal quality and power usage.</a:t>
            </a:r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Receiver performance defines signal sensitivity, power consumption, and noise tolerance.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Global 2.45 GHz ISM Band.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Single-Chip CMOS Integration.</a:t>
            </a:r>
            <a:endParaRPr sz="18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226965D2-0622-BF49-3CEB-0FBCEFF0DFCA}"/>
              </a:ext>
            </a:extLst>
          </p:cNvPr>
          <p:cNvSpPr txBox="1"/>
          <p:nvPr/>
        </p:nvSpPr>
        <p:spPr>
          <a:xfrm>
            <a:off x="1377851" y="5039407"/>
            <a:ext cx="8094801" cy="123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Wireless communication: Wi-Fi, Bluetooth etc.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earable devices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505B42-357A-8785-812C-AECED7C8B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9889" y="212944"/>
            <a:ext cx="802996" cy="802996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E32469AA-BA91-C877-09A0-053514D5F6A2}"/>
              </a:ext>
            </a:extLst>
          </p:cNvPr>
          <p:cNvGrpSpPr/>
          <p:nvPr/>
        </p:nvGrpSpPr>
        <p:grpSpPr>
          <a:xfrm>
            <a:off x="7102639" y="6086324"/>
            <a:ext cx="4879162" cy="657158"/>
            <a:chOff x="7035949" y="5996305"/>
            <a:chExt cx="5014095" cy="78535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AA84296-0453-2BC6-C000-18102C8F1BCC}"/>
                </a:ext>
              </a:extLst>
            </p:cNvPr>
            <p:cNvSpPr txBox="1"/>
            <p:nvPr/>
          </p:nvSpPr>
          <p:spPr>
            <a:xfrm>
              <a:off x="11496358" y="6375400"/>
              <a:ext cx="5536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01</a:t>
              </a:r>
            </a:p>
          </p:txBody>
        </p:sp>
        <p:pic>
          <p:nvPicPr>
            <p:cNvPr id="34" name="Picture 33" descr="Contact - UIU - Department of Biotechnology and Genetic Engineering">
              <a:extLst>
                <a:ext uri="{FF2B5EF4-FFF2-40B4-BE49-F238E27FC236}">
                  <a16:creationId xmlns:a16="http://schemas.microsoft.com/office/drawing/2014/main" id="{CE368A52-E23A-F251-01DE-9D42637343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249" y="5996305"/>
              <a:ext cx="785351" cy="78535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F48BF92-B369-B5B9-D602-981702691E81}"/>
                </a:ext>
              </a:extLst>
            </p:cNvPr>
            <p:cNvGrpSpPr/>
            <p:nvPr/>
          </p:nvGrpSpPr>
          <p:grpSpPr>
            <a:xfrm>
              <a:off x="7035949" y="6066113"/>
              <a:ext cx="3585257" cy="688015"/>
              <a:chOff x="587123" y="6036446"/>
              <a:chExt cx="3585257" cy="688015"/>
            </a:xfrm>
          </p:grpSpPr>
          <p:sp>
            <p:nvSpPr>
              <p:cNvPr id="37" name="Freeform 4">
                <a:extLst>
                  <a:ext uri="{FF2B5EF4-FFF2-40B4-BE49-F238E27FC236}">
                    <a16:creationId xmlns:a16="http://schemas.microsoft.com/office/drawing/2014/main" id="{3B52309B-0583-3A20-41C6-C1569A1917A6}"/>
                  </a:ext>
                </a:extLst>
              </p:cNvPr>
              <p:cNvSpPr/>
              <p:nvPr/>
            </p:nvSpPr>
            <p:spPr>
              <a:xfrm rot="5400000">
                <a:off x="2095934" y="4608678"/>
                <a:ext cx="648677" cy="350421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endParaRPr lang="en-US" sz="12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pic>
            <p:nvPicPr>
              <p:cNvPr id="40" name="Picture 39" descr="A person with a beard&#10;&#10;AI-generated content may be incorrect.">
                <a:extLst>
                  <a:ext uri="{FF2B5EF4-FFF2-40B4-BE49-F238E27FC236}">
                    <a16:creationId xmlns:a16="http://schemas.microsoft.com/office/drawing/2014/main" id="{861C6387-E8DF-34B8-1913-C56347F543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07" r="1520" b="6667"/>
              <a:stretch>
                <a:fillRect/>
              </a:stretch>
            </p:blipFill>
            <p:spPr>
              <a:xfrm>
                <a:off x="587123" y="6048137"/>
                <a:ext cx="632436" cy="636986"/>
              </a:xfrm>
              <a:prstGeom prst="round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6881B7B-F5C1-0706-0C61-20607DCE22CE}"/>
                  </a:ext>
                </a:extLst>
              </p:cNvPr>
              <p:cNvSpPr txBox="1"/>
              <p:nvPr/>
            </p:nvSpPr>
            <p:spPr>
              <a:xfrm>
                <a:off x="1060106" y="6099175"/>
                <a:ext cx="2801376" cy="62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Azad Hossain </a:t>
                </a:r>
                <a:r>
                  <a:rPr lang="en-US" sz="14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Saykat</a:t>
                </a:r>
                <a:endParaRPr lang="en-US" sz="1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021 221 017</a:t>
                </a:r>
              </a:p>
            </p:txBody>
          </p:sp>
        </p:grp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2C8C915-625E-875F-7CA0-BBCCE5B685C4}"/>
                </a:ext>
              </a:extLst>
            </p:cNvPr>
            <p:cNvSpPr/>
            <p:nvPr/>
          </p:nvSpPr>
          <p:spPr>
            <a:xfrm>
              <a:off x="11509075" y="6063172"/>
              <a:ext cx="540969" cy="6516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526037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7C1AE-34A7-E24D-490B-F0722607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D66BF1-B89E-8DF3-078C-D9FC2E18AD0C}"/>
              </a:ext>
            </a:extLst>
          </p:cNvPr>
          <p:cNvSpPr/>
          <p:nvPr/>
        </p:nvSpPr>
        <p:spPr>
          <a:xfrm>
            <a:off x="2128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5EFEFEB-4C41-4006-FA5D-8C44F10C67AD}"/>
              </a:ext>
            </a:extLst>
          </p:cNvPr>
          <p:cNvSpPr txBox="1"/>
          <p:nvPr/>
        </p:nvSpPr>
        <p:spPr>
          <a:xfrm>
            <a:off x="685098" y="384548"/>
            <a:ext cx="7338761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Block Diagram of RF Receiver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C5653117-2AC1-3FEE-824A-D3EA6F423A10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EA3DCA-D740-C821-D81F-8A0632726625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3DD3C2-282F-1DB5-179D-8DDEBA33E89A}"/>
              </a:ext>
            </a:extLst>
          </p:cNvPr>
          <p:cNvGrpSpPr/>
          <p:nvPr/>
        </p:nvGrpSpPr>
        <p:grpSpPr>
          <a:xfrm>
            <a:off x="2390848" y="1573630"/>
            <a:ext cx="8294825" cy="3886787"/>
            <a:chOff x="-3594" y="-215332"/>
            <a:chExt cx="6861274" cy="2897496"/>
          </a:xfrm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AF40DAD1-06BD-6895-1027-C29726589CE2}"/>
                </a:ext>
              </a:extLst>
            </p:cNvPr>
            <p:cNvSpPr/>
            <p:nvPr/>
          </p:nvSpPr>
          <p:spPr>
            <a:xfrm rot="10800000">
              <a:off x="-3594" y="405221"/>
              <a:ext cx="269126" cy="323581"/>
            </a:xfrm>
            <a:prstGeom prst="triangle">
              <a:avLst/>
            </a:prstGeom>
            <a:solidFill>
              <a:srgbClr val="0070C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C6940C-2415-9F32-3F1C-44CF5859F405}"/>
                </a:ext>
              </a:extLst>
            </p:cNvPr>
            <p:cNvSpPr/>
            <p:nvPr/>
          </p:nvSpPr>
          <p:spPr>
            <a:xfrm>
              <a:off x="402431" y="1057275"/>
              <a:ext cx="437322" cy="3339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ECD81CA0-4178-E87E-0C3E-E9DBC803E0F1}"/>
                </a:ext>
              </a:extLst>
            </p:cNvPr>
            <p:cNvSpPr/>
            <p:nvPr/>
          </p:nvSpPr>
          <p:spPr>
            <a:xfrm rot="5400000">
              <a:off x="1242218" y="961231"/>
              <a:ext cx="569430" cy="53806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E09CB6A-190C-EFD9-176D-FB0BD3B113B7}"/>
                </a:ext>
              </a:extLst>
            </p:cNvPr>
            <p:cNvCxnSpPr/>
            <p:nvPr/>
          </p:nvCxnSpPr>
          <p:spPr>
            <a:xfrm flipH="1">
              <a:off x="130969" y="714375"/>
              <a:ext cx="0" cy="5386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5E806EE-44DD-58FC-3B44-BE110599D67C}"/>
                </a:ext>
              </a:extLst>
            </p:cNvPr>
            <p:cNvCxnSpPr/>
            <p:nvPr/>
          </p:nvCxnSpPr>
          <p:spPr>
            <a:xfrm>
              <a:off x="123825" y="1250156"/>
              <a:ext cx="20166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D06373-7305-6D37-B988-505CEE10930A}"/>
                </a:ext>
              </a:extLst>
            </p:cNvPr>
            <p:cNvCxnSpPr/>
            <p:nvPr/>
          </p:nvCxnSpPr>
          <p:spPr>
            <a:xfrm>
              <a:off x="831056" y="1257300"/>
              <a:ext cx="393404" cy="26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2A6722F-014E-522B-9D57-FE164DB351B5}"/>
                </a:ext>
              </a:extLst>
            </p:cNvPr>
            <p:cNvCxnSpPr/>
            <p:nvPr/>
          </p:nvCxnSpPr>
          <p:spPr>
            <a:xfrm>
              <a:off x="1788319" y="1228725"/>
              <a:ext cx="339328" cy="53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3FEFD73-B49C-53B3-8400-FF9B4E18C71B}"/>
                </a:ext>
              </a:extLst>
            </p:cNvPr>
            <p:cNvCxnSpPr/>
            <p:nvPr/>
          </p:nvCxnSpPr>
          <p:spPr>
            <a:xfrm>
              <a:off x="2188369" y="178593"/>
              <a:ext cx="0" cy="21538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21B084D-06F2-603A-4390-9AC5A1C496ED}"/>
                </a:ext>
              </a:extLst>
            </p:cNvPr>
            <p:cNvCxnSpPr/>
            <p:nvPr/>
          </p:nvCxnSpPr>
          <p:spPr>
            <a:xfrm flipV="1">
              <a:off x="2188369" y="185737"/>
              <a:ext cx="46517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BCF170B-1109-FB03-4537-E6CCB9131232}"/>
                </a:ext>
              </a:extLst>
            </p:cNvPr>
            <p:cNvCxnSpPr/>
            <p:nvPr/>
          </p:nvCxnSpPr>
          <p:spPr>
            <a:xfrm>
              <a:off x="2181225" y="2321718"/>
              <a:ext cx="459858" cy="43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9FED33D-F8CB-7CAD-0BE6-3464011EA749}"/>
                </a:ext>
              </a:extLst>
            </p:cNvPr>
            <p:cNvCxnSpPr>
              <a:cxnSpLocks/>
              <a:stCxn id="2053" idx="4"/>
            </p:cNvCxnSpPr>
            <p:nvPr/>
          </p:nvCxnSpPr>
          <p:spPr>
            <a:xfrm>
              <a:off x="2873149" y="319428"/>
              <a:ext cx="1021" cy="9492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8A78EB9-2C6C-B8F4-6329-F25412E0ED74}"/>
                </a:ext>
              </a:extLst>
            </p:cNvPr>
            <p:cNvSpPr/>
            <p:nvPr/>
          </p:nvSpPr>
          <p:spPr>
            <a:xfrm>
              <a:off x="2667002" y="1264443"/>
              <a:ext cx="400049" cy="4214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CE20E73-785C-A7C6-E20F-64B924F8EB2E}"/>
                </a:ext>
              </a:extLst>
            </p:cNvPr>
            <p:cNvCxnSpPr>
              <a:cxnSpLocks/>
            </p:cNvCxnSpPr>
            <p:nvPr/>
          </p:nvCxnSpPr>
          <p:spPr>
            <a:xfrm>
              <a:off x="2881313" y="1698129"/>
              <a:ext cx="4825" cy="3996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34FD4E61-FFA4-B102-930E-C74293D1CD4C}"/>
                </a:ext>
              </a:extLst>
            </p:cNvPr>
            <p:cNvSpPr/>
            <p:nvPr/>
          </p:nvSpPr>
          <p:spPr>
            <a:xfrm>
              <a:off x="3067050" y="771525"/>
              <a:ext cx="273020" cy="260019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EDE7B67-C02D-0906-DB99-FF855915D826}"/>
                </a:ext>
              </a:extLst>
            </p:cNvPr>
            <p:cNvCxnSpPr/>
            <p:nvPr/>
          </p:nvCxnSpPr>
          <p:spPr>
            <a:xfrm flipV="1">
              <a:off x="2881313" y="907256"/>
              <a:ext cx="178592" cy="27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C088C71-D581-939E-AF7E-0128BBFBDA5B}"/>
                </a:ext>
              </a:extLst>
            </p:cNvPr>
            <p:cNvSpPr/>
            <p:nvPr/>
          </p:nvSpPr>
          <p:spPr>
            <a:xfrm>
              <a:off x="3676851" y="-9909"/>
              <a:ext cx="593709" cy="3339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B31BFBF-CAB8-582B-A860-B34439889EE3}"/>
                </a:ext>
              </a:extLst>
            </p:cNvPr>
            <p:cNvCxnSpPr/>
            <p:nvPr/>
          </p:nvCxnSpPr>
          <p:spPr>
            <a:xfrm flipV="1">
              <a:off x="3031331" y="171450"/>
              <a:ext cx="537135" cy="67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5212180-4688-9478-8937-15741226F758}"/>
                </a:ext>
              </a:extLst>
            </p:cNvPr>
            <p:cNvSpPr/>
            <p:nvPr/>
          </p:nvSpPr>
          <p:spPr>
            <a:xfrm>
              <a:off x="3652838" y="2135981"/>
              <a:ext cx="593090" cy="3333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36F36E-30DF-4DBB-740D-62C72D8C8E2F}"/>
                </a:ext>
              </a:extLst>
            </p:cNvPr>
            <p:cNvCxnSpPr/>
            <p:nvPr/>
          </p:nvCxnSpPr>
          <p:spPr>
            <a:xfrm flipV="1">
              <a:off x="3038475" y="2307431"/>
              <a:ext cx="527195" cy="527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472EC46-23B2-4410-B946-C4BEA2049354}"/>
                </a:ext>
              </a:extLst>
            </p:cNvPr>
            <p:cNvCxnSpPr/>
            <p:nvPr/>
          </p:nvCxnSpPr>
          <p:spPr>
            <a:xfrm flipV="1">
              <a:off x="4277305" y="139391"/>
              <a:ext cx="602377" cy="86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C1D4E87-795F-90E1-C822-64CA4B6CE6EE}"/>
                </a:ext>
              </a:extLst>
            </p:cNvPr>
            <p:cNvCxnSpPr/>
            <p:nvPr/>
          </p:nvCxnSpPr>
          <p:spPr>
            <a:xfrm flipV="1">
              <a:off x="4252913" y="2300287"/>
              <a:ext cx="602377" cy="86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2D004C4E-A1BF-F3BE-61AB-EB3EB9836B4E}"/>
                </a:ext>
              </a:extLst>
            </p:cNvPr>
            <p:cNvSpPr/>
            <p:nvPr/>
          </p:nvSpPr>
          <p:spPr>
            <a:xfrm rot="5400000">
              <a:off x="299165" y="1194514"/>
              <a:ext cx="57537" cy="97127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9CABA3CB-39E4-3702-6B70-B9EB374DC3AF}"/>
                </a:ext>
              </a:extLst>
            </p:cNvPr>
            <p:cNvSpPr/>
            <p:nvPr/>
          </p:nvSpPr>
          <p:spPr>
            <a:xfrm rot="5400000">
              <a:off x="1179512" y="1219994"/>
              <a:ext cx="59900" cy="73201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FE5C9CA9-ECA3-153B-ACC0-51279B5A49D5}"/>
                </a:ext>
              </a:extLst>
            </p:cNvPr>
            <p:cNvSpPr/>
            <p:nvPr/>
          </p:nvSpPr>
          <p:spPr>
            <a:xfrm rot="5400000">
              <a:off x="2082482" y="1184751"/>
              <a:ext cx="45085" cy="88265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D41DC2CD-CFD7-E6D3-93BA-957A5CFC325F}"/>
                </a:ext>
              </a:extLst>
            </p:cNvPr>
            <p:cNvSpPr/>
            <p:nvPr/>
          </p:nvSpPr>
          <p:spPr>
            <a:xfrm rot="5400000">
              <a:off x="2634536" y="143748"/>
              <a:ext cx="54216" cy="82746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CB0FC863-C2F9-A354-16A8-CD69106DBA57}"/>
                </a:ext>
              </a:extLst>
            </p:cNvPr>
            <p:cNvSpPr/>
            <p:nvPr/>
          </p:nvSpPr>
          <p:spPr>
            <a:xfrm rot="5400000">
              <a:off x="2632551" y="2270601"/>
              <a:ext cx="58831" cy="102371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D52949E1-B503-65C8-152A-626B97013EC8}"/>
                </a:ext>
              </a:extLst>
            </p:cNvPr>
            <p:cNvSpPr/>
            <p:nvPr/>
          </p:nvSpPr>
          <p:spPr>
            <a:xfrm rot="5400000">
              <a:off x="3548936" y="2272585"/>
              <a:ext cx="54216" cy="82746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039A761E-B078-B6B2-9C91-2348EF3AB71A}"/>
                </a:ext>
              </a:extLst>
            </p:cNvPr>
            <p:cNvSpPr/>
            <p:nvPr/>
          </p:nvSpPr>
          <p:spPr>
            <a:xfrm rot="5400000">
              <a:off x="3541792" y="129460"/>
              <a:ext cx="54216" cy="82746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2ABC8C0C-9DA7-8242-64C5-C96A05341EA8}"/>
                </a:ext>
              </a:extLst>
            </p:cNvPr>
            <p:cNvSpPr/>
            <p:nvPr/>
          </p:nvSpPr>
          <p:spPr>
            <a:xfrm rot="5400000">
              <a:off x="4896247" y="28972"/>
              <a:ext cx="149862" cy="232504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D167ABD7-F501-8156-1DD9-76AE639CE1BC}"/>
                </a:ext>
              </a:extLst>
            </p:cNvPr>
            <p:cNvSpPr/>
            <p:nvPr/>
          </p:nvSpPr>
          <p:spPr>
            <a:xfrm rot="5400000">
              <a:off x="4903390" y="2172097"/>
              <a:ext cx="149860" cy="232410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4037C627-71FD-DB3F-423F-4B955E5495BE}"/>
                </a:ext>
              </a:extLst>
            </p:cNvPr>
            <p:cNvSpPr/>
            <p:nvPr/>
          </p:nvSpPr>
          <p:spPr>
            <a:xfrm rot="10800000">
              <a:off x="2857500" y="2057400"/>
              <a:ext cx="54216" cy="82746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808B4A38-4715-2FC4-0B97-B1CF4E0E2992}"/>
                </a:ext>
              </a:extLst>
            </p:cNvPr>
            <p:cNvSpPr/>
            <p:nvPr/>
          </p:nvSpPr>
          <p:spPr>
            <a:xfrm>
              <a:off x="2850356" y="324046"/>
              <a:ext cx="37818" cy="99218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3240EB-C153-83FF-EDA5-03DFF4478041}"/>
                </a:ext>
              </a:extLst>
            </p:cNvPr>
            <p:cNvSpPr/>
            <p:nvPr/>
          </p:nvSpPr>
          <p:spPr>
            <a:xfrm>
              <a:off x="481013" y="1478756"/>
              <a:ext cx="279584" cy="79162"/>
            </a:xfrm>
            <a:custGeom>
              <a:avLst/>
              <a:gdLst>
                <a:gd name="connsiteX0" fmla="*/ 0 w 476333"/>
                <a:gd name="connsiteY0" fmla="*/ 76744 h 151510"/>
                <a:gd name="connsiteX1" fmla="*/ 182327 w 476333"/>
                <a:gd name="connsiteY1" fmla="*/ 2155 h 151510"/>
                <a:gd name="connsiteX2" fmla="*/ 337029 w 476333"/>
                <a:gd name="connsiteY2" fmla="*/ 151332 h 151510"/>
                <a:gd name="connsiteX3" fmla="*/ 464106 w 476333"/>
                <a:gd name="connsiteY3" fmla="*/ 32543 h 151510"/>
                <a:gd name="connsiteX4" fmla="*/ 464106 w 476333"/>
                <a:gd name="connsiteY4" fmla="*/ 35306 h 15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333" h="151510">
                  <a:moveTo>
                    <a:pt x="0" y="76744"/>
                  </a:moveTo>
                  <a:cubicBezTo>
                    <a:pt x="63078" y="33234"/>
                    <a:pt x="126156" y="-10276"/>
                    <a:pt x="182327" y="2155"/>
                  </a:cubicBezTo>
                  <a:cubicBezTo>
                    <a:pt x="238498" y="14586"/>
                    <a:pt x="290066" y="146267"/>
                    <a:pt x="337029" y="151332"/>
                  </a:cubicBezTo>
                  <a:cubicBezTo>
                    <a:pt x="383992" y="156397"/>
                    <a:pt x="442927" y="51881"/>
                    <a:pt x="464106" y="32543"/>
                  </a:cubicBezTo>
                  <a:cubicBezTo>
                    <a:pt x="485285" y="13205"/>
                    <a:pt x="474695" y="24255"/>
                    <a:pt x="464106" y="3530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010D545-EA13-E712-F50B-A09FB4D9F5F9}"/>
                </a:ext>
              </a:extLst>
            </p:cNvPr>
            <p:cNvSpPr/>
            <p:nvPr/>
          </p:nvSpPr>
          <p:spPr>
            <a:xfrm>
              <a:off x="488156" y="1693068"/>
              <a:ext cx="265771" cy="63055"/>
            </a:xfrm>
            <a:custGeom>
              <a:avLst/>
              <a:gdLst>
                <a:gd name="connsiteX0" fmla="*/ 0 w 476333"/>
                <a:gd name="connsiteY0" fmla="*/ 76744 h 151510"/>
                <a:gd name="connsiteX1" fmla="*/ 182327 w 476333"/>
                <a:gd name="connsiteY1" fmla="*/ 2155 h 151510"/>
                <a:gd name="connsiteX2" fmla="*/ 337029 w 476333"/>
                <a:gd name="connsiteY2" fmla="*/ 151332 h 151510"/>
                <a:gd name="connsiteX3" fmla="*/ 464106 w 476333"/>
                <a:gd name="connsiteY3" fmla="*/ 32543 h 151510"/>
                <a:gd name="connsiteX4" fmla="*/ 464106 w 476333"/>
                <a:gd name="connsiteY4" fmla="*/ 35306 h 15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333" h="151510">
                  <a:moveTo>
                    <a:pt x="0" y="76744"/>
                  </a:moveTo>
                  <a:cubicBezTo>
                    <a:pt x="63078" y="33234"/>
                    <a:pt x="126156" y="-10276"/>
                    <a:pt x="182327" y="2155"/>
                  </a:cubicBezTo>
                  <a:cubicBezTo>
                    <a:pt x="238498" y="14586"/>
                    <a:pt x="290066" y="146267"/>
                    <a:pt x="337029" y="151332"/>
                  </a:cubicBezTo>
                  <a:cubicBezTo>
                    <a:pt x="383992" y="156397"/>
                    <a:pt x="442927" y="51881"/>
                    <a:pt x="464106" y="32543"/>
                  </a:cubicBezTo>
                  <a:cubicBezTo>
                    <a:pt x="485285" y="13205"/>
                    <a:pt x="474695" y="24255"/>
                    <a:pt x="464106" y="3530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F458846-99DA-5FEE-B90E-151A26BECCA3}"/>
                </a:ext>
              </a:extLst>
            </p:cNvPr>
            <p:cNvSpPr/>
            <p:nvPr/>
          </p:nvSpPr>
          <p:spPr>
            <a:xfrm>
              <a:off x="481013" y="1585912"/>
              <a:ext cx="279584" cy="65753"/>
            </a:xfrm>
            <a:custGeom>
              <a:avLst/>
              <a:gdLst>
                <a:gd name="connsiteX0" fmla="*/ 0 w 476333"/>
                <a:gd name="connsiteY0" fmla="*/ 76744 h 151510"/>
                <a:gd name="connsiteX1" fmla="*/ 182327 w 476333"/>
                <a:gd name="connsiteY1" fmla="*/ 2155 h 151510"/>
                <a:gd name="connsiteX2" fmla="*/ 337029 w 476333"/>
                <a:gd name="connsiteY2" fmla="*/ 151332 h 151510"/>
                <a:gd name="connsiteX3" fmla="*/ 464106 w 476333"/>
                <a:gd name="connsiteY3" fmla="*/ 32543 h 151510"/>
                <a:gd name="connsiteX4" fmla="*/ 464106 w 476333"/>
                <a:gd name="connsiteY4" fmla="*/ 35306 h 15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333" h="151510">
                  <a:moveTo>
                    <a:pt x="0" y="76744"/>
                  </a:moveTo>
                  <a:cubicBezTo>
                    <a:pt x="63078" y="33234"/>
                    <a:pt x="126156" y="-10276"/>
                    <a:pt x="182327" y="2155"/>
                  </a:cubicBezTo>
                  <a:cubicBezTo>
                    <a:pt x="238498" y="14586"/>
                    <a:pt x="290066" y="146267"/>
                    <a:pt x="337029" y="151332"/>
                  </a:cubicBezTo>
                  <a:cubicBezTo>
                    <a:pt x="383992" y="156397"/>
                    <a:pt x="442927" y="51881"/>
                    <a:pt x="464106" y="32543"/>
                  </a:cubicBezTo>
                  <a:cubicBezTo>
                    <a:pt x="485285" y="13205"/>
                    <a:pt x="474695" y="24255"/>
                    <a:pt x="464106" y="3530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D669D27-0F85-C85D-9BE4-BFD0E842FD1F}"/>
                </a:ext>
              </a:extLst>
            </p:cNvPr>
            <p:cNvCxnSpPr/>
            <p:nvPr/>
          </p:nvCxnSpPr>
          <p:spPr>
            <a:xfrm flipV="1">
              <a:off x="616744" y="1485900"/>
              <a:ext cx="52488" cy="46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569092D-FBA3-D066-7749-14F957F20633}"/>
                </a:ext>
              </a:extLst>
            </p:cNvPr>
            <p:cNvCxnSpPr/>
            <p:nvPr/>
          </p:nvCxnSpPr>
          <p:spPr>
            <a:xfrm flipV="1">
              <a:off x="588169" y="1685925"/>
              <a:ext cx="52488" cy="46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1AEBD9A-7F88-6D15-911B-6477D71E08DB}"/>
                </a:ext>
              </a:extLst>
            </p:cNvPr>
            <p:cNvSpPr/>
            <p:nvPr/>
          </p:nvSpPr>
          <p:spPr>
            <a:xfrm>
              <a:off x="3138488" y="857250"/>
              <a:ext cx="142875" cy="83321"/>
            </a:xfrm>
            <a:custGeom>
              <a:avLst/>
              <a:gdLst>
                <a:gd name="connsiteX0" fmla="*/ 0 w 476333"/>
                <a:gd name="connsiteY0" fmla="*/ 76744 h 151510"/>
                <a:gd name="connsiteX1" fmla="*/ 182327 w 476333"/>
                <a:gd name="connsiteY1" fmla="*/ 2155 h 151510"/>
                <a:gd name="connsiteX2" fmla="*/ 337029 w 476333"/>
                <a:gd name="connsiteY2" fmla="*/ 151332 h 151510"/>
                <a:gd name="connsiteX3" fmla="*/ 464106 w 476333"/>
                <a:gd name="connsiteY3" fmla="*/ 32543 h 151510"/>
                <a:gd name="connsiteX4" fmla="*/ 464106 w 476333"/>
                <a:gd name="connsiteY4" fmla="*/ 35306 h 15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333" h="151510">
                  <a:moveTo>
                    <a:pt x="0" y="76744"/>
                  </a:moveTo>
                  <a:cubicBezTo>
                    <a:pt x="63078" y="33234"/>
                    <a:pt x="126156" y="-10276"/>
                    <a:pt x="182327" y="2155"/>
                  </a:cubicBezTo>
                  <a:cubicBezTo>
                    <a:pt x="238498" y="14586"/>
                    <a:pt x="290066" y="146267"/>
                    <a:pt x="337029" y="151332"/>
                  </a:cubicBezTo>
                  <a:cubicBezTo>
                    <a:pt x="383992" y="156397"/>
                    <a:pt x="442927" y="51881"/>
                    <a:pt x="464106" y="32543"/>
                  </a:cubicBezTo>
                  <a:cubicBezTo>
                    <a:pt x="485285" y="13205"/>
                    <a:pt x="474695" y="24255"/>
                    <a:pt x="464106" y="3530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" name="Text Box 19">
              <a:extLst>
                <a:ext uri="{FF2B5EF4-FFF2-40B4-BE49-F238E27FC236}">
                  <a16:creationId xmlns:a16="http://schemas.microsoft.com/office/drawing/2014/main" id="{00AF2093-5748-A0C3-2C56-A7D47603B71F}"/>
                </a:ext>
              </a:extLst>
            </p:cNvPr>
            <p:cNvSpPr txBox="1"/>
            <p:nvPr/>
          </p:nvSpPr>
          <p:spPr>
            <a:xfrm>
              <a:off x="415709" y="1123637"/>
              <a:ext cx="931420" cy="569431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b="1" kern="1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BPF</a:t>
              </a:r>
            </a:p>
          </p:txBody>
        </p:sp>
        <p:sp>
          <p:nvSpPr>
            <p:cNvPr id="63" name="Text Box 19">
              <a:extLst>
                <a:ext uri="{FF2B5EF4-FFF2-40B4-BE49-F238E27FC236}">
                  <a16:creationId xmlns:a16="http://schemas.microsoft.com/office/drawing/2014/main" id="{A71020F3-3830-CD31-18C8-EB1AE4BE71A2}"/>
                </a:ext>
              </a:extLst>
            </p:cNvPr>
            <p:cNvSpPr txBox="1"/>
            <p:nvPr/>
          </p:nvSpPr>
          <p:spPr>
            <a:xfrm>
              <a:off x="1238251" y="1137426"/>
              <a:ext cx="707001" cy="29823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b="1" kern="100" dirty="0">
                  <a:solidFill>
                    <a:srgbClr val="000066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LNA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8" name="Text Box 19">
                  <a:extLst>
                    <a:ext uri="{FF2B5EF4-FFF2-40B4-BE49-F238E27FC236}">
                      <a16:creationId xmlns:a16="http://schemas.microsoft.com/office/drawing/2014/main" id="{774C6095-39C1-9007-66B3-D2B064B3A538}"/>
                    </a:ext>
                  </a:extLst>
                </p:cNvPr>
                <p:cNvSpPr txBox="1"/>
                <p:nvPr/>
              </p:nvSpPr>
              <p:spPr>
                <a:xfrm>
                  <a:off x="2647873" y="1311125"/>
                  <a:ext cx="466878" cy="38922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Aft>
                      <a:spcPts val="80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000" b="1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000" b="1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US" sz="1000" b="1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n-US" sz="1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48" name="Text Box 19">
                  <a:extLst>
                    <a:ext uri="{FF2B5EF4-FFF2-40B4-BE49-F238E27FC236}">
                      <a16:creationId xmlns:a16="http://schemas.microsoft.com/office/drawing/2014/main" id="{774C6095-39C1-9007-66B3-D2B064B3A5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7873" y="1311125"/>
                  <a:ext cx="466878" cy="389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49" name="Text Box 19">
              <a:extLst>
                <a:ext uri="{FF2B5EF4-FFF2-40B4-BE49-F238E27FC236}">
                  <a16:creationId xmlns:a16="http://schemas.microsoft.com/office/drawing/2014/main" id="{D73EB93B-1CE9-6CC4-A07C-D611C2613B5D}"/>
                </a:ext>
              </a:extLst>
            </p:cNvPr>
            <p:cNvSpPr txBox="1"/>
            <p:nvPr/>
          </p:nvSpPr>
          <p:spPr>
            <a:xfrm>
              <a:off x="3789338" y="50937"/>
              <a:ext cx="634263" cy="24628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b="1" kern="100" dirty="0">
                  <a:solidFill>
                    <a:schemeClr val="accent2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LPF</a:t>
              </a:r>
            </a:p>
          </p:txBody>
        </p:sp>
        <p:sp>
          <p:nvSpPr>
            <p:cNvPr id="2051" name="Text Box 19">
              <a:extLst>
                <a:ext uri="{FF2B5EF4-FFF2-40B4-BE49-F238E27FC236}">
                  <a16:creationId xmlns:a16="http://schemas.microsoft.com/office/drawing/2014/main" id="{A3DEA1DD-E15D-EB44-5FE2-940ED05B889F}"/>
                </a:ext>
              </a:extLst>
            </p:cNvPr>
            <p:cNvSpPr txBox="1"/>
            <p:nvPr/>
          </p:nvSpPr>
          <p:spPr>
            <a:xfrm>
              <a:off x="3719611" y="2190924"/>
              <a:ext cx="645320" cy="29799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b="1" kern="100" dirty="0">
                  <a:solidFill>
                    <a:schemeClr val="accent2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LPF</a:t>
              </a:r>
            </a:p>
          </p:txBody>
        </p:sp>
        <p:sp>
          <p:nvSpPr>
            <p:cNvPr id="2053" name="Flowchart: Summing Junction 2052">
              <a:extLst>
                <a:ext uri="{FF2B5EF4-FFF2-40B4-BE49-F238E27FC236}">
                  <a16:creationId xmlns:a16="http://schemas.microsoft.com/office/drawing/2014/main" id="{DAC39B8B-0A55-27B7-AC3A-A13F54833BC7}"/>
                </a:ext>
              </a:extLst>
            </p:cNvPr>
            <p:cNvSpPr/>
            <p:nvPr/>
          </p:nvSpPr>
          <p:spPr>
            <a:xfrm>
              <a:off x="2724150" y="21431"/>
              <a:ext cx="297996" cy="297997"/>
            </a:xfrm>
            <a:prstGeom prst="flowChartSummingJunct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4" name="Flowchart: Summing Junction 2053">
              <a:extLst>
                <a:ext uri="{FF2B5EF4-FFF2-40B4-BE49-F238E27FC236}">
                  <a16:creationId xmlns:a16="http://schemas.microsoft.com/office/drawing/2014/main" id="{02981A57-3D34-C3B4-1801-8305074EB404}"/>
                </a:ext>
              </a:extLst>
            </p:cNvPr>
            <p:cNvSpPr/>
            <p:nvPr/>
          </p:nvSpPr>
          <p:spPr>
            <a:xfrm>
              <a:off x="2738438" y="2157412"/>
              <a:ext cx="297996" cy="297997"/>
            </a:xfrm>
            <a:prstGeom prst="flowChartSummingJunct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5" name="Text Box 19">
              <a:extLst>
                <a:ext uri="{FF2B5EF4-FFF2-40B4-BE49-F238E27FC236}">
                  <a16:creationId xmlns:a16="http://schemas.microsoft.com/office/drawing/2014/main" id="{19FC4276-0088-C655-3E65-47787F2A8E77}"/>
                </a:ext>
              </a:extLst>
            </p:cNvPr>
            <p:cNvSpPr txBox="1"/>
            <p:nvPr/>
          </p:nvSpPr>
          <p:spPr>
            <a:xfrm>
              <a:off x="5103195" y="25407"/>
              <a:ext cx="1426270" cy="31942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b="1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I (Baseband)</a:t>
              </a:r>
            </a:p>
          </p:txBody>
        </p:sp>
        <p:sp>
          <p:nvSpPr>
            <p:cNvPr id="2056" name="Text Box 19">
              <a:extLst>
                <a:ext uri="{FF2B5EF4-FFF2-40B4-BE49-F238E27FC236}">
                  <a16:creationId xmlns:a16="http://schemas.microsoft.com/office/drawing/2014/main" id="{76638E04-CCF4-E451-B383-CBAE89EC9328}"/>
                </a:ext>
              </a:extLst>
            </p:cNvPr>
            <p:cNvSpPr txBox="1"/>
            <p:nvPr/>
          </p:nvSpPr>
          <p:spPr>
            <a:xfrm>
              <a:off x="5094525" y="2164690"/>
              <a:ext cx="1763155" cy="3333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b="1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Q (Baseband)</a:t>
              </a:r>
            </a:p>
          </p:txBody>
        </p:sp>
        <p:sp>
          <p:nvSpPr>
            <p:cNvPr id="2057" name="Text Box 19">
              <a:extLst>
                <a:ext uri="{FF2B5EF4-FFF2-40B4-BE49-F238E27FC236}">
                  <a16:creationId xmlns:a16="http://schemas.microsoft.com/office/drawing/2014/main" id="{43F5AD4C-7EB0-63B1-950C-23F0ABA6D720}"/>
                </a:ext>
              </a:extLst>
            </p:cNvPr>
            <p:cNvSpPr txBox="1"/>
            <p:nvPr/>
          </p:nvSpPr>
          <p:spPr>
            <a:xfrm>
              <a:off x="2653544" y="-215332"/>
              <a:ext cx="971510" cy="212914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b="1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Mixer</a:t>
              </a:r>
            </a:p>
          </p:txBody>
        </p:sp>
        <p:sp>
          <p:nvSpPr>
            <p:cNvPr id="2058" name="Text Box 19">
              <a:extLst>
                <a:ext uri="{FF2B5EF4-FFF2-40B4-BE49-F238E27FC236}">
                  <a16:creationId xmlns:a16="http://schemas.microsoft.com/office/drawing/2014/main" id="{A0DF4003-DEA5-86D1-7F12-C688B37FD3AB}"/>
                </a:ext>
              </a:extLst>
            </p:cNvPr>
            <p:cNvSpPr txBox="1"/>
            <p:nvPr/>
          </p:nvSpPr>
          <p:spPr>
            <a:xfrm>
              <a:off x="2619571" y="2469250"/>
              <a:ext cx="971510" cy="212914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b="1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Mixer</a:t>
              </a:r>
            </a:p>
          </p:txBody>
        </p:sp>
        <p:sp>
          <p:nvSpPr>
            <p:cNvPr id="2059" name="Text Box 19">
              <a:extLst>
                <a:ext uri="{FF2B5EF4-FFF2-40B4-BE49-F238E27FC236}">
                  <a16:creationId xmlns:a16="http://schemas.microsoft.com/office/drawing/2014/main" id="{17AA9487-5AA9-B387-8F40-38BAE8E4584B}"/>
                </a:ext>
              </a:extLst>
            </p:cNvPr>
            <p:cNvSpPr txBox="1"/>
            <p:nvPr/>
          </p:nvSpPr>
          <p:spPr>
            <a:xfrm>
              <a:off x="3372051" y="809378"/>
              <a:ext cx="1648647" cy="31034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b="1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Local</a:t>
              </a:r>
              <a:r>
                <a:rPr lang="en-US" sz="1200" b="1" kern="100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 Oscillator (LO)</a:t>
              </a:r>
              <a:endParaRPr lang="en-US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61" name="TextBox 2060">
            <a:extLst>
              <a:ext uri="{FF2B5EF4-FFF2-40B4-BE49-F238E27FC236}">
                <a16:creationId xmlns:a16="http://schemas.microsoft.com/office/drawing/2014/main" id="{BC12A939-DF2C-D79B-7A33-8722B3298CCF}"/>
              </a:ext>
            </a:extLst>
          </p:cNvPr>
          <p:cNvSpPr txBox="1"/>
          <p:nvPr/>
        </p:nvSpPr>
        <p:spPr>
          <a:xfrm>
            <a:off x="3588860" y="5574553"/>
            <a:ext cx="61009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Proposed Block Diagram of the RF Receiver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90" name="Group 2089">
            <a:extLst>
              <a:ext uri="{FF2B5EF4-FFF2-40B4-BE49-F238E27FC236}">
                <a16:creationId xmlns:a16="http://schemas.microsoft.com/office/drawing/2014/main" id="{6D0BA839-4BB0-64D0-A959-9C886D5A1827}"/>
              </a:ext>
            </a:extLst>
          </p:cNvPr>
          <p:cNvGrpSpPr/>
          <p:nvPr/>
        </p:nvGrpSpPr>
        <p:grpSpPr>
          <a:xfrm>
            <a:off x="7102639" y="6086324"/>
            <a:ext cx="4879162" cy="657158"/>
            <a:chOff x="7035949" y="5996305"/>
            <a:chExt cx="5014095" cy="785351"/>
          </a:xfrm>
        </p:grpSpPr>
        <p:sp>
          <p:nvSpPr>
            <p:cNvPr id="2092" name="TextBox 2091">
              <a:extLst>
                <a:ext uri="{FF2B5EF4-FFF2-40B4-BE49-F238E27FC236}">
                  <a16:creationId xmlns:a16="http://schemas.microsoft.com/office/drawing/2014/main" id="{9D23B0A2-AEBD-A9F2-F3F7-F1315E491D7D}"/>
                </a:ext>
              </a:extLst>
            </p:cNvPr>
            <p:cNvSpPr txBox="1"/>
            <p:nvPr/>
          </p:nvSpPr>
          <p:spPr>
            <a:xfrm>
              <a:off x="11496358" y="6375400"/>
              <a:ext cx="553686" cy="331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pic>
          <p:nvPicPr>
            <p:cNvPr id="2093" name="Picture 2092" descr="Contact - UIU - Department of Biotechnology and Genetic Engineering">
              <a:extLst>
                <a:ext uri="{FF2B5EF4-FFF2-40B4-BE49-F238E27FC236}">
                  <a16:creationId xmlns:a16="http://schemas.microsoft.com/office/drawing/2014/main" id="{C9795566-83B0-C9D7-903A-ACA6A6A81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249" y="5996305"/>
              <a:ext cx="785351" cy="78535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94" name="Group 2093">
              <a:extLst>
                <a:ext uri="{FF2B5EF4-FFF2-40B4-BE49-F238E27FC236}">
                  <a16:creationId xmlns:a16="http://schemas.microsoft.com/office/drawing/2014/main" id="{410AA7BB-7C8D-3956-822B-43FCBE18B1B7}"/>
                </a:ext>
              </a:extLst>
            </p:cNvPr>
            <p:cNvGrpSpPr/>
            <p:nvPr/>
          </p:nvGrpSpPr>
          <p:grpSpPr>
            <a:xfrm>
              <a:off x="7035949" y="6066113"/>
              <a:ext cx="3585257" cy="688015"/>
              <a:chOff x="587123" y="6036446"/>
              <a:chExt cx="3585257" cy="688015"/>
            </a:xfrm>
          </p:grpSpPr>
          <p:sp>
            <p:nvSpPr>
              <p:cNvPr id="2096" name="Freeform 4">
                <a:extLst>
                  <a:ext uri="{FF2B5EF4-FFF2-40B4-BE49-F238E27FC236}">
                    <a16:creationId xmlns:a16="http://schemas.microsoft.com/office/drawing/2014/main" id="{244A9566-E42D-E340-9622-6DB92C4C0765}"/>
                  </a:ext>
                </a:extLst>
              </p:cNvPr>
              <p:cNvSpPr/>
              <p:nvPr/>
            </p:nvSpPr>
            <p:spPr>
              <a:xfrm rot="5400000">
                <a:off x="2095934" y="4608678"/>
                <a:ext cx="648677" cy="350421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endParaRPr lang="en-US" sz="1200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097" name="Picture 2096" descr="A person with a beard&#10;&#10;AI-generated content may be incorrect.">
                <a:extLst>
                  <a:ext uri="{FF2B5EF4-FFF2-40B4-BE49-F238E27FC236}">
                    <a16:creationId xmlns:a16="http://schemas.microsoft.com/office/drawing/2014/main" id="{D43BB6FC-5757-BF79-5BB8-076DBCCAA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07" r="1520" b="6667"/>
              <a:stretch>
                <a:fillRect/>
              </a:stretch>
            </p:blipFill>
            <p:spPr>
              <a:xfrm>
                <a:off x="587123" y="6048137"/>
                <a:ext cx="632436" cy="636986"/>
              </a:xfrm>
              <a:prstGeom prst="roundRect">
                <a:avLst/>
              </a:prstGeom>
            </p:spPr>
          </p:pic>
          <p:sp>
            <p:nvSpPr>
              <p:cNvPr id="2098" name="TextBox 2097">
                <a:extLst>
                  <a:ext uri="{FF2B5EF4-FFF2-40B4-BE49-F238E27FC236}">
                    <a16:creationId xmlns:a16="http://schemas.microsoft.com/office/drawing/2014/main" id="{1C8653F7-CAC3-7178-260A-DBCD6AED5802}"/>
                  </a:ext>
                </a:extLst>
              </p:cNvPr>
              <p:cNvSpPr txBox="1"/>
              <p:nvPr/>
            </p:nvSpPr>
            <p:spPr>
              <a:xfrm>
                <a:off x="1060106" y="6099175"/>
                <a:ext cx="2801376" cy="62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Azad Hossain </a:t>
                </a:r>
                <a:r>
                  <a:rPr lang="en-US" sz="14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Saykat</a:t>
                </a:r>
                <a:endParaRPr lang="en-US" sz="1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021 221 017</a:t>
                </a:r>
              </a:p>
            </p:txBody>
          </p:sp>
        </p:grpSp>
        <p:sp>
          <p:nvSpPr>
            <p:cNvPr id="2095" name="Rectangle: Rounded Corners 2094">
              <a:extLst>
                <a:ext uri="{FF2B5EF4-FFF2-40B4-BE49-F238E27FC236}">
                  <a16:creationId xmlns:a16="http://schemas.microsoft.com/office/drawing/2014/main" id="{0B5DCD1B-60F8-24F1-1DC9-4CC47B9EB1FA}"/>
                </a:ext>
              </a:extLst>
            </p:cNvPr>
            <p:cNvSpPr/>
            <p:nvPr/>
          </p:nvSpPr>
          <p:spPr>
            <a:xfrm>
              <a:off x="11509075" y="6063172"/>
              <a:ext cx="540969" cy="6516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140954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A0083-FF32-EE8D-A32B-1384438C9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96624C-2E36-77CD-3684-5AD0075EDF1F}"/>
              </a:ext>
            </a:extLst>
          </p:cNvPr>
          <p:cNvSpPr/>
          <p:nvPr/>
        </p:nvSpPr>
        <p:spPr>
          <a:xfrm>
            <a:off x="2128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7797DA8-AE9B-7980-5C5C-4184B4EAEEE5}"/>
              </a:ext>
            </a:extLst>
          </p:cNvPr>
          <p:cNvSpPr txBox="1"/>
          <p:nvPr/>
        </p:nvSpPr>
        <p:spPr>
          <a:xfrm>
            <a:off x="685098" y="384548"/>
            <a:ext cx="7338761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Literature Review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9BF288-34A7-6163-89A9-ECE9A054A082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grpSp>
        <p:nvGrpSpPr>
          <p:cNvPr id="2090" name="Group 2089">
            <a:extLst>
              <a:ext uri="{FF2B5EF4-FFF2-40B4-BE49-F238E27FC236}">
                <a16:creationId xmlns:a16="http://schemas.microsoft.com/office/drawing/2014/main" id="{7336EDCE-6C15-E79C-933F-2F7F1CE470A4}"/>
              </a:ext>
            </a:extLst>
          </p:cNvPr>
          <p:cNvGrpSpPr/>
          <p:nvPr/>
        </p:nvGrpSpPr>
        <p:grpSpPr>
          <a:xfrm>
            <a:off x="7102639" y="6086324"/>
            <a:ext cx="4879162" cy="657158"/>
            <a:chOff x="7035949" y="5996305"/>
            <a:chExt cx="5014095" cy="785351"/>
          </a:xfrm>
        </p:grpSpPr>
        <p:sp>
          <p:nvSpPr>
            <p:cNvPr id="2092" name="TextBox 2091">
              <a:extLst>
                <a:ext uri="{FF2B5EF4-FFF2-40B4-BE49-F238E27FC236}">
                  <a16:creationId xmlns:a16="http://schemas.microsoft.com/office/drawing/2014/main" id="{3942684B-D4F2-1B2D-25FC-E5157EE1876D}"/>
                </a:ext>
              </a:extLst>
            </p:cNvPr>
            <p:cNvSpPr txBox="1"/>
            <p:nvPr/>
          </p:nvSpPr>
          <p:spPr>
            <a:xfrm>
              <a:off x="11496358" y="6375400"/>
              <a:ext cx="553686" cy="331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pic>
          <p:nvPicPr>
            <p:cNvPr id="2093" name="Picture 2092" descr="Contact - UIU - Department of Biotechnology and Genetic Engineering">
              <a:extLst>
                <a:ext uri="{FF2B5EF4-FFF2-40B4-BE49-F238E27FC236}">
                  <a16:creationId xmlns:a16="http://schemas.microsoft.com/office/drawing/2014/main" id="{CB682908-2326-8302-2C87-EE9B75FAB1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249" y="5996305"/>
              <a:ext cx="785351" cy="78535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94" name="Group 2093">
              <a:extLst>
                <a:ext uri="{FF2B5EF4-FFF2-40B4-BE49-F238E27FC236}">
                  <a16:creationId xmlns:a16="http://schemas.microsoft.com/office/drawing/2014/main" id="{61355578-0192-C4F5-FF6F-FB0AA8FCC705}"/>
                </a:ext>
              </a:extLst>
            </p:cNvPr>
            <p:cNvGrpSpPr/>
            <p:nvPr/>
          </p:nvGrpSpPr>
          <p:grpSpPr>
            <a:xfrm>
              <a:off x="7035949" y="6066113"/>
              <a:ext cx="3585257" cy="688015"/>
              <a:chOff x="587123" y="6036446"/>
              <a:chExt cx="3585257" cy="688015"/>
            </a:xfrm>
          </p:grpSpPr>
          <p:sp>
            <p:nvSpPr>
              <p:cNvPr id="2096" name="Freeform 4">
                <a:extLst>
                  <a:ext uri="{FF2B5EF4-FFF2-40B4-BE49-F238E27FC236}">
                    <a16:creationId xmlns:a16="http://schemas.microsoft.com/office/drawing/2014/main" id="{A282F5EA-8FD6-C1BB-5783-4BEB73DF8365}"/>
                  </a:ext>
                </a:extLst>
              </p:cNvPr>
              <p:cNvSpPr/>
              <p:nvPr/>
            </p:nvSpPr>
            <p:spPr>
              <a:xfrm rot="5400000">
                <a:off x="2095934" y="4608678"/>
                <a:ext cx="648677" cy="350421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endParaRPr lang="en-US" sz="1200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097" name="Picture 2096" descr="A person with a beard&#10;&#10;AI-generated content may be incorrect.">
                <a:extLst>
                  <a:ext uri="{FF2B5EF4-FFF2-40B4-BE49-F238E27FC236}">
                    <a16:creationId xmlns:a16="http://schemas.microsoft.com/office/drawing/2014/main" id="{F0622878-9F2B-B537-BD48-606AE1C754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07" r="1520" b="6667"/>
              <a:stretch>
                <a:fillRect/>
              </a:stretch>
            </p:blipFill>
            <p:spPr>
              <a:xfrm>
                <a:off x="587123" y="6048137"/>
                <a:ext cx="632436" cy="636986"/>
              </a:xfrm>
              <a:prstGeom prst="roundRect">
                <a:avLst/>
              </a:prstGeom>
            </p:spPr>
          </p:pic>
          <p:sp>
            <p:nvSpPr>
              <p:cNvPr id="2098" name="TextBox 2097">
                <a:extLst>
                  <a:ext uri="{FF2B5EF4-FFF2-40B4-BE49-F238E27FC236}">
                    <a16:creationId xmlns:a16="http://schemas.microsoft.com/office/drawing/2014/main" id="{DD419163-A2B5-6B50-60C2-11C06A62C542}"/>
                  </a:ext>
                </a:extLst>
              </p:cNvPr>
              <p:cNvSpPr txBox="1"/>
              <p:nvPr/>
            </p:nvSpPr>
            <p:spPr>
              <a:xfrm>
                <a:off x="1060106" y="6099175"/>
                <a:ext cx="2801376" cy="62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Azad Hossain </a:t>
                </a:r>
                <a:r>
                  <a:rPr lang="en-US" sz="14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Saykat</a:t>
                </a:r>
                <a:endParaRPr lang="en-US" sz="1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021 221 017</a:t>
                </a:r>
              </a:p>
            </p:txBody>
          </p:sp>
        </p:grpSp>
        <p:sp>
          <p:nvSpPr>
            <p:cNvPr id="2095" name="Rectangle: Rounded Corners 2094">
              <a:extLst>
                <a:ext uri="{FF2B5EF4-FFF2-40B4-BE49-F238E27FC236}">
                  <a16:creationId xmlns:a16="http://schemas.microsoft.com/office/drawing/2014/main" id="{099323DE-17D1-7DAE-8714-04DA8844B3E7}"/>
                </a:ext>
              </a:extLst>
            </p:cNvPr>
            <p:cNvSpPr/>
            <p:nvPr/>
          </p:nvSpPr>
          <p:spPr>
            <a:xfrm>
              <a:off x="11509075" y="6063172"/>
              <a:ext cx="540969" cy="6516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07</a:t>
              </a:r>
            </a:p>
          </p:txBody>
        </p:sp>
      </p:grpSp>
      <p:pic>
        <p:nvPicPr>
          <p:cNvPr id="2138" name="Picture 2137">
            <a:extLst>
              <a:ext uri="{FF2B5EF4-FFF2-40B4-BE49-F238E27FC236}">
                <a16:creationId xmlns:a16="http://schemas.microsoft.com/office/drawing/2014/main" id="{ECD1755C-2B45-2550-3F9D-822688C4D3B7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"/>
              </a:ext>
            </a:extLst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1191" y="1396206"/>
            <a:ext cx="11792187" cy="410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39" name="AutoShape 16">
            <a:extLst>
              <a:ext uri="{FF2B5EF4-FFF2-40B4-BE49-F238E27FC236}">
                <a16:creationId xmlns:a16="http://schemas.microsoft.com/office/drawing/2014/main" id="{1B2C5131-DEAD-BF53-4559-E82D0B89499C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9550218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95905-FDF9-D2DD-15DD-35D86E840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4D1CB0-4123-0DF3-6DEC-59FFEBE7C3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65D4107-4C2E-1966-AB88-D48FD1ED3938}"/>
              </a:ext>
            </a:extLst>
          </p:cNvPr>
          <p:cNvSpPr txBox="1"/>
          <p:nvPr/>
        </p:nvSpPr>
        <p:spPr>
          <a:xfrm>
            <a:off x="685098" y="384548"/>
            <a:ext cx="7338761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Proposed Improvements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3BF67D1C-DA1F-E7AE-BD01-83EADA72D637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E9599C-988B-24C5-F83A-62E3E7B69F1F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grpSp>
        <p:nvGrpSpPr>
          <p:cNvPr id="2090" name="Group 2089">
            <a:extLst>
              <a:ext uri="{FF2B5EF4-FFF2-40B4-BE49-F238E27FC236}">
                <a16:creationId xmlns:a16="http://schemas.microsoft.com/office/drawing/2014/main" id="{9B6C9203-5E66-D693-260C-0B7620F3B3BA}"/>
              </a:ext>
            </a:extLst>
          </p:cNvPr>
          <p:cNvGrpSpPr/>
          <p:nvPr/>
        </p:nvGrpSpPr>
        <p:grpSpPr>
          <a:xfrm>
            <a:off x="7102639" y="6086324"/>
            <a:ext cx="4879162" cy="657158"/>
            <a:chOff x="7035949" y="5996305"/>
            <a:chExt cx="5014095" cy="785351"/>
          </a:xfrm>
        </p:grpSpPr>
        <p:sp>
          <p:nvSpPr>
            <p:cNvPr id="2092" name="TextBox 2091">
              <a:extLst>
                <a:ext uri="{FF2B5EF4-FFF2-40B4-BE49-F238E27FC236}">
                  <a16:creationId xmlns:a16="http://schemas.microsoft.com/office/drawing/2014/main" id="{D804A66A-CFB1-2B40-D56E-11F9B332F221}"/>
                </a:ext>
              </a:extLst>
            </p:cNvPr>
            <p:cNvSpPr txBox="1"/>
            <p:nvPr/>
          </p:nvSpPr>
          <p:spPr>
            <a:xfrm>
              <a:off x="11496358" y="6375400"/>
              <a:ext cx="553686" cy="331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pic>
          <p:nvPicPr>
            <p:cNvPr id="2093" name="Picture 2092" descr="Contact - UIU - Department of Biotechnology and Genetic Engineering">
              <a:extLst>
                <a:ext uri="{FF2B5EF4-FFF2-40B4-BE49-F238E27FC236}">
                  <a16:creationId xmlns:a16="http://schemas.microsoft.com/office/drawing/2014/main" id="{EA920B73-3F89-5FDF-D3B0-704B3EF324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249" y="5996305"/>
              <a:ext cx="785351" cy="78535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94" name="Group 2093">
              <a:extLst>
                <a:ext uri="{FF2B5EF4-FFF2-40B4-BE49-F238E27FC236}">
                  <a16:creationId xmlns:a16="http://schemas.microsoft.com/office/drawing/2014/main" id="{9BF1D625-8E44-D559-D40F-EEB5688DF6CF}"/>
                </a:ext>
              </a:extLst>
            </p:cNvPr>
            <p:cNvGrpSpPr/>
            <p:nvPr/>
          </p:nvGrpSpPr>
          <p:grpSpPr>
            <a:xfrm>
              <a:off x="7035949" y="6066113"/>
              <a:ext cx="3585257" cy="688015"/>
              <a:chOff x="587123" y="6036446"/>
              <a:chExt cx="3585257" cy="688015"/>
            </a:xfrm>
          </p:grpSpPr>
          <p:sp>
            <p:nvSpPr>
              <p:cNvPr id="2096" name="Freeform 4">
                <a:extLst>
                  <a:ext uri="{FF2B5EF4-FFF2-40B4-BE49-F238E27FC236}">
                    <a16:creationId xmlns:a16="http://schemas.microsoft.com/office/drawing/2014/main" id="{DBD7105E-98DD-1ADD-8E82-D6423F43D41F}"/>
                  </a:ext>
                </a:extLst>
              </p:cNvPr>
              <p:cNvSpPr/>
              <p:nvPr/>
            </p:nvSpPr>
            <p:spPr>
              <a:xfrm rot="5400000">
                <a:off x="2095934" y="4608678"/>
                <a:ext cx="648677" cy="350421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endParaRPr lang="en-US" sz="1200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097" name="Picture 2096" descr="A person with a beard&#10;&#10;AI-generated content may be incorrect.">
                <a:extLst>
                  <a:ext uri="{FF2B5EF4-FFF2-40B4-BE49-F238E27FC236}">
                    <a16:creationId xmlns:a16="http://schemas.microsoft.com/office/drawing/2014/main" id="{24216E09-63D9-24B8-8795-54E28AE376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07" r="1520" b="6667"/>
              <a:stretch>
                <a:fillRect/>
              </a:stretch>
            </p:blipFill>
            <p:spPr>
              <a:xfrm>
                <a:off x="587123" y="6048137"/>
                <a:ext cx="632436" cy="636986"/>
              </a:xfrm>
              <a:prstGeom prst="roundRect">
                <a:avLst/>
              </a:prstGeom>
            </p:spPr>
          </p:pic>
          <p:sp>
            <p:nvSpPr>
              <p:cNvPr id="2098" name="TextBox 2097">
                <a:extLst>
                  <a:ext uri="{FF2B5EF4-FFF2-40B4-BE49-F238E27FC236}">
                    <a16:creationId xmlns:a16="http://schemas.microsoft.com/office/drawing/2014/main" id="{464235CC-984E-7C72-6C4B-45E4CFF926DA}"/>
                  </a:ext>
                </a:extLst>
              </p:cNvPr>
              <p:cNvSpPr txBox="1"/>
              <p:nvPr/>
            </p:nvSpPr>
            <p:spPr>
              <a:xfrm>
                <a:off x="1060106" y="6099175"/>
                <a:ext cx="2801376" cy="62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Azad Hossain </a:t>
                </a:r>
                <a:r>
                  <a:rPr lang="en-US" sz="14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Saykat</a:t>
                </a:r>
                <a:endParaRPr lang="en-US" sz="1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021 221 017</a:t>
                </a:r>
              </a:p>
            </p:txBody>
          </p:sp>
        </p:grpSp>
        <p:sp>
          <p:nvSpPr>
            <p:cNvPr id="2095" name="Rectangle: Rounded Corners 2094">
              <a:extLst>
                <a:ext uri="{FF2B5EF4-FFF2-40B4-BE49-F238E27FC236}">
                  <a16:creationId xmlns:a16="http://schemas.microsoft.com/office/drawing/2014/main" id="{644EDD12-C25D-ACF8-8071-125C8E6745B8}"/>
                </a:ext>
              </a:extLst>
            </p:cNvPr>
            <p:cNvSpPr/>
            <p:nvPr/>
          </p:nvSpPr>
          <p:spPr>
            <a:xfrm>
              <a:off x="11509075" y="6063172"/>
              <a:ext cx="540969" cy="6516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08</a:t>
              </a:r>
            </a:p>
          </p:txBody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B146948-E146-3F7F-C6EA-FDFCEFE30A4D}"/>
              </a:ext>
            </a:extLst>
          </p:cNvPr>
          <p:cNvSpPr/>
          <p:nvPr/>
        </p:nvSpPr>
        <p:spPr>
          <a:xfrm>
            <a:off x="845818" y="1227948"/>
            <a:ext cx="10500360" cy="1081229"/>
          </a:xfrm>
          <a:prstGeom prst="roundRect">
            <a:avLst>
              <a:gd name="adj" fmla="val 395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26C66D8-A3C9-586B-1FCA-D5108CD9DD8B}"/>
              </a:ext>
            </a:extLst>
          </p:cNvPr>
          <p:cNvSpPr/>
          <p:nvPr/>
        </p:nvSpPr>
        <p:spPr>
          <a:xfrm>
            <a:off x="845818" y="2483917"/>
            <a:ext cx="10500360" cy="1142556"/>
          </a:xfrm>
          <a:prstGeom prst="roundRect">
            <a:avLst>
              <a:gd name="adj" fmla="val 4381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CMOS Technology Scaling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45nm CMOS advances for integrated system-level design to achieve target 45mW power consumption.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3A9262D-4B28-C113-9372-5CFBD751B1A1}"/>
              </a:ext>
            </a:extLst>
          </p:cNvPr>
          <p:cNvSpPr/>
          <p:nvPr/>
        </p:nvSpPr>
        <p:spPr>
          <a:xfrm>
            <a:off x="845820" y="3801213"/>
            <a:ext cx="10500360" cy="1129665"/>
          </a:xfrm>
          <a:prstGeom prst="roundRect">
            <a:avLst>
              <a:gd name="adj" fmla="val 4129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6406D9D-BD49-B049-2191-CC3F39550848}"/>
              </a:ext>
            </a:extLst>
          </p:cNvPr>
          <p:cNvSpPr/>
          <p:nvPr/>
        </p:nvSpPr>
        <p:spPr>
          <a:xfrm>
            <a:off x="864354" y="5074494"/>
            <a:ext cx="10500360" cy="978913"/>
          </a:xfrm>
          <a:prstGeom prst="roundRect">
            <a:avLst>
              <a:gd name="adj" fmla="val 4799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8A2E83-F854-ECDF-D5A7-2F0D1B8B194C}"/>
              </a:ext>
            </a:extLst>
          </p:cNvPr>
          <p:cNvSpPr txBox="1"/>
          <p:nvPr/>
        </p:nvSpPr>
        <p:spPr>
          <a:xfrm>
            <a:off x="1397232" y="1311026"/>
            <a:ext cx="9575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2.45 GHz LNA Optimization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systematic S-parameter methodology for achieving 15-20 dB gain with &lt; 3 dB noise figure at 1.2V supply.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60DDEB-244E-1018-5672-9467164BCE8D}"/>
              </a:ext>
            </a:extLst>
          </p:cNvPr>
          <p:cNvSpPr txBox="1"/>
          <p:nvPr/>
        </p:nvSpPr>
        <p:spPr>
          <a:xfrm>
            <a:off x="1397232" y="2570053"/>
            <a:ext cx="9575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CMOS Technology Scaling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45nm CMOS advances for integrated system-level design to achieve target &lt;10mW power consumption.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AFD538-5798-5C17-49C4-EB620E798816}"/>
              </a:ext>
            </a:extLst>
          </p:cNvPr>
          <p:cNvSpPr txBox="1"/>
          <p:nvPr/>
        </p:nvSpPr>
        <p:spPr>
          <a:xfrm>
            <a:off x="1393851" y="3855262"/>
            <a:ext cx="96466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Integrated BPF Design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bandpass filtering for 2.45 GHz range with precise 20-100 MHz passband control.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180620-792E-20B2-CFA4-B1B5D2E7DE84}"/>
              </a:ext>
            </a:extLst>
          </p:cNvPr>
          <p:cNvSpPr txBox="1"/>
          <p:nvPr/>
        </p:nvSpPr>
        <p:spPr>
          <a:xfrm>
            <a:off x="1393851" y="5226299"/>
            <a:ext cx="9255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System-Level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total RF receiver system integration for 2.45 GHz applications.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13339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9EFDD-05B6-DDCB-AA9E-A3C3E92E1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1F5671-1A6E-ECCD-6BDD-421D83FA9597}"/>
              </a:ext>
            </a:extLst>
          </p:cNvPr>
          <p:cNvSpPr/>
          <p:nvPr/>
        </p:nvSpPr>
        <p:spPr>
          <a:xfrm>
            <a:off x="0" y="-3444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C45778C-6F10-CA17-8EB5-6870C184B0F6}"/>
              </a:ext>
            </a:extLst>
          </p:cNvPr>
          <p:cNvSpPr txBox="1"/>
          <p:nvPr/>
        </p:nvSpPr>
        <p:spPr>
          <a:xfrm>
            <a:off x="685098" y="384548"/>
            <a:ext cx="7338761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Block Specification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85682D-5F64-02E9-1BE5-E9E38174B970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grpSp>
        <p:nvGrpSpPr>
          <p:cNvPr id="2090" name="Group 2089">
            <a:extLst>
              <a:ext uri="{FF2B5EF4-FFF2-40B4-BE49-F238E27FC236}">
                <a16:creationId xmlns:a16="http://schemas.microsoft.com/office/drawing/2014/main" id="{FD0CC598-8F25-E508-FDAB-750E1FBF102B}"/>
              </a:ext>
            </a:extLst>
          </p:cNvPr>
          <p:cNvGrpSpPr/>
          <p:nvPr/>
        </p:nvGrpSpPr>
        <p:grpSpPr>
          <a:xfrm>
            <a:off x="7123633" y="6197398"/>
            <a:ext cx="4879162" cy="657158"/>
            <a:chOff x="7035949" y="5996305"/>
            <a:chExt cx="5014095" cy="785351"/>
          </a:xfrm>
        </p:grpSpPr>
        <p:sp>
          <p:nvSpPr>
            <p:cNvPr id="2092" name="TextBox 2091">
              <a:extLst>
                <a:ext uri="{FF2B5EF4-FFF2-40B4-BE49-F238E27FC236}">
                  <a16:creationId xmlns:a16="http://schemas.microsoft.com/office/drawing/2014/main" id="{537E3DF0-974E-C70D-08B0-B6ED0B4A7A7D}"/>
                </a:ext>
              </a:extLst>
            </p:cNvPr>
            <p:cNvSpPr txBox="1"/>
            <p:nvPr/>
          </p:nvSpPr>
          <p:spPr>
            <a:xfrm>
              <a:off x="11496358" y="6375400"/>
              <a:ext cx="553686" cy="331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pic>
          <p:nvPicPr>
            <p:cNvPr id="2093" name="Picture 2092" descr="Contact - UIU - Department of Biotechnology and Genetic Engineering">
              <a:extLst>
                <a:ext uri="{FF2B5EF4-FFF2-40B4-BE49-F238E27FC236}">
                  <a16:creationId xmlns:a16="http://schemas.microsoft.com/office/drawing/2014/main" id="{91FB7165-7909-5C1D-8DE7-0D426E9E9A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249" y="5996305"/>
              <a:ext cx="785351" cy="78535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94" name="Group 2093">
              <a:extLst>
                <a:ext uri="{FF2B5EF4-FFF2-40B4-BE49-F238E27FC236}">
                  <a16:creationId xmlns:a16="http://schemas.microsoft.com/office/drawing/2014/main" id="{1C5BBB46-C568-0E92-B85E-279AA17C49B9}"/>
                </a:ext>
              </a:extLst>
            </p:cNvPr>
            <p:cNvGrpSpPr/>
            <p:nvPr/>
          </p:nvGrpSpPr>
          <p:grpSpPr>
            <a:xfrm>
              <a:off x="7035949" y="6066113"/>
              <a:ext cx="3585257" cy="688015"/>
              <a:chOff x="587123" y="6036446"/>
              <a:chExt cx="3585257" cy="688015"/>
            </a:xfrm>
          </p:grpSpPr>
          <p:sp>
            <p:nvSpPr>
              <p:cNvPr id="2096" name="Freeform 4">
                <a:extLst>
                  <a:ext uri="{FF2B5EF4-FFF2-40B4-BE49-F238E27FC236}">
                    <a16:creationId xmlns:a16="http://schemas.microsoft.com/office/drawing/2014/main" id="{460C2751-C98B-C202-AF92-11D0EF8DFF33}"/>
                  </a:ext>
                </a:extLst>
              </p:cNvPr>
              <p:cNvSpPr/>
              <p:nvPr/>
            </p:nvSpPr>
            <p:spPr>
              <a:xfrm rot="5400000">
                <a:off x="2095934" y="4608678"/>
                <a:ext cx="648677" cy="350421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endParaRPr lang="en-US" sz="1200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097" name="Picture 2096" descr="A person with a beard&#10;&#10;AI-generated content may be incorrect.">
                <a:extLst>
                  <a:ext uri="{FF2B5EF4-FFF2-40B4-BE49-F238E27FC236}">
                    <a16:creationId xmlns:a16="http://schemas.microsoft.com/office/drawing/2014/main" id="{05AC0CF9-9EDE-D93A-84E2-CD8FED96EB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07" r="1520" b="6667"/>
              <a:stretch>
                <a:fillRect/>
              </a:stretch>
            </p:blipFill>
            <p:spPr>
              <a:xfrm>
                <a:off x="587123" y="6048137"/>
                <a:ext cx="632436" cy="636986"/>
              </a:xfrm>
              <a:prstGeom prst="roundRect">
                <a:avLst/>
              </a:prstGeom>
            </p:spPr>
          </p:pic>
          <p:sp>
            <p:nvSpPr>
              <p:cNvPr id="2098" name="TextBox 2097">
                <a:extLst>
                  <a:ext uri="{FF2B5EF4-FFF2-40B4-BE49-F238E27FC236}">
                    <a16:creationId xmlns:a16="http://schemas.microsoft.com/office/drawing/2014/main" id="{A3C04419-F4D0-C919-1FDA-B70040D72D64}"/>
                  </a:ext>
                </a:extLst>
              </p:cNvPr>
              <p:cNvSpPr txBox="1"/>
              <p:nvPr/>
            </p:nvSpPr>
            <p:spPr>
              <a:xfrm>
                <a:off x="1060106" y="6099175"/>
                <a:ext cx="2801376" cy="62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Azad Hossain </a:t>
                </a:r>
                <a:r>
                  <a:rPr lang="en-US" sz="14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Saykat</a:t>
                </a:r>
                <a:endParaRPr lang="en-US" sz="1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021 221 017</a:t>
                </a:r>
              </a:p>
            </p:txBody>
          </p:sp>
        </p:grpSp>
        <p:sp>
          <p:nvSpPr>
            <p:cNvPr id="2095" name="Rectangle: Rounded Corners 2094">
              <a:extLst>
                <a:ext uri="{FF2B5EF4-FFF2-40B4-BE49-F238E27FC236}">
                  <a16:creationId xmlns:a16="http://schemas.microsoft.com/office/drawing/2014/main" id="{5403115F-3791-A6B3-2762-3FCAFC81B480}"/>
                </a:ext>
              </a:extLst>
            </p:cNvPr>
            <p:cNvSpPr/>
            <p:nvPr/>
          </p:nvSpPr>
          <p:spPr>
            <a:xfrm>
              <a:off x="11509075" y="6063172"/>
              <a:ext cx="540969" cy="6516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09</a:t>
              </a: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8FA51B-94C2-25AC-4D36-B7053B13F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451368"/>
              </p:ext>
            </p:extLst>
          </p:nvPr>
        </p:nvGraphicFramePr>
        <p:xfrm>
          <a:off x="1510749" y="4258092"/>
          <a:ext cx="4278581" cy="2085495"/>
        </p:xfrm>
        <a:graphic>
          <a:graphicData uri="http://schemas.openxmlformats.org/drawingml/2006/table">
            <a:tbl>
              <a:tblPr/>
              <a:tblGrid>
                <a:gridCol w="2305557">
                  <a:extLst>
                    <a:ext uri="{9D8B030D-6E8A-4147-A177-3AD203B41FA5}">
                      <a16:colId xmlns:a16="http://schemas.microsoft.com/office/drawing/2014/main" val="3469793420"/>
                    </a:ext>
                  </a:extLst>
                </a:gridCol>
                <a:gridCol w="1973024">
                  <a:extLst>
                    <a:ext uri="{9D8B030D-6E8A-4147-A177-3AD203B41FA5}">
                      <a16:colId xmlns:a16="http://schemas.microsoft.com/office/drawing/2014/main" val="645947232"/>
                    </a:ext>
                  </a:extLst>
                </a:gridCol>
              </a:tblGrid>
              <a:tr h="21320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Band Pass Filter (BPF) Specification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35182"/>
                  </a:ext>
                </a:extLst>
              </a:tr>
              <a:tr h="290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066158"/>
                  </a:ext>
                </a:extLst>
              </a:tr>
              <a:tr h="3070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 Voltage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 V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795178"/>
                  </a:ext>
                </a:extLst>
              </a:tr>
              <a:tr h="3070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Passband Width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MHz to 100 MHz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177823"/>
                  </a:ext>
                </a:extLst>
              </a:tr>
              <a:tr h="282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 Frequency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2.45 GHz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834780"/>
                  </a:ext>
                </a:extLst>
              </a:tr>
              <a:tr h="3150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Upper Cutoff Frequency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2.45 GHz + 10 MHz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02747"/>
                  </a:ext>
                </a:extLst>
              </a:tr>
              <a:tr h="331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Cutoff Frequency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2.45 GHz - 10 MHz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46975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3788C1-1973-DADC-F221-7E2451659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893250"/>
              </p:ext>
            </p:extLst>
          </p:nvPr>
        </p:nvGraphicFramePr>
        <p:xfrm>
          <a:off x="1516945" y="1203059"/>
          <a:ext cx="4242657" cy="2738870"/>
        </p:xfrm>
        <a:graphic>
          <a:graphicData uri="http://schemas.openxmlformats.org/drawingml/2006/table">
            <a:tbl>
              <a:tblPr/>
              <a:tblGrid>
                <a:gridCol w="2482406">
                  <a:extLst>
                    <a:ext uri="{9D8B030D-6E8A-4147-A177-3AD203B41FA5}">
                      <a16:colId xmlns:a16="http://schemas.microsoft.com/office/drawing/2014/main" val="661934753"/>
                    </a:ext>
                  </a:extLst>
                </a:gridCol>
                <a:gridCol w="1760251">
                  <a:extLst>
                    <a:ext uri="{9D8B030D-6E8A-4147-A177-3AD203B41FA5}">
                      <a16:colId xmlns:a16="http://schemas.microsoft.com/office/drawing/2014/main" val="3600562541"/>
                    </a:ext>
                  </a:extLst>
                </a:gridCol>
              </a:tblGrid>
              <a:tr h="318031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Noise Amplifier (LNA) Specification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371905"/>
                  </a:ext>
                </a:extLst>
              </a:tr>
              <a:tr h="2186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860609"/>
                  </a:ext>
                </a:extLst>
              </a:tr>
              <a:tr h="2716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 Voltage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 V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885050"/>
                  </a:ext>
                </a:extLst>
              </a:tr>
              <a:tr h="2716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Consumption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&lt;2mW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833493"/>
                  </a:ext>
                </a:extLst>
              </a:tr>
              <a:tr h="330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 (50 </a:t>
                      </a: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3dB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893943"/>
                  </a:ext>
                </a:extLst>
              </a:tr>
              <a:tr h="2822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15 - 20 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409124"/>
                  </a:ext>
                </a:extLst>
              </a:tr>
              <a:tr h="2589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459089"/>
                  </a:ext>
                </a:extLst>
              </a:tr>
              <a:tr h="2385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4619"/>
                  </a:ext>
                </a:extLst>
              </a:tr>
              <a:tr h="2385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– 20 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677019"/>
                  </a:ext>
                </a:extLst>
              </a:tr>
              <a:tr h="2385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-25dB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53299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33FE41-0C50-9E50-A174-0C2F2EFF9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22170"/>
              </p:ext>
            </p:extLst>
          </p:nvPr>
        </p:nvGraphicFramePr>
        <p:xfrm>
          <a:off x="7431341" y="4123785"/>
          <a:ext cx="4278581" cy="2084556"/>
        </p:xfrm>
        <a:graphic>
          <a:graphicData uri="http://schemas.openxmlformats.org/drawingml/2006/table">
            <a:tbl>
              <a:tblPr/>
              <a:tblGrid>
                <a:gridCol w="2305557">
                  <a:extLst>
                    <a:ext uri="{9D8B030D-6E8A-4147-A177-3AD203B41FA5}">
                      <a16:colId xmlns:a16="http://schemas.microsoft.com/office/drawing/2014/main" val="766919429"/>
                    </a:ext>
                  </a:extLst>
                </a:gridCol>
                <a:gridCol w="1973024">
                  <a:extLst>
                    <a:ext uri="{9D8B030D-6E8A-4147-A177-3AD203B41FA5}">
                      <a16:colId xmlns:a16="http://schemas.microsoft.com/office/drawing/2014/main" val="3186396304"/>
                    </a:ext>
                  </a:extLst>
                </a:gridCol>
              </a:tblGrid>
              <a:tr h="20750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Mixer Specification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411423"/>
                  </a:ext>
                </a:extLst>
              </a:tr>
              <a:tr h="3055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Parameter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9851"/>
                  </a:ext>
                </a:extLst>
              </a:tr>
              <a:tr h="3055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 voltage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 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141062"/>
                  </a:ext>
                </a:extLst>
              </a:tr>
              <a:tr h="3055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Consumption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&lt;2.5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mW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025209"/>
                  </a:ext>
                </a:extLst>
              </a:tr>
              <a:tr h="3055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frequency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2.45 GHz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416113"/>
                  </a:ext>
                </a:extLst>
              </a:tr>
              <a:tr h="3055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 Frequency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2.43GHz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996193"/>
                  </a:ext>
                </a:extLst>
              </a:tr>
              <a:tr h="3055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Conversion Gain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&gt;10 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003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02B459-BAD4-2435-7CFD-3E7C2D273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861947"/>
              </p:ext>
            </p:extLst>
          </p:nvPr>
        </p:nvGraphicFramePr>
        <p:xfrm>
          <a:off x="7386491" y="1149252"/>
          <a:ext cx="4266511" cy="2169663"/>
        </p:xfrm>
        <a:graphic>
          <a:graphicData uri="http://schemas.openxmlformats.org/drawingml/2006/table">
            <a:tbl>
              <a:tblPr/>
              <a:tblGrid>
                <a:gridCol w="2376572">
                  <a:extLst>
                    <a:ext uri="{9D8B030D-6E8A-4147-A177-3AD203B41FA5}">
                      <a16:colId xmlns:a16="http://schemas.microsoft.com/office/drawing/2014/main" val="3999260382"/>
                    </a:ext>
                  </a:extLst>
                </a:gridCol>
                <a:gridCol w="1889939">
                  <a:extLst>
                    <a:ext uri="{9D8B030D-6E8A-4147-A177-3AD203B41FA5}">
                      <a16:colId xmlns:a16="http://schemas.microsoft.com/office/drawing/2014/main" val="770712936"/>
                    </a:ext>
                  </a:extLst>
                </a:gridCol>
              </a:tblGrid>
              <a:tr h="271871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Pass Filter (LPF) Specification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879116"/>
                  </a:ext>
                </a:extLst>
              </a:tr>
              <a:tr h="2643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678186"/>
                  </a:ext>
                </a:extLst>
              </a:tr>
              <a:tr h="2643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Passband Frequency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MHz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00873"/>
                  </a:ext>
                </a:extLst>
              </a:tr>
              <a:tr h="2416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Stopband Frequency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MHz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475174"/>
                  </a:ext>
                </a:extLst>
              </a:tr>
              <a:tr h="256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Stopband Attenuation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40 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867362"/>
                  </a:ext>
                </a:extLst>
              </a:tr>
              <a:tr h="286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Bandwidth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MHz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104180"/>
                  </a:ext>
                </a:extLst>
              </a:tr>
              <a:tr h="286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Passband Ripple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710001"/>
                  </a:ext>
                </a:extLst>
              </a:tr>
              <a:tr h="2869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Impedance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ohm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967749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9E0B8F-6E6B-82F0-1505-4001D048DA04}"/>
              </a:ext>
            </a:extLst>
          </p:cNvPr>
          <p:cNvSpPr/>
          <p:nvPr/>
        </p:nvSpPr>
        <p:spPr>
          <a:xfrm>
            <a:off x="668167" y="1203357"/>
            <a:ext cx="571353" cy="511335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0E4CA0-00F9-EFB6-39E2-6CA53C9EAD15}"/>
              </a:ext>
            </a:extLst>
          </p:cNvPr>
          <p:cNvSpPr/>
          <p:nvPr/>
        </p:nvSpPr>
        <p:spPr>
          <a:xfrm>
            <a:off x="668165" y="4272806"/>
            <a:ext cx="571353" cy="511335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DEE213-1CB2-D3AD-F6AE-7FC70D749DED}"/>
              </a:ext>
            </a:extLst>
          </p:cNvPr>
          <p:cNvSpPr/>
          <p:nvPr/>
        </p:nvSpPr>
        <p:spPr>
          <a:xfrm>
            <a:off x="6664960" y="1203357"/>
            <a:ext cx="523471" cy="511335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C9DF0F-EA76-1CB5-384F-EDFDCDAE92ED}"/>
              </a:ext>
            </a:extLst>
          </p:cNvPr>
          <p:cNvSpPr/>
          <p:nvPr/>
        </p:nvSpPr>
        <p:spPr>
          <a:xfrm>
            <a:off x="6664960" y="4272806"/>
            <a:ext cx="537534" cy="511335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" name="AutoShape 16">
            <a:extLst>
              <a:ext uri="{FF2B5EF4-FFF2-40B4-BE49-F238E27FC236}">
                <a16:creationId xmlns:a16="http://schemas.microsoft.com/office/drawing/2014/main" id="{FCBF37C1-5BA6-EF44-F7FC-93A2C14C8B74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93176978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14180-4565-0A6A-2544-F146E1BE6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E98217-00BE-2ECA-E0A9-302314378F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7BC899F-66CA-E681-8B65-E00DB8FBCFE1}"/>
              </a:ext>
            </a:extLst>
          </p:cNvPr>
          <p:cNvSpPr/>
          <p:nvPr/>
        </p:nvSpPr>
        <p:spPr>
          <a:xfrm>
            <a:off x="7181501" y="3323666"/>
            <a:ext cx="4591134" cy="619431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2E14D30-3AAF-39D3-D6D2-3091F7D24D0B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Poppins" panose="00000500000000000000" pitchFamily="2" charset="0"/>
                <a:ea typeface="League Spartan"/>
                <a:cs typeface="Poppins" panose="00000500000000000000" pitchFamily="2" charset="0"/>
                <a:sym typeface="League Spartan"/>
              </a:rPr>
              <a:t>Passive Low Pass Filter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2588E2F0-C494-CF61-8B93-0DFDB0800D6E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0D4F6685-4337-9D2A-6AE5-3A81482C9B66}"/>
              </a:ext>
            </a:extLst>
          </p:cNvPr>
          <p:cNvSpPr txBox="1">
            <a:spLocks/>
          </p:cNvSpPr>
          <p:nvPr/>
        </p:nvSpPr>
        <p:spPr>
          <a:xfrm>
            <a:off x="597765" y="1185968"/>
            <a:ext cx="9152992" cy="7315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Theoretical Background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05F7987-2BAA-CA55-FAA4-44336A652CC1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DCEFBF4-F625-AE24-D891-6248307E44B4}"/>
              </a:ext>
            </a:extLst>
          </p:cNvPr>
          <p:cNvGrpSpPr/>
          <p:nvPr/>
        </p:nvGrpSpPr>
        <p:grpSpPr>
          <a:xfrm>
            <a:off x="685099" y="1958051"/>
            <a:ext cx="2856587" cy="627572"/>
            <a:chOff x="-160020" y="0"/>
            <a:chExt cx="3097530" cy="77724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D26706-5CA1-FE30-C99C-AE9252C13000}"/>
                </a:ext>
              </a:extLst>
            </p:cNvPr>
            <p:cNvSpPr/>
            <p:nvPr/>
          </p:nvSpPr>
          <p:spPr>
            <a:xfrm>
              <a:off x="742950" y="0"/>
              <a:ext cx="1291590" cy="77724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en-US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LPF</a:t>
              </a:r>
              <a:endPara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CA07C3C-4126-584C-497B-75964FD4B33C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-160020" y="388620"/>
              <a:ext cx="902970" cy="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4820FEB-4A2B-2662-32C4-567D00C82528}"/>
                </a:ext>
              </a:extLst>
            </p:cNvPr>
            <p:cNvCxnSpPr>
              <a:cxnSpLocks/>
            </p:cNvCxnSpPr>
            <p:nvPr/>
          </p:nvCxnSpPr>
          <p:spPr>
            <a:xfrm>
              <a:off x="2034540" y="392430"/>
              <a:ext cx="902970" cy="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99">
              <a:extLst>
                <a:ext uri="{FF2B5EF4-FFF2-40B4-BE49-F238E27FC236}">
                  <a16:creationId xmlns:a16="http://schemas.microsoft.com/office/drawing/2014/main" id="{320C5AD3-992A-8143-A78C-79035EA5E7E6}"/>
                </a:ext>
              </a:extLst>
            </p:cNvPr>
            <p:cNvSpPr txBox="1"/>
            <p:nvPr/>
          </p:nvSpPr>
          <p:spPr>
            <a:xfrm>
              <a:off x="0" y="0"/>
              <a:ext cx="594360" cy="45741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in</a:t>
              </a:r>
            </a:p>
          </p:txBody>
        </p:sp>
        <p:sp>
          <p:nvSpPr>
            <p:cNvPr id="15" name="TextBox 100">
              <a:extLst>
                <a:ext uri="{FF2B5EF4-FFF2-40B4-BE49-F238E27FC236}">
                  <a16:creationId xmlns:a16="http://schemas.microsoft.com/office/drawing/2014/main" id="{39586892-F7AE-DB3C-0CDE-1F1A43254ADB}"/>
                </a:ext>
              </a:extLst>
            </p:cNvPr>
            <p:cNvSpPr txBox="1"/>
            <p:nvPr/>
          </p:nvSpPr>
          <p:spPr>
            <a:xfrm>
              <a:off x="2205990" y="30837"/>
              <a:ext cx="594360" cy="45741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B43C051-EE36-2C70-050E-52E3971DF1FB}"/>
              </a:ext>
            </a:extLst>
          </p:cNvPr>
          <p:cNvSpPr txBox="1"/>
          <p:nvPr/>
        </p:nvSpPr>
        <p:spPr>
          <a:xfrm>
            <a:off x="7175015" y="2725392"/>
            <a:ext cx="4658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Nth Order Passive Low Pass Filter Prototype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4D8BF12-C38B-B9A0-E508-7775C33CC108}"/>
              </a:ext>
            </a:extLst>
          </p:cNvPr>
          <p:cNvGrpSpPr/>
          <p:nvPr/>
        </p:nvGrpSpPr>
        <p:grpSpPr>
          <a:xfrm>
            <a:off x="543103" y="4602109"/>
            <a:ext cx="6320827" cy="1077218"/>
            <a:chOff x="554236" y="4020143"/>
            <a:chExt cx="5541764" cy="107721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986717-96C0-7B61-36C8-959139777FA5}"/>
                </a:ext>
              </a:extLst>
            </p:cNvPr>
            <p:cNvGrpSpPr/>
            <p:nvPr/>
          </p:nvGrpSpPr>
          <p:grpSpPr>
            <a:xfrm>
              <a:off x="1155166" y="4020143"/>
              <a:ext cx="4940834" cy="1077218"/>
              <a:chOff x="1155166" y="4020143"/>
              <a:chExt cx="4940834" cy="1077218"/>
            </a:xfrm>
          </p:grpSpPr>
          <p:sp>
            <p:nvSpPr>
              <p:cNvPr id="21" name="Rectangle 8">
                <a:extLst>
                  <a:ext uri="{FF2B5EF4-FFF2-40B4-BE49-F238E27FC236}">
                    <a16:creationId xmlns:a16="http://schemas.microsoft.com/office/drawing/2014/main" id="{97F6CEFA-929A-F2A8-BDA5-782ACABB1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5166" y="4020143"/>
                <a:ext cx="4940834" cy="1077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Coefficients of the Chebyshev lowpass prototype filter normalized 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1 rad/s corner frequency and        impedance.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C429BF02-D2B6-F259-D5DF-A810AF757DD0}"/>
                      </a:ext>
                    </a:extLst>
                  </p:cNvPr>
                  <p:cNvSpPr txBox="1"/>
                  <p:nvPr/>
                </p:nvSpPr>
                <p:spPr>
                  <a:xfrm>
                    <a:off x="3352617" y="4429594"/>
                    <a:ext cx="545933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l-G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𝛺</m:t>
                          </m:r>
                        </m:oMath>
                      </m:oMathPara>
                    </a14:m>
                    <a:endPara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C429BF02-D2B6-F259-D5DF-A810AF757D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52617" y="4429594"/>
                    <a:ext cx="545933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C7BA9AF-A804-81BF-7F72-9BF685DB152A}"/>
                </a:ext>
              </a:extLst>
            </p:cNvPr>
            <p:cNvSpPr txBox="1"/>
            <p:nvPr/>
          </p:nvSpPr>
          <p:spPr>
            <a:xfrm>
              <a:off x="554236" y="4140886"/>
              <a:ext cx="962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Table: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1A4043D-B021-A74E-FE57-02B9E97989D7}"/>
              </a:ext>
            </a:extLst>
          </p:cNvPr>
          <p:cNvSpPr txBox="1"/>
          <p:nvPr/>
        </p:nvSpPr>
        <p:spPr>
          <a:xfrm>
            <a:off x="7985243" y="3371876"/>
            <a:ext cx="3152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 for Conversion of Normalize Value into  Actual Circuit Element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FA97553-AB78-4755-BF12-49DAEF1E21CB}"/>
              </a:ext>
            </a:extLst>
          </p:cNvPr>
          <p:cNvGrpSpPr/>
          <p:nvPr/>
        </p:nvGrpSpPr>
        <p:grpSpPr>
          <a:xfrm>
            <a:off x="7102639" y="6086324"/>
            <a:ext cx="4879162" cy="657158"/>
            <a:chOff x="7035949" y="5996305"/>
            <a:chExt cx="5014095" cy="7853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637027-E1CB-3F25-774D-B4E2C4CC0B8B}"/>
                </a:ext>
              </a:extLst>
            </p:cNvPr>
            <p:cNvSpPr txBox="1"/>
            <p:nvPr/>
          </p:nvSpPr>
          <p:spPr>
            <a:xfrm>
              <a:off x="11496358" y="6375400"/>
              <a:ext cx="5536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01</a:t>
              </a:r>
            </a:p>
          </p:txBody>
        </p:sp>
        <p:pic>
          <p:nvPicPr>
            <p:cNvPr id="27" name="Picture 26" descr="Contact - UIU - Department of Biotechnology and Genetic Engineering">
              <a:extLst>
                <a:ext uri="{FF2B5EF4-FFF2-40B4-BE49-F238E27FC236}">
                  <a16:creationId xmlns:a16="http://schemas.microsoft.com/office/drawing/2014/main" id="{4ECD649F-F63D-7C73-5ABB-470E2BC884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249" y="5996305"/>
              <a:ext cx="785351" cy="78535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DE762AF-D820-0564-F7AD-E3DD6A29B209}"/>
                </a:ext>
              </a:extLst>
            </p:cNvPr>
            <p:cNvGrpSpPr/>
            <p:nvPr/>
          </p:nvGrpSpPr>
          <p:grpSpPr>
            <a:xfrm>
              <a:off x="7035949" y="6066113"/>
              <a:ext cx="3585257" cy="688015"/>
              <a:chOff x="587123" y="6036446"/>
              <a:chExt cx="3585257" cy="688015"/>
            </a:xfrm>
          </p:grpSpPr>
          <p:sp>
            <p:nvSpPr>
              <p:cNvPr id="30" name="Freeform 4">
                <a:extLst>
                  <a:ext uri="{FF2B5EF4-FFF2-40B4-BE49-F238E27FC236}">
                    <a16:creationId xmlns:a16="http://schemas.microsoft.com/office/drawing/2014/main" id="{857D83A1-271A-8742-69E3-EEC920B6A437}"/>
                  </a:ext>
                </a:extLst>
              </p:cNvPr>
              <p:cNvSpPr/>
              <p:nvPr/>
            </p:nvSpPr>
            <p:spPr>
              <a:xfrm rot="5400000">
                <a:off x="2095934" y="4608678"/>
                <a:ext cx="648677" cy="350421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endParaRPr lang="en-US" sz="12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pic>
            <p:nvPicPr>
              <p:cNvPr id="31" name="Picture 30" descr="A person with a beard&#10;&#10;AI-generated content may be incorrect.">
                <a:extLst>
                  <a:ext uri="{FF2B5EF4-FFF2-40B4-BE49-F238E27FC236}">
                    <a16:creationId xmlns:a16="http://schemas.microsoft.com/office/drawing/2014/main" id="{476B98A6-2DC4-113A-B6E9-4DBBEDDA9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07" r="1520" b="6667"/>
              <a:stretch>
                <a:fillRect/>
              </a:stretch>
            </p:blipFill>
            <p:spPr>
              <a:xfrm>
                <a:off x="587123" y="6048137"/>
                <a:ext cx="632436" cy="636986"/>
              </a:xfrm>
              <a:prstGeom prst="round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EFE10D9-7DB0-1A52-BE40-344A68E8369A}"/>
                  </a:ext>
                </a:extLst>
              </p:cNvPr>
              <p:cNvSpPr txBox="1"/>
              <p:nvPr/>
            </p:nvSpPr>
            <p:spPr>
              <a:xfrm>
                <a:off x="1060106" y="6099175"/>
                <a:ext cx="2801376" cy="62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Azad Hossain </a:t>
                </a:r>
                <a:r>
                  <a:rPr lang="en-US" sz="14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Saykat</a:t>
                </a:r>
                <a:endParaRPr lang="en-US" sz="1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021 221 017</a:t>
                </a:r>
              </a:p>
            </p:txBody>
          </p:sp>
        </p:grp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3FB39A5-B65E-C3B1-18B8-F1867B9224CE}"/>
                </a:ext>
              </a:extLst>
            </p:cNvPr>
            <p:cNvSpPr/>
            <p:nvPr/>
          </p:nvSpPr>
          <p:spPr>
            <a:xfrm>
              <a:off x="11509075" y="6063172"/>
              <a:ext cx="540969" cy="6516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B29C83-02F7-B24B-AC7E-27F94D319C9A}"/>
              </a:ext>
            </a:extLst>
          </p:cNvPr>
          <p:cNvGrpSpPr/>
          <p:nvPr/>
        </p:nvGrpSpPr>
        <p:grpSpPr>
          <a:xfrm>
            <a:off x="6920429" y="993328"/>
            <a:ext cx="4912836" cy="1631223"/>
            <a:chOff x="6920429" y="993328"/>
            <a:chExt cx="4912836" cy="1631223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037B0BD-7431-C82C-1D70-CBB11F923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0429" y="1156256"/>
              <a:ext cx="4912836" cy="1468295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BEFC1AC-8EC6-7525-BCC7-39E99915CCCD}"/>
                </a:ext>
              </a:extLst>
            </p:cNvPr>
            <p:cNvSpPr/>
            <p:nvPr/>
          </p:nvSpPr>
          <p:spPr>
            <a:xfrm>
              <a:off x="7718056" y="993328"/>
              <a:ext cx="3630664" cy="1626867"/>
            </a:xfrm>
            <a:prstGeom prst="rect">
              <a:avLst/>
            </a:prstGeom>
            <a:noFill/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4AB6C22-7878-408D-A583-8A3584D417D7}"/>
              </a:ext>
            </a:extLst>
          </p:cNvPr>
          <p:cNvGrpSpPr/>
          <p:nvPr/>
        </p:nvGrpSpPr>
        <p:grpSpPr>
          <a:xfrm>
            <a:off x="589281" y="3104355"/>
            <a:ext cx="5928105" cy="1329155"/>
            <a:chOff x="612453" y="2625321"/>
            <a:chExt cx="5928105" cy="132915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7BCA34B-45FD-D5A1-B102-0A427DB88BC9}"/>
                </a:ext>
              </a:extLst>
            </p:cNvPr>
            <p:cNvGrpSpPr/>
            <p:nvPr/>
          </p:nvGrpSpPr>
          <p:grpSpPr>
            <a:xfrm>
              <a:off x="612453" y="3063944"/>
              <a:ext cx="5928105" cy="890532"/>
              <a:chOff x="612453" y="5095201"/>
              <a:chExt cx="5928105" cy="890532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BBA44DC-F8D5-1076-6804-41DBD73FC9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t="84125" b="1"/>
              <a:stretch>
                <a:fillRect/>
              </a:stretch>
            </p:blipFill>
            <p:spPr>
              <a:xfrm>
                <a:off x="612453" y="5095201"/>
                <a:ext cx="5620707" cy="890532"/>
              </a:xfrm>
              <a:prstGeom prst="rect">
                <a:avLst/>
              </a:prstGeom>
            </p:spPr>
          </p:pic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95065CE-9F73-4C9C-B982-950C54DDDAC1}"/>
                  </a:ext>
                </a:extLst>
              </p:cNvPr>
              <p:cNvSpPr/>
              <p:nvPr/>
            </p:nvSpPr>
            <p:spPr>
              <a:xfrm>
                <a:off x="649341" y="5095201"/>
                <a:ext cx="5891217" cy="870811"/>
              </a:xfrm>
              <a:prstGeom prst="ellipse">
                <a:avLst/>
              </a:prstGeom>
              <a:noFill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EA6CF7E-D002-C60F-28E2-BEEDA9452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40099" b="52082"/>
            <a:stretch>
              <a:fillRect/>
            </a:stretch>
          </p:blipFill>
          <p:spPr>
            <a:xfrm>
              <a:off x="612453" y="2625321"/>
              <a:ext cx="5620707" cy="43862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E22132F-6314-4F34-988F-06CDDFB02E2A}"/>
                  </a:ext>
                </a:extLst>
              </p:cNvPr>
              <p:cNvSpPr txBox="1"/>
              <p:nvPr/>
            </p:nvSpPr>
            <p:spPr>
              <a:xfrm>
                <a:off x="9375903" y="4009787"/>
                <a:ext cx="1349408" cy="565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E22132F-6314-4F34-988F-06CDDFB02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5903" y="4009787"/>
                <a:ext cx="1349408" cy="5653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8E1F9C4-16D3-47E5-A43C-D5EF4504CEC2}"/>
                  </a:ext>
                </a:extLst>
              </p:cNvPr>
              <p:cNvSpPr txBox="1"/>
              <p:nvPr/>
            </p:nvSpPr>
            <p:spPr>
              <a:xfrm>
                <a:off x="9375903" y="4843551"/>
                <a:ext cx="1355115" cy="5211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8E1F9C4-16D3-47E5-A43C-D5EF4504C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5903" y="4843551"/>
                <a:ext cx="1355115" cy="5211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93813D04-7DAC-6C71-89C5-2E1E40D62956}"/>
              </a:ext>
            </a:extLst>
          </p:cNvPr>
          <p:cNvSpPr txBox="1"/>
          <p:nvPr/>
        </p:nvSpPr>
        <p:spPr>
          <a:xfrm>
            <a:off x="7181501" y="4100518"/>
            <a:ext cx="2194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Inductors: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E4F9DC-8328-866A-78FB-3965DA9DA13B}"/>
              </a:ext>
            </a:extLst>
          </p:cNvPr>
          <p:cNvSpPr txBox="1"/>
          <p:nvPr/>
        </p:nvSpPr>
        <p:spPr>
          <a:xfrm>
            <a:off x="7181501" y="4919469"/>
            <a:ext cx="2194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Shunt Capacitors:</a:t>
            </a:r>
          </a:p>
        </p:txBody>
      </p:sp>
    </p:spTree>
    <p:extLst>
      <p:ext uri="{BB962C8B-B14F-4D97-AF65-F5344CB8AC3E}">
        <p14:creationId xmlns:p14="http://schemas.microsoft.com/office/powerpoint/2010/main" val="153774547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7F0B2-3E68-80E2-8924-FFBA29646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238F0A8-FBD0-0313-4C87-7D6E5D4848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D87C057-55AA-E413-5905-06C5EEA0C895}"/>
              </a:ext>
            </a:extLst>
          </p:cNvPr>
          <p:cNvSpPr/>
          <p:nvPr/>
        </p:nvSpPr>
        <p:spPr>
          <a:xfrm>
            <a:off x="7981869" y="3805918"/>
            <a:ext cx="2513059" cy="41074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92FB912-7E75-6A28-CD1E-B18BF521A1DF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Passive Low Pass Filter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50834494-EBBD-1DD2-E14C-40030D608B31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2E4460-B0B4-DE0D-E31A-6DCBC650C757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0103C967-4E19-7A8D-E9A8-168DA8992048}"/>
              </a:ext>
            </a:extLst>
          </p:cNvPr>
          <p:cNvSpPr txBox="1">
            <a:spLocks/>
          </p:cNvSpPr>
          <p:nvPr/>
        </p:nvSpPr>
        <p:spPr>
          <a:xfrm>
            <a:off x="550285" y="1217634"/>
            <a:ext cx="9152992" cy="7315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Calculation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1C2D61D-C245-2B86-F87A-73F8EA62E4C2}"/>
              </a:ext>
            </a:extLst>
          </p:cNvPr>
          <p:cNvSpPr txBox="1">
            <a:spLocks/>
          </p:cNvSpPr>
          <p:nvPr/>
        </p:nvSpPr>
        <p:spPr>
          <a:xfrm>
            <a:off x="892276" y="1762780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27F034-347E-9A96-1DDB-C04A0BFB2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863871"/>
              </p:ext>
            </p:extLst>
          </p:nvPr>
        </p:nvGraphicFramePr>
        <p:xfrm>
          <a:off x="7899563" y="1874275"/>
          <a:ext cx="3270152" cy="1820148"/>
        </p:xfrm>
        <a:graphic>
          <a:graphicData uri="http://schemas.openxmlformats.org/drawingml/2006/table">
            <a:tbl>
              <a:tblPr/>
              <a:tblGrid>
                <a:gridCol w="1821571">
                  <a:extLst>
                    <a:ext uri="{9D8B030D-6E8A-4147-A177-3AD203B41FA5}">
                      <a16:colId xmlns:a16="http://schemas.microsoft.com/office/drawing/2014/main" val="3999260382"/>
                    </a:ext>
                  </a:extLst>
                </a:gridCol>
                <a:gridCol w="1448581">
                  <a:extLst>
                    <a:ext uri="{9D8B030D-6E8A-4147-A177-3AD203B41FA5}">
                      <a16:colId xmlns:a16="http://schemas.microsoft.com/office/drawing/2014/main" val="770712936"/>
                    </a:ext>
                  </a:extLst>
                </a:gridCol>
              </a:tblGrid>
              <a:tr h="197276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Pass Filter (LPF) Specification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879116"/>
                  </a:ext>
                </a:extLst>
              </a:tr>
              <a:tr h="1857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678186"/>
                  </a:ext>
                </a:extLst>
              </a:tr>
              <a:tr h="1857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Passband Frequency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MHz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00873"/>
                  </a:ext>
                </a:extLst>
              </a:tr>
              <a:tr h="1698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Stopband Frequency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MHz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475174"/>
                  </a:ext>
                </a:extLst>
              </a:tr>
              <a:tr h="1804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Stopband Attenuation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40 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867362"/>
                  </a:ext>
                </a:extLst>
              </a:tr>
              <a:tr h="2016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Bandwidth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MHz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967749"/>
                  </a:ext>
                </a:extLst>
              </a:tr>
              <a:tr h="2016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Passband Ripple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945913"/>
                  </a:ext>
                </a:extLst>
              </a:tr>
              <a:tr h="2016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Impedance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ohm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191272"/>
                  </a:ext>
                </a:extLst>
              </a:tr>
              <a:tr h="2016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Impedance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ohm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32350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22E07F-250B-3B03-DD46-0FBBB4A1F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90823"/>
              </p:ext>
            </p:extLst>
          </p:nvPr>
        </p:nvGraphicFramePr>
        <p:xfrm>
          <a:off x="745960" y="1929854"/>
          <a:ext cx="6489949" cy="3612866"/>
        </p:xfrm>
        <a:graphic>
          <a:graphicData uri="http://schemas.openxmlformats.org/drawingml/2006/table">
            <a:tbl>
              <a:tblPr/>
              <a:tblGrid>
                <a:gridCol w="1088135">
                  <a:extLst>
                    <a:ext uri="{9D8B030D-6E8A-4147-A177-3AD203B41FA5}">
                      <a16:colId xmlns:a16="http://schemas.microsoft.com/office/drawing/2014/main" val="2400966284"/>
                    </a:ext>
                  </a:extLst>
                </a:gridCol>
                <a:gridCol w="1233867">
                  <a:extLst>
                    <a:ext uri="{9D8B030D-6E8A-4147-A177-3AD203B41FA5}">
                      <a16:colId xmlns:a16="http://schemas.microsoft.com/office/drawing/2014/main" val="2753369210"/>
                    </a:ext>
                  </a:extLst>
                </a:gridCol>
                <a:gridCol w="1233867">
                  <a:extLst>
                    <a:ext uri="{9D8B030D-6E8A-4147-A177-3AD203B41FA5}">
                      <a16:colId xmlns:a16="http://schemas.microsoft.com/office/drawing/2014/main" val="2934115703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3132673464"/>
                    </a:ext>
                  </a:extLst>
                </a:gridCol>
                <a:gridCol w="990980">
                  <a:extLst>
                    <a:ext uri="{9D8B030D-6E8A-4147-A177-3AD203B41FA5}">
                      <a16:colId xmlns:a16="http://schemas.microsoft.com/office/drawing/2014/main" val="423945356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639507492"/>
                    </a:ext>
                  </a:extLst>
                </a:gridCol>
              </a:tblGrid>
              <a:tr h="2533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 (n)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Units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07397"/>
                  </a:ext>
                </a:extLst>
              </a:tr>
              <a:tr h="3732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Impedance</a:t>
                      </a:r>
                      <a:endParaRPr lang="en-US" sz="1200" b="0" dirty="0">
                        <a:solidFill>
                          <a:srgbClr val="43434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g0 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705240"/>
                  </a:ext>
                </a:extLst>
              </a:tr>
              <a:tr h="3732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L1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Series Inductor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 = 2.1666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L1​=Rs.​g1/</a:t>
                      </a:r>
                      <a:r>
                        <a:rPr lang="el-GR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c​​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862.08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968211"/>
                  </a:ext>
                </a:extLst>
              </a:tr>
              <a:tr h="3732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Shunt Capacitor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g2 = 1.1115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C2​=g2 / Rs.​</a:t>
                      </a:r>
                      <a:r>
                        <a:rPr lang="el-GR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c​​​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176.9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pF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293311"/>
                  </a:ext>
                </a:extLst>
              </a:tr>
              <a:tr h="3732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Series Inductor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g3 = 3.0936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L3=Rs.g3 /</a:t>
                      </a:r>
                      <a:r>
                        <a:rPr lang="el-GR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c​​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1230.96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655508"/>
                  </a:ext>
                </a:extLst>
              </a:tr>
              <a:tr h="3732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Shunt Capacitor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g4 = 1.1735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C4​=g4 / Rs.​</a:t>
                      </a:r>
                      <a:r>
                        <a:rPr lang="el-GR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c​​​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186.77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pF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680029"/>
                  </a:ext>
                </a:extLst>
              </a:tr>
              <a:tr h="3732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L5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Series Inductor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g5 = 3.0936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L5​=Rs.g5 /</a:t>
                      </a:r>
                      <a:r>
                        <a:rPr lang="el-GR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c​​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1230.96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139810"/>
                  </a:ext>
                </a:extLst>
              </a:tr>
              <a:tr h="3732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C6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Shunt Capacitor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g6 =1.1115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C6​=g6 / Rs.​</a:t>
                      </a:r>
                      <a:r>
                        <a:rPr lang="el-GR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c​​​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176.9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pF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81739"/>
                  </a:ext>
                </a:extLst>
              </a:tr>
              <a:tr h="3732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L7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Series Inductor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g7 = 2.1666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L7​=Rs.g7 /</a:t>
                      </a:r>
                      <a:r>
                        <a:rPr lang="el-GR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862.08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 err="1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</a:t>
                      </a:r>
                      <a:endParaRPr lang="en-US" sz="1200" b="0" dirty="0">
                        <a:solidFill>
                          <a:srgbClr val="43434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506616"/>
                  </a:ext>
                </a:extLst>
              </a:tr>
              <a:tr h="3732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Impedance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g8​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2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</a:p>
                  </a:txBody>
                  <a:tcPr marL="32113" marR="32113" marT="8028" marB="802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899678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989C4A77-8418-3666-BCBB-FF480BB4FB16}"/>
              </a:ext>
            </a:extLst>
          </p:cNvPr>
          <p:cNvGrpSpPr/>
          <p:nvPr/>
        </p:nvGrpSpPr>
        <p:grpSpPr>
          <a:xfrm>
            <a:off x="7102639" y="6086325"/>
            <a:ext cx="4879162" cy="657158"/>
            <a:chOff x="7035949" y="5996305"/>
            <a:chExt cx="5014095" cy="7853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9229FA-8EE8-6CF2-35F7-3013C7B8B1F6}"/>
                </a:ext>
              </a:extLst>
            </p:cNvPr>
            <p:cNvSpPr txBox="1"/>
            <p:nvPr/>
          </p:nvSpPr>
          <p:spPr>
            <a:xfrm>
              <a:off x="11496358" y="6375400"/>
              <a:ext cx="553686" cy="331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pic>
          <p:nvPicPr>
            <p:cNvPr id="14" name="Picture 13" descr="Contact - UIU - Department of Biotechnology and Genetic Engineering">
              <a:extLst>
                <a:ext uri="{FF2B5EF4-FFF2-40B4-BE49-F238E27FC236}">
                  <a16:creationId xmlns:a16="http://schemas.microsoft.com/office/drawing/2014/main" id="{C51B131A-C107-5F11-EABA-8CA1C02B1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249" y="5996305"/>
              <a:ext cx="785351" cy="78535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A89033A-67A9-EA6A-2C72-FC59B2C7D559}"/>
                </a:ext>
              </a:extLst>
            </p:cNvPr>
            <p:cNvGrpSpPr/>
            <p:nvPr/>
          </p:nvGrpSpPr>
          <p:grpSpPr>
            <a:xfrm>
              <a:off x="7035949" y="6066113"/>
              <a:ext cx="3585257" cy="688015"/>
              <a:chOff x="587123" y="6036446"/>
              <a:chExt cx="3585257" cy="688015"/>
            </a:xfrm>
          </p:grpSpPr>
          <p:sp>
            <p:nvSpPr>
              <p:cNvPr id="18" name="Freeform 4">
                <a:extLst>
                  <a:ext uri="{FF2B5EF4-FFF2-40B4-BE49-F238E27FC236}">
                    <a16:creationId xmlns:a16="http://schemas.microsoft.com/office/drawing/2014/main" id="{AC4CCE88-BE0C-FB62-118B-EDDAAB7F2E8B}"/>
                  </a:ext>
                </a:extLst>
              </p:cNvPr>
              <p:cNvSpPr/>
              <p:nvPr/>
            </p:nvSpPr>
            <p:spPr>
              <a:xfrm rot="5400000">
                <a:off x="2095934" y="4608678"/>
                <a:ext cx="648677" cy="350421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endParaRPr lang="en-US" sz="1200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9" name="Picture 18" descr="A person with a beard&#10;&#10;AI-generated content may be incorrect.">
                <a:extLst>
                  <a:ext uri="{FF2B5EF4-FFF2-40B4-BE49-F238E27FC236}">
                    <a16:creationId xmlns:a16="http://schemas.microsoft.com/office/drawing/2014/main" id="{DBF9B9A4-B265-C5CA-F08C-2EFED770EF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07" r="1520" b="6667"/>
              <a:stretch>
                <a:fillRect/>
              </a:stretch>
            </p:blipFill>
            <p:spPr>
              <a:xfrm>
                <a:off x="587123" y="6048137"/>
                <a:ext cx="632436" cy="636986"/>
              </a:xfrm>
              <a:prstGeom prst="round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97E127-30C1-157C-5BB0-C8A037AE2059}"/>
                  </a:ext>
                </a:extLst>
              </p:cNvPr>
              <p:cNvSpPr txBox="1"/>
              <p:nvPr/>
            </p:nvSpPr>
            <p:spPr>
              <a:xfrm>
                <a:off x="1060106" y="6099175"/>
                <a:ext cx="2801376" cy="62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Azad Hossain </a:t>
                </a:r>
                <a:r>
                  <a:rPr lang="en-US" sz="14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Saykat</a:t>
                </a:r>
                <a:endParaRPr lang="en-US" sz="1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021 221 017</a:t>
                </a:r>
              </a:p>
            </p:txBody>
          </p:sp>
        </p:grp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E0ABF2D-23BC-7ACB-C94A-DD5072B39C1F}"/>
                </a:ext>
              </a:extLst>
            </p:cNvPr>
            <p:cNvSpPr/>
            <p:nvPr/>
          </p:nvSpPr>
          <p:spPr>
            <a:xfrm>
              <a:off x="11509075" y="6063172"/>
              <a:ext cx="540969" cy="6516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32449D-B9B7-23F8-FB8A-5FDF6A03352C}"/>
                  </a:ext>
                </a:extLst>
              </p:cNvPr>
              <p:cNvSpPr txBox="1"/>
              <p:nvPr/>
            </p:nvSpPr>
            <p:spPr>
              <a:xfrm>
                <a:off x="7997092" y="4226349"/>
                <a:ext cx="3172623" cy="1677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latin typeface="Cambria Math" panose="02040503050406030204" pitchFamily="18" charset="0"/>
                                        </a:rPr>
                                        <m:t>cosh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16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10</m:t>
                                                  </m:r>
                                                </m:e>
                                                <m:sup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f>
                                                        <m:fPr>
                                                          <m:ctrlPr>
                                                            <a:rPr lang="en-US" sz="16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𝐴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𝑠</m:t>
                                                              </m:r>
                                                            </m:sub>
                                                          </m:sSub>
                                                        </m:num>
                                                        <m:den>
                                                          <m:r>
                                                            <a:rPr lang="en-US" sz="16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10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</m:d>
                                                </m:sup>
                                              </m:sSup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rad>
                                        </m:num>
                                        <m:den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sz="16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10</m:t>
                                                  </m:r>
                                                </m:e>
                                                <m:sup>
                                                  <m:f>
                                                    <m:fPr>
                                                      <m:ctrlPr>
                                                        <a:rPr lang="en-US" sz="16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𝐴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𝑝</m:t>
                                                          </m:r>
                                                        </m:sub>
                                                      </m:sSub>
                                                    </m:num>
                                                    <m:den>
                                                      <m:r>
                                                        <a:rPr lang="en-US" sz="16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10</m:t>
                                                      </m:r>
                                                    </m:den>
                                                  </m:f>
                                                </m:sup>
                                              </m:sSup>
                                              <m: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rad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𝑂𝑟𝑑𝑒𝑟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32449D-B9B7-23F8-FB8A-5FDF6A033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092" y="4226349"/>
                <a:ext cx="3172623" cy="1677062"/>
              </a:xfrm>
              <a:prstGeom prst="rect">
                <a:avLst/>
              </a:prstGeom>
              <a:blipFill>
                <a:blip r:embed="rId5"/>
                <a:stretch>
                  <a:fillRect r="-1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431317E-BD03-115C-5AEA-3DAB4BCE4922}"/>
              </a:ext>
            </a:extLst>
          </p:cNvPr>
          <p:cNvSpPr txBox="1"/>
          <p:nvPr/>
        </p:nvSpPr>
        <p:spPr>
          <a:xfrm>
            <a:off x="8296527" y="3804527"/>
            <a:ext cx="2194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Chebyshev Type I:</a:t>
            </a:r>
          </a:p>
        </p:txBody>
      </p:sp>
    </p:spTree>
    <p:extLst>
      <p:ext uri="{BB962C8B-B14F-4D97-AF65-F5344CB8AC3E}">
        <p14:creationId xmlns:p14="http://schemas.microsoft.com/office/powerpoint/2010/main" val="64630817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6247F-2986-D5C5-C384-6E4089179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0DDAF8-69CA-DF14-1CA7-E421AA0431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3A82C97-FD9D-0E38-5B6A-D96A30981754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Passive Low Pass Filter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5D269DAA-4915-AE60-C2AE-D49E9539D851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206D57-8F06-6DF0-6FD4-BCEC97B994F6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pic>
        <p:nvPicPr>
          <p:cNvPr id="11" name="Picture 10" descr="A diagram of a circuit&#10;&#10;AI-generated content may be incorrect.">
            <a:extLst>
              <a:ext uri="{FF2B5EF4-FFF2-40B4-BE49-F238E27FC236}">
                <a16:creationId xmlns:a16="http://schemas.microsoft.com/office/drawing/2014/main" id="{70970801-9208-797F-1565-97A69ADA6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2" t="-34" r="1577"/>
          <a:stretch>
            <a:fillRect/>
          </a:stretch>
        </p:blipFill>
        <p:spPr>
          <a:xfrm>
            <a:off x="625225" y="2370036"/>
            <a:ext cx="6372713" cy="265564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207FDAE-DF41-E9C4-9425-ECCD3F9511C8}"/>
              </a:ext>
            </a:extLst>
          </p:cNvPr>
          <p:cNvGrpSpPr/>
          <p:nvPr/>
        </p:nvGrpSpPr>
        <p:grpSpPr>
          <a:xfrm>
            <a:off x="7102639" y="6086324"/>
            <a:ext cx="4879162" cy="657158"/>
            <a:chOff x="7035949" y="5996305"/>
            <a:chExt cx="5014095" cy="7853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6A51F50-0A0A-75EE-924A-31F038FAB7E0}"/>
                </a:ext>
              </a:extLst>
            </p:cNvPr>
            <p:cNvSpPr txBox="1"/>
            <p:nvPr/>
          </p:nvSpPr>
          <p:spPr>
            <a:xfrm>
              <a:off x="11496358" y="6375400"/>
              <a:ext cx="553686" cy="331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pic>
          <p:nvPicPr>
            <p:cNvPr id="6" name="Picture 5" descr="Contact - UIU - Department of Biotechnology and Genetic Engineering">
              <a:extLst>
                <a:ext uri="{FF2B5EF4-FFF2-40B4-BE49-F238E27FC236}">
                  <a16:creationId xmlns:a16="http://schemas.microsoft.com/office/drawing/2014/main" id="{203599A6-BD11-49F8-98A1-15D0014478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249" y="5996305"/>
              <a:ext cx="785351" cy="78535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41B7FD4-16C2-617F-267B-B2DDD3B5CEE5}"/>
                </a:ext>
              </a:extLst>
            </p:cNvPr>
            <p:cNvGrpSpPr/>
            <p:nvPr/>
          </p:nvGrpSpPr>
          <p:grpSpPr>
            <a:xfrm>
              <a:off x="7035949" y="6066113"/>
              <a:ext cx="3585257" cy="688015"/>
              <a:chOff x="587123" y="6036446"/>
              <a:chExt cx="3585257" cy="688015"/>
            </a:xfrm>
          </p:grpSpPr>
          <p:sp>
            <p:nvSpPr>
              <p:cNvPr id="9" name="Freeform 4">
                <a:extLst>
                  <a:ext uri="{FF2B5EF4-FFF2-40B4-BE49-F238E27FC236}">
                    <a16:creationId xmlns:a16="http://schemas.microsoft.com/office/drawing/2014/main" id="{7C7DB46E-2A70-0224-FFCC-C321E0738DAF}"/>
                  </a:ext>
                </a:extLst>
              </p:cNvPr>
              <p:cNvSpPr/>
              <p:nvPr/>
            </p:nvSpPr>
            <p:spPr>
              <a:xfrm rot="5400000">
                <a:off x="2095934" y="4608678"/>
                <a:ext cx="648677" cy="350421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endParaRPr lang="en-US" sz="1200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2" name="Picture 11" descr="A person with a beard&#10;&#10;AI-generated content may be incorrect.">
                <a:extLst>
                  <a:ext uri="{FF2B5EF4-FFF2-40B4-BE49-F238E27FC236}">
                    <a16:creationId xmlns:a16="http://schemas.microsoft.com/office/drawing/2014/main" id="{6B6CBD22-0164-452C-A04A-EF022A0F6A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07" r="1520" b="6667"/>
              <a:stretch>
                <a:fillRect/>
              </a:stretch>
            </p:blipFill>
            <p:spPr>
              <a:xfrm>
                <a:off x="587123" y="6048137"/>
                <a:ext cx="632436" cy="636986"/>
              </a:xfrm>
              <a:prstGeom prst="round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70B580-FF34-3AD2-138D-9F9CE88329AF}"/>
                  </a:ext>
                </a:extLst>
              </p:cNvPr>
              <p:cNvSpPr txBox="1"/>
              <p:nvPr/>
            </p:nvSpPr>
            <p:spPr>
              <a:xfrm>
                <a:off x="1060106" y="6099175"/>
                <a:ext cx="2801376" cy="62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Azad Hossain </a:t>
                </a:r>
                <a:r>
                  <a:rPr lang="en-US" sz="14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Saykat</a:t>
                </a:r>
                <a:endParaRPr lang="en-US" sz="1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021 221 017</a:t>
                </a:r>
              </a:p>
            </p:txBody>
          </p: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A34798C-3A24-0E42-A3BF-84456C66D19C}"/>
                </a:ext>
              </a:extLst>
            </p:cNvPr>
            <p:cNvSpPr/>
            <p:nvPr/>
          </p:nvSpPr>
          <p:spPr>
            <a:xfrm>
              <a:off x="11509075" y="6063172"/>
              <a:ext cx="540969" cy="6516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9E123975-AA5A-5A5A-1B2B-B5D63CA801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20730" y="1619698"/>
            <a:ext cx="5076386" cy="4089312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7F30CBA-0F46-249C-ABB6-05863B8D406A}"/>
              </a:ext>
            </a:extLst>
          </p:cNvPr>
          <p:cNvSpPr/>
          <p:nvPr/>
        </p:nvSpPr>
        <p:spPr>
          <a:xfrm>
            <a:off x="6679499" y="1183970"/>
            <a:ext cx="5117617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 Analysis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9E79B-BE72-B54C-FF4B-ECD5B6588729}"/>
              </a:ext>
            </a:extLst>
          </p:cNvPr>
          <p:cNvSpPr/>
          <p:nvPr/>
        </p:nvSpPr>
        <p:spPr>
          <a:xfrm>
            <a:off x="625225" y="1183970"/>
            <a:ext cx="5806055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Schematic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8739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68480-D0BE-AD20-0DAA-3FC0F2FB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389A82-0ECC-0186-C0FF-5C6A6C5BA1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EEF8F17-4F30-807A-5ADC-83770F09F9E6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Active Low Pass Filter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3E730862-F7CC-7480-018D-B4AA55C947D9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F7B1D3-6D5A-65A3-53ED-704393AC2B50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0743705-D76E-9DC2-9F03-98A74EE22B61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7D44EB22-16E8-DBA9-EDB4-C9E6C64F2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824" y="1572027"/>
            <a:ext cx="7440928" cy="41860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FA5BA3-A04A-6C52-1420-C84073917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02" y="1634669"/>
            <a:ext cx="3227070" cy="2277108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61095B43-CE7F-F606-4A78-B522F0C849E8}"/>
              </a:ext>
            </a:extLst>
          </p:cNvPr>
          <p:cNvSpPr txBox="1">
            <a:spLocks/>
          </p:cNvSpPr>
          <p:nvPr/>
        </p:nvSpPr>
        <p:spPr>
          <a:xfrm>
            <a:off x="715302" y="3946908"/>
            <a:ext cx="6722043" cy="405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Fig. 1</a:t>
            </a:r>
            <a:r>
              <a:rPr lang="en-US" sz="1400" baseline="30000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st</a:t>
            </a:r>
            <a:r>
              <a:rPr lang="en-US" sz="1400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 Order Gm-C Filter Block Diagram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3A8B27-D8F5-FB57-210A-F05C64E7C10C}"/>
              </a:ext>
            </a:extLst>
          </p:cNvPr>
          <p:cNvGrpSpPr/>
          <p:nvPr/>
        </p:nvGrpSpPr>
        <p:grpSpPr>
          <a:xfrm>
            <a:off x="7102639" y="6086324"/>
            <a:ext cx="4879162" cy="657158"/>
            <a:chOff x="7035949" y="5996305"/>
            <a:chExt cx="5014095" cy="78535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79CC95-D516-92FF-BECE-CF87E8A13508}"/>
                </a:ext>
              </a:extLst>
            </p:cNvPr>
            <p:cNvSpPr txBox="1"/>
            <p:nvPr/>
          </p:nvSpPr>
          <p:spPr>
            <a:xfrm>
              <a:off x="11496358" y="6375400"/>
              <a:ext cx="553686" cy="331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pic>
          <p:nvPicPr>
            <p:cNvPr id="10" name="Picture 9" descr="Contact - UIU - Department of Biotechnology and Genetic Engineering">
              <a:extLst>
                <a:ext uri="{FF2B5EF4-FFF2-40B4-BE49-F238E27FC236}">
                  <a16:creationId xmlns:a16="http://schemas.microsoft.com/office/drawing/2014/main" id="{DE45C473-13F0-152B-C62C-27A5122B32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249" y="5996305"/>
              <a:ext cx="785351" cy="78535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D7E0CDE-7EC0-6BEA-9FCD-F8B0946A87C6}"/>
                </a:ext>
              </a:extLst>
            </p:cNvPr>
            <p:cNvGrpSpPr/>
            <p:nvPr/>
          </p:nvGrpSpPr>
          <p:grpSpPr>
            <a:xfrm>
              <a:off x="7035949" y="6066113"/>
              <a:ext cx="3585257" cy="688015"/>
              <a:chOff x="587123" y="6036446"/>
              <a:chExt cx="3585257" cy="688015"/>
            </a:xfrm>
          </p:grpSpPr>
          <p:sp>
            <p:nvSpPr>
              <p:cNvPr id="14" name="Freeform 4">
                <a:extLst>
                  <a:ext uri="{FF2B5EF4-FFF2-40B4-BE49-F238E27FC236}">
                    <a16:creationId xmlns:a16="http://schemas.microsoft.com/office/drawing/2014/main" id="{1F01BA52-C70B-DFA5-BD79-66E5CED7BA21}"/>
                  </a:ext>
                </a:extLst>
              </p:cNvPr>
              <p:cNvSpPr/>
              <p:nvPr/>
            </p:nvSpPr>
            <p:spPr>
              <a:xfrm rot="5400000">
                <a:off x="2095934" y="4608678"/>
                <a:ext cx="648677" cy="350421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endParaRPr lang="en-US" sz="1200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5" name="Picture 14" descr="A person with a beard&#10;&#10;AI-generated content may be incorrect.">
                <a:extLst>
                  <a:ext uri="{FF2B5EF4-FFF2-40B4-BE49-F238E27FC236}">
                    <a16:creationId xmlns:a16="http://schemas.microsoft.com/office/drawing/2014/main" id="{813BC80D-8DB7-FE5B-CD82-7448B8FF29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07" r="1520" b="6667"/>
              <a:stretch>
                <a:fillRect/>
              </a:stretch>
            </p:blipFill>
            <p:spPr>
              <a:xfrm>
                <a:off x="587123" y="6048137"/>
                <a:ext cx="632436" cy="636986"/>
              </a:xfrm>
              <a:prstGeom prst="round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01AE5F-5CAE-9B1B-9E14-0A650E9A767B}"/>
                  </a:ext>
                </a:extLst>
              </p:cNvPr>
              <p:cNvSpPr txBox="1"/>
              <p:nvPr/>
            </p:nvSpPr>
            <p:spPr>
              <a:xfrm>
                <a:off x="1060106" y="6099175"/>
                <a:ext cx="2801376" cy="62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Azad Hossain </a:t>
                </a:r>
                <a:r>
                  <a:rPr lang="en-US" sz="14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Saykat</a:t>
                </a:r>
                <a:endParaRPr lang="en-US" sz="1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021 221 017</a:t>
                </a:r>
              </a:p>
            </p:txBody>
          </p:sp>
        </p:grp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9B612C7-6788-2847-0AF1-447236D2936E}"/>
                </a:ext>
              </a:extLst>
            </p:cNvPr>
            <p:cNvSpPr/>
            <p:nvPr/>
          </p:nvSpPr>
          <p:spPr>
            <a:xfrm>
              <a:off x="11509075" y="6063172"/>
              <a:ext cx="540969" cy="6516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15FC3A-9053-9550-5239-0610107FCB73}"/>
              </a:ext>
            </a:extLst>
          </p:cNvPr>
          <p:cNvSpPr/>
          <p:nvPr/>
        </p:nvSpPr>
        <p:spPr>
          <a:xfrm>
            <a:off x="625225" y="1183970"/>
            <a:ext cx="3702935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Block Diagram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7D612F1-4A20-1A13-9393-2AC0AD22E12B}"/>
              </a:ext>
            </a:extLst>
          </p:cNvPr>
          <p:cNvSpPr/>
          <p:nvPr/>
        </p:nvSpPr>
        <p:spPr>
          <a:xfrm>
            <a:off x="4521824" y="1183549"/>
            <a:ext cx="7440928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Schematic Diagram</a:t>
            </a: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00C63D-61A3-8DAF-82E3-13006CE6A4F0}"/>
              </a:ext>
            </a:extLst>
          </p:cNvPr>
          <p:cNvGrpSpPr/>
          <p:nvPr/>
        </p:nvGrpSpPr>
        <p:grpSpPr>
          <a:xfrm>
            <a:off x="768274" y="4750391"/>
            <a:ext cx="3336366" cy="584775"/>
            <a:chOff x="768274" y="4750391"/>
            <a:chExt cx="3336366" cy="58477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8F8959C-C427-341C-F256-BEE9535D0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8274" y="4750391"/>
              <a:ext cx="571354" cy="57135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98B7DF3-B8A0-1AAA-CE3D-875EA3BA3D0A}"/>
                    </a:ext>
                  </a:extLst>
                </p:cNvPr>
                <p:cNvSpPr txBox="1"/>
                <p:nvPr/>
              </p:nvSpPr>
              <p:spPr>
                <a:xfrm>
                  <a:off x="1339628" y="4750391"/>
                  <a:ext cx="276501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Power Consumption </a:t>
                  </a:r>
                </a:p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124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1.2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0.15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𝑚𝑊</m:t>
                      </m:r>
                    </m:oMath>
                  </a14:m>
                  <a:endPara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98B7DF3-B8A0-1AAA-CE3D-875EA3BA3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9628" y="4750391"/>
                  <a:ext cx="2765012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1325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81786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8E6C-2A61-26D9-6124-DD5AB0E44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C0E672-E8FE-765A-5168-B7937CCEB3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97F7271-85A5-A9B5-51C2-74429400CC09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Active Low Pass Filter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FFEDFCB-254D-9E4B-09A4-28D4790316EB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A86D6D-1465-53B9-72B1-6994D92F64AF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AD2EFFD-AFEA-C59C-33D1-7D4A9D15BFEB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840A5-7563-0A9A-9A71-7CA56C1BB2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01" t="9293" r="901" b="671"/>
          <a:stretch>
            <a:fillRect/>
          </a:stretch>
        </p:blipFill>
        <p:spPr>
          <a:xfrm>
            <a:off x="5986016" y="2315755"/>
            <a:ext cx="5915340" cy="337801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73DB8A7-8CDA-F2C9-BEF2-29F2A9A8A71D}"/>
              </a:ext>
            </a:extLst>
          </p:cNvPr>
          <p:cNvGrpSpPr/>
          <p:nvPr/>
        </p:nvGrpSpPr>
        <p:grpSpPr>
          <a:xfrm>
            <a:off x="7102639" y="6086324"/>
            <a:ext cx="4879162" cy="657158"/>
            <a:chOff x="7035949" y="5996305"/>
            <a:chExt cx="5014095" cy="7853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DB18D2-A050-FCBF-4E5D-9007323917B2}"/>
                </a:ext>
              </a:extLst>
            </p:cNvPr>
            <p:cNvSpPr txBox="1"/>
            <p:nvPr/>
          </p:nvSpPr>
          <p:spPr>
            <a:xfrm>
              <a:off x="11496358" y="6375400"/>
              <a:ext cx="553686" cy="331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pic>
          <p:nvPicPr>
            <p:cNvPr id="9" name="Picture 8" descr="Contact - UIU - Department of Biotechnology and Genetic Engineering">
              <a:extLst>
                <a:ext uri="{FF2B5EF4-FFF2-40B4-BE49-F238E27FC236}">
                  <a16:creationId xmlns:a16="http://schemas.microsoft.com/office/drawing/2014/main" id="{CAEF0668-9666-4D68-968D-787C0A8746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249" y="5996305"/>
              <a:ext cx="785351" cy="78535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D199F8F-45FF-8D57-A1DD-7E0F80469E36}"/>
                </a:ext>
              </a:extLst>
            </p:cNvPr>
            <p:cNvGrpSpPr/>
            <p:nvPr/>
          </p:nvGrpSpPr>
          <p:grpSpPr>
            <a:xfrm>
              <a:off x="7035949" y="6066113"/>
              <a:ext cx="3585257" cy="688015"/>
              <a:chOff x="587123" y="6036446"/>
              <a:chExt cx="3585257" cy="688015"/>
            </a:xfrm>
          </p:grpSpPr>
          <p:sp>
            <p:nvSpPr>
              <p:cNvPr id="12" name="Freeform 4">
                <a:extLst>
                  <a:ext uri="{FF2B5EF4-FFF2-40B4-BE49-F238E27FC236}">
                    <a16:creationId xmlns:a16="http://schemas.microsoft.com/office/drawing/2014/main" id="{38D1F3D6-2139-F211-78E4-2BCA5DA50D11}"/>
                  </a:ext>
                </a:extLst>
              </p:cNvPr>
              <p:cNvSpPr/>
              <p:nvPr/>
            </p:nvSpPr>
            <p:spPr>
              <a:xfrm rot="5400000">
                <a:off x="2095934" y="4608678"/>
                <a:ext cx="648677" cy="350421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endParaRPr lang="en-US" sz="1200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4" name="Picture 13" descr="A person with a beard&#10;&#10;AI-generated content may be incorrect.">
                <a:extLst>
                  <a:ext uri="{FF2B5EF4-FFF2-40B4-BE49-F238E27FC236}">
                    <a16:creationId xmlns:a16="http://schemas.microsoft.com/office/drawing/2014/main" id="{BCB1C405-1202-2327-66BE-0D38BC3179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07" r="1520" b="6667"/>
              <a:stretch>
                <a:fillRect/>
              </a:stretch>
            </p:blipFill>
            <p:spPr>
              <a:xfrm>
                <a:off x="587123" y="6048137"/>
                <a:ext cx="632436" cy="636986"/>
              </a:xfrm>
              <a:prstGeom prst="round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C8DEAE-100A-D340-7D87-8980BE425151}"/>
                  </a:ext>
                </a:extLst>
              </p:cNvPr>
              <p:cNvSpPr txBox="1"/>
              <p:nvPr/>
            </p:nvSpPr>
            <p:spPr>
              <a:xfrm>
                <a:off x="1060106" y="6099175"/>
                <a:ext cx="2801376" cy="62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Azad Hossain </a:t>
                </a:r>
                <a:r>
                  <a:rPr lang="en-US" sz="14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Saykat</a:t>
                </a:r>
                <a:endParaRPr lang="en-US" sz="1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021 221 017</a:t>
                </a:r>
              </a:p>
            </p:txBody>
          </p:sp>
        </p:grp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5BF59F1-3312-17F8-BBBF-96B32D920AFD}"/>
                </a:ext>
              </a:extLst>
            </p:cNvPr>
            <p:cNvSpPr/>
            <p:nvPr/>
          </p:nvSpPr>
          <p:spPr>
            <a:xfrm>
              <a:off x="11509075" y="6063172"/>
              <a:ext cx="540969" cy="6516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94C3E9-851F-6EB9-BCA9-93D04D9CF585}"/>
              </a:ext>
            </a:extLst>
          </p:cNvPr>
          <p:cNvSpPr/>
          <p:nvPr/>
        </p:nvSpPr>
        <p:spPr>
          <a:xfrm>
            <a:off x="5967296" y="1427328"/>
            <a:ext cx="5952781" cy="4423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 Analysis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457B46-F98E-99D5-80BE-448E2F7D3C18}"/>
              </a:ext>
            </a:extLst>
          </p:cNvPr>
          <p:cNvSpPr/>
          <p:nvPr/>
        </p:nvSpPr>
        <p:spPr>
          <a:xfrm>
            <a:off x="682471" y="1417546"/>
            <a:ext cx="5118562" cy="4423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Transient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Analysis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07F2F6-9253-4D89-F369-194E6ED955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929" t="45950"/>
          <a:stretch>
            <a:fillRect/>
          </a:stretch>
        </p:blipFill>
        <p:spPr>
          <a:xfrm>
            <a:off x="682469" y="2917596"/>
            <a:ext cx="5056068" cy="3223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6A12F-0DDE-DBE6-ABF7-F4BD1CF1F6D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62" t="1698" r="50210" b="85103"/>
          <a:stretch>
            <a:fillRect/>
          </a:stretch>
        </p:blipFill>
        <p:spPr>
          <a:xfrm>
            <a:off x="668166" y="2127531"/>
            <a:ext cx="5118562" cy="79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3103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2729C-2F72-9BAF-ADBD-E5BC98C85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F600B6-7D0A-5E17-1C2E-D84B0D8992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305CB1F-E40F-EF1E-78D5-E00CED3599C4}"/>
              </a:ext>
            </a:extLst>
          </p:cNvPr>
          <p:cNvSpPr txBox="1"/>
          <p:nvPr/>
        </p:nvSpPr>
        <p:spPr>
          <a:xfrm>
            <a:off x="668166" y="422639"/>
            <a:ext cx="6236811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Active 2</a:t>
            </a:r>
            <a:r>
              <a:rPr lang="en-US" sz="2865" b="1" baseline="30000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nd</a:t>
            </a: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 Order Low Pass Filter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EFF67682-EA0D-1924-2D88-745491D7DB4B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134FB2-2567-BDAF-4B6A-E4271797570D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E837EB4-5688-49F7-6B05-474B654DBEE9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958DE18-8D4B-DE4E-E28A-165204E07040}"/>
              </a:ext>
            </a:extLst>
          </p:cNvPr>
          <p:cNvGrpSpPr/>
          <p:nvPr/>
        </p:nvGrpSpPr>
        <p:grpSpPr>
          <a:xfrm>
            <a:off x="7102639" y="6086324"/>
            <a:ext cx="4879162" cy="657158"/>
            <a:chOff x="7035949" y="5996305"/>
            <a:chExt cx="5014095" cy="7853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5F87C9-D31C-58B1-29B3-8BB72334A6DC}"/>
                </a:ext>
              </a:extLst>
            </p:cNvPr>
            <p:cNvSpPr txBox="1"/>
            <p:nvPr/>
          </p:nvSpPr>
          <p:spPr>
            <a:xfrm>
              <a:off x="11496358" y="6375400"/>
              <a:ext cx="553686" cy="331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  <p:pic>
          <p:nvPicPr>
            <p:cNvPr id="9" name="Picture 8" descr="Contact - UIU - Department of Biotechnology and Genetic Engineering">
              <a:extLst>
                <a:ext uri="{FF2B5EF4-FFF2-40B4-BE49-F238E27FC236}">
                  <a16:creationId xmlns:a16="http://schemas.microsoft.com/office/drawing/2014/main" id="{99433DC5-B6D4-90FA-23FA-AB9E0F51D0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249" y="5996305"/>
              <a:ext cx="785351" cy="78535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37C5E10-350B-DC97-14A0-971CFF1C34AA}"/>
                </a:ext>
              </a:extLst>
            </p:cNvPr>
            <p:cNvGrpSpPr/>
            <p:nvPr/>
          </p:nvGrpSpPr>
          <p:grpSpPr>
            <a:xfrm>
              <a:off x="7035949" y="6066114"/>
              <a:ext cx="3585256" cy="688014"/>
              <a:chOff x="587123" y="6036447"/>
              <a:chExt cx="3585256" cy="688014"/>
            </a:xfrm>
          </p:grpSpPr>
          <p:sp>
            <p:nvSpPr>
              <p:cNvPr id="12" name="Freeform 4">
                <a:extLst>
                  <a:ext uri="{FF2B5EF4-FFF2-40B4-BE49-F238E27FC236}">
                    <a16:creationId xmlns:a16="http://schemas.microsoft.com/office/drawing/2014/main" id="{46F8A13E-5E56-4090-4014-FC48D51873FD}"/>
                  </a:ext>
                </a:extLst>
              </p:cNvPr>
              <p:cNvSpPr/>
              <p:nvPr/>
            </p:nvSpPr>
            <p:spPr>
              <a:xfrm rot="5400000">
                <a:off x="2095933" y="4608679"/>
                <a:ext cx="648677" cy="350421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endParaRPr lang="en-US" sz="1200" dirty="0">
                  <a:solidFill>
                    <a:schemeClr val="accent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4" name="Picture 13" descr="A person with a beard&#10;&#10;AI-generated content may be incorrect.">
                <a:extLst>
                  <a:ext uri="{FF2B5EF4-FFF2-40B4-BE49-F238E27FC236}">
                    <a16:creationId xmlns:a16="http://schemas.microsoft.com/office/drawing/2014/main" id="{4AB7A9F7-F0FF-869D-3285-5640D6F23B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07" r="1520" b="6667"/>
              <a:stretch>
                <a:fillRect/>
              </a:stretch>
            </p:blipFill>
            <p:spPr>
              <a:xfrm>
                <a:off x="587123" y="6048137"/>
                <a:ext cx="632436" cy="636986"/>
              </a:xfrm>
              <a:prstGeom prst="round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29AB40E-58FB-7039-CFBD-CA90347EF12F}"/>
                  </a:ext>
                </a:extLst>
              </p:cNvPr>
              <p:cNvSpPr txBox="1"/>
              <p:nvPr/>
            </p:nvSpPr>
            <p:spPr>
              <a:xfrm>
                <a:off x="1060106" y="6099175"/>
                <a:ext cx="2801376" cy="62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Azad Hossain </a:t>
                </a:r>
                <a:r>
                  <a:rPr lang="en-US" sz="14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Saykat</a:t>
                </a:r>
                <a:endParaRPr lang="en-US" sz="1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021 221 017</a:t>
                </a:r>
              </a:p>
            </p:txBody>
          </p:sp>
        </p:grp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1CE7710-5C59-3D99-9CA4-09D3FB1DB463}"/>
                </a:ext>
              </a:extLst>
            </p:cNvPr>
            <p:cNvSpPr/>
            <p:nvPr/>
          </p:nvSpPr>
          <p:spPr>
            <a:xfrm>
              <a:off x="11509075" y="6063172"/>
              <a:ext cx="540969" cy="6516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3495AF4-4F14-9060-36F2-762759DD8EF4}"/>
              </a:ext>
            </a:extLst>
          </p:cNvPr>
          <p:cNvGrpSpPr/>
          <p:nvPr/>
        </p:nvGrpSpPr>
        <p:grpSpPr>
          <a:xfrm>
            <a:off x="6875392" y="1676792"/>
            <a:ext cx="5200731" cy="3643048"/>
            <a:chOff x="28499184" y="24180587"/>
            <a:chExt cx="4451765" cy="283671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03DD5E4-7C23-5803-714E-4BE497A8E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9853" b="22627"/>
            <a:stretch>
              <a:fillRect/>
            </a:stretch>
          </p:blipFill>
          <p:spPr>
            <a:xfrm>
              <a:off x="28549833" y="24180587"/>
              <a:ext cx="4401116" cy="2447978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41943DD-4758-F301-0C43-3D982F3A5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8930" t="87713"/>
            <a:stretch>
              <a:fillRect/>
            </a:stretch>
          </p:blipFill>
          <p:spPr>
            <a:xfrm>
              <a:off x="28499184" y="26628565"/>
              <a:ext cx="4451765" cy="388733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338503-2E0B-8791-8969-A55C71B140A0}"/>
                </a:ext>
              </a:extLst>
            </p:cNvPr>
            <p:cNvSpPr/>
            <p:nvPr/>
          </p:nvSpPr>
          <p:spPr>
            <a:xfrm>
              <a:off x="28627377" y="26572464"/>
              <a:ext cx="296365" cy="14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3063D133-1C82-F110-D91A-D6B3044D31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85" y="3324090"/>
            <a:ext cx="6875392" cy="251175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76F117A-A97C-7E0F-6E4C-2828B67C14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346" y="1667544"/>
            <a:ext cx="5446294" cy="1292546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9E64873-1F33-EC89-CCC3-4EDA56917A7F}"/>
              </a:ext>
            </a:extLst>
          </p:cNvPr>
          <p:cNvSpPr/>
          <p:nvPr/>
        </p:nvSpPr>
        <p:spPr>
          <a:xfrm>
            <a:off x="436346" y="1275186"/>
            <a:ext cx="5446294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Block Diagram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C2F4C17-C66D-C125-0B9B-B5D870E78348}"/>
              </a:ext>
            </a:extLst>
          </p:cNvPr>
          <p:cNvSpPr/>
          <p:nvPr/>
        </p:nvSpPr>
        <p:spPr>
          <a:xfrm>
            <a:off x="6875392" y="1232730"/>
            <a:ext cx="5257658" cy="39580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 Analysis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E4C52CB-675B-60A4-1DB2-91CDF1624811}"/>
              </a:ext>
            </a:extLst>
          </p:cNvPr>
          <p:cNvSpPr/>
          <p:nvPr/>
        </p:nvSpPr>
        <p:spPr>
          <a:xfrm>
            <a:off x="436346" y="3100572"/>
            <a:ext cx="5446294" cy="2752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Circuit Diagram</a:t>
            </a: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0770D2F-3890-09F2-27F6-59B484B099BD}"/>
              </a:ext>
            </a:extLst>
          </p:cNvPr>
          <p:cNvGrpSpPr/>
          <p:nvPr/>
        </p:nvGrpSpPr>
        <p:grpSpPr>
          <a:xfrm>
            <a:off x="6959875" y="5353119"/>
            <a:ext cx="3336366" cy="584775"/>
            <a:chOff x="768274" y="4750391"/>
            <a:chExt cx="3336366" cy="584775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4EA262E-23EA-0811-8F7F-2632F48B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8274" y="4750391"/>
              <a:ext cx="571354" cy="57135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B687445-2F22-81E7-DA88-6A3A41C7898C}"/>
                    </a:ext>
                  </a:extLst>
                </p:cNvPr>
                <p:cNvSpPr txBox="1"/>
                <p:nvPr/>
              </p:nvSpPr>
              <p:spPr>
                <a:xfrm>
                  <a:off x="1339628" y="4750391"/>
                  <a:ext cx="276501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Power Consumption </a:t>
                  </a:r>
                </a:p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82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1.2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0.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22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𝑚𝑊</m:t>
                      </m:r>
                    </m:oMath>
                  </a14:m>
                  <a:endPara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B687445-2F22-81E7-DA88-6A3A41C789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9628" y="4750391"/>
                  <a:ext cx="2765012" cy="584775"/>
                </a:xfrm>
                <a:prstGeom prst="rect">
                  <a:avLst/>
                </a:prstGeom>
                <a:blipFill>
                  <a:blip r:embed="rId9"/>
                  <a:stretch>
                    <a:fillRect l="-1101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5517234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4D4E-111F-B7CB-C5C7-B0D5BBC6E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1AB205-9821-6A4D-7F2B-229179182B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0A4E734-585D-723D-2065-63F12470D0F7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Mixer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194437B7-C895-BEED-DC90-BF381029A2A9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66CF70-878D-C9D1-3237-EDA9AD92A080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10072A5-E896-6355-3F3D-18C0E5E135A8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itle 6">
            <a:extLst>
              <a:ext uri="{FF2B5EF4-FFF2-40B4-BE49-F238E27FC236}">
                <a16:creationId xmlns:a16="http://schemas.microsoft.com/office/drawing/2014/main" id="{C14C7FB6-6B19-D42D-3E0B-C3B5A74F1D86}"/>
              </a:ext>
            </a:extLst>
          </p:cNvPr>
          <p:cNvSpPr txBox="1">
            <a:spLocks/>
          </p:cNvSpPr>
          <p:nvPr/>
        </p:nvSpPr>
        <p:spPr>
          <a:xfrm>
            <a:off x="668166" y="1270991"/>
            <a:ext cx="9152992" cy="47293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Theoretical Background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Content Placeholder 5">
            <a:extLst>
              <a:ext uri="{FF2B5EF4-FFF2-40B4-BE49-F238E27FC236}">
                <a16:creationId xmlns:a16="http://schemas.microsoft.com/office/drawing/2014/main" id="{A0A84818-47B1-2685-1F3D-5E491E87BF1C}"/>
              </a:ext>
            </a:extLst>
          </p:cNvPr>
          <p:cNvSpPr txBox="1">
            <a:spLocks/>
          </p:cNvSpPr>
          <p:nvPr/>
        </p:nvSpPr>
        <p:spPr>
          <a:xfrm>
            <a:off x="668166" y="1727580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EFD01D8-343E-DDA9-709D-2E7CDA61D5F0}"/>
              </a:ext>
            </a:extLst>
          </p:cNvPr>
          <p:cNvGrpSpPr/>
          <p:nvPr/>
        </p:nvGrpSpPr>
        <p:grpSpPr>
          <a:xfrm>
            <a:off x="731628" y="1909451"/>
            <a:ext cx="2761304" cy="1476621"/>
            <a:chOff x="8298862" y="1149813"/>
            <a:chExt cx="2761304" cy="1476621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77BC137-70A5-710D-6338-1B59F88F5388}"/>
                </a:ext>
              </a:extLst>
            </p:cNvPr>
            <p:cNvGrpSpPr/>
            <p:nvPr/>
          </p:nvGrpSpPr>
          <p:grpSpPr>
            <a:xfrm>
              <a:off x="8298862" y="1149813"/>
              <a:ext cx="2761304" cy="1409854"/>
              <a:chOff x="22283" y="0"/>
              <a:chExt cx="3437886" cy="1791823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E99FAD2A-FDB0-C34B-EC75-FD5AF188E0D1}"/>
                  </a:ext>
                </a:extLst>
              </p:cNvPr>
              <p:cNvGrpSpPr/>
              <p:nvPr/>
            </p:nvGrpSpPr>
            <p:grpSpPr>
              <a:xfrm>
                <a:off x="51777" y="0"/>
                <a:ext cx="3408392" cy="1791823"/>
                <a:chOff x="51777" y="0"/>
                <a:chExt cx="2968194" cy="1791823"/>
              </a:xfrm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9CC3229-60A0-3F62-9C43-9690AA6809C2}"/>
                    </a:ext>
                  </a:extLst>
                </p:cNvPr>
                <p:cNvSpPr/>
                <p:nvPr/>
              </p:nvSpPr>
              <p:spPr>
                <a:xfrm>
                  <a:off x="947127" y="0"/>
                  <a:ext cx="895350" cy="856183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defPPr>
                    <a:defRPr lang="en-US"/>
                  </a:defPPr>
                  <a:lvl1pPr marL="0" indent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4377B43E-D451-AFC6-0B89-2C2F547BCF97}"/>
                    </a:ext>
                  </a:extLst>
                </p:cNvPr>
                <p:cNvCxnSpPr>
                  <a:cxnSpLocks/>
                  <a:stCxn id="48" idx="1"/>
                  <a:endCxn id="48" idx="5"/>
                </p:cNvCxnSpPr>
                <p:nvPr/>
              </p:nvCxnSpPr>
              <p:spPr>
                <a:xfrm>
                  <a:off x="1078248" y="125385"/>
                  <a:ext cx="633108" cy="605413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5555A744-E864-934A-FDEF-8DBEE1650B32}"/>
                    </a:ext>
                  </a:extLst>
                </p:cNvPr>
                <p:cNvCxnSpPr>
                  <a:cxnSpLocks/>
                  <a:stCxn id="48" idx="3"/>
                  <a:endCxn id="48" idx="7"/>
                </p:cNvCxnSpPr>
                <p:nvPr/>
              </p:nvCxnSpPr>
              <p:spPr>
                <a:xfrm flipV="1">
                  <a:off x="1078248" y="125385"/>
                  <a:ext cx="633108" cy="605413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E53FBCCE-E2D0-BD16-B8B3-8853FCD18C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777" y="428092"/>
                  <a:ext cx="90297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CA1CB8AE-5E71-7954-B5BB-977DA65ED1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46287" y="428091"/>
                  <a:ext cx="117368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Flowchart: Connector 52">
                  <a:extLst>
                    <a:ext uri="{FF2B5EF4-FFF2-40B4-BE49-F238E27FC236}">
                      <a16:creationId xmlns:a16="http://schemas.microsoft.com/office/drawing/2014/main" id="{41D282AA-3417-E6F5-C689-F962B6193485}"/>
                    </a:ext>
                  </a:extLst>
                </p:cNvPr>
                <p:cNvSpPr/>
                <p:nvPr/>
              </p:nvSpPr>
              <p:spPr>
                <a:xfrm>
                  <a:off x="1187714" y="1426257"/>
                  <a:ext cx="423439" cy="365566"/>
                </a:xfrm>
                <a:prstGeom prst="flowChartConnector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76200" tIns="38100" rIns="76200" bIns="381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indent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15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1599D985-2DA3-9BA1-21AB-C1B2D784C5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94802" y="856183"/>
                  <a:ext cx="0" cy="49964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p14="http://schemas.microsoft.com/office/powerpoint/2010/main">
              <mc:Choice Requires="p14">
                <p:contentPart p14:bwMode="auto" r:id="rId3">
                  <p14:nvContentPartPr>
                    <p14:cNvPr id="55" name="Ink 54">
                      <a:extLst>
                        <a:ext uri="{FF2B5EF4-FFF2-40B4-BE49-F238E27FC236}">
                          <a16:creationId xmlns:a16="http://schemas.microsoft.com/office/drawing/2014/main" id="{8C68EA76-D392-218E-021A-91997D52746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321677" y="1549766"/>
                    <a:ext cx="173520" cy="152280"/>
                  </p14:xfrm>
                </p:contentPart>
              </mc:Choice>
              <mc:Fallback xmlns="">
                <p:pic>
                  <p:nvPicPr>
                    <p:cNvPr id="29" name="Ink 28">
                      <a:extLst>
                        <a:ext uri="{FF2B5EF4-FFF2-40B4-BE49-F238E27FC236}">
                          <a16:creationId xmlns:a16="http://schemas.microsoft.com/office/drawing/2014/main" id="{91073671-926B-AEAD-5926-5955070CD32C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1315033" y="1541992"/>
                      <a:ext cx="186808" cy="167828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AD663FF-E34E-28B7-6977-6BE3054A9184}"/>
                  </a:ext>
                </a:extLst>
              </p:cNvPr>
              <p:cNvSpPr/>
              <p:nvPr/>
            </p:nvSpPr>
            <p:spPr>
              <a:xfrm>
                <a:off x="22283" y="411713"/>
                <a:ext cx="1291590" cy="7772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Mixer</a:t>
                </a:r>
              </a:p>
            </p:txBody>
          </p:sp>
        </p:grpSp>
        <p:sp>
          <p:nvSpPr>
            <p:cNvPr id="45" name="TextBox 1">
              <a:extLst>
                <a:ext uri="{FF2B5EF4-FFF2-40B4-BE49-F238E27FC236}">
                  <a16:creationId xmlns:a16="http://schemas.microsoft.com/office/drawing/2014/main" id="{989D3D21-6B93-5EF0-DA92-D3610ADE968B}"/>
                </a:ext>
              </a:extLst>
            </p:cNvPr>
            <p:cNvSpPr txBox="1"/>
            <p:nvPr/>
          </p:nvSpPr>
          <p:spPr>
            <a:xfrm>
              <a:off x="9803026" y="2061657"/>
              <a:ext cx="1223682" cy="56477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</a:t>
              </a:r>
              <a:r>
                <a:rPr lang="en-US" sz="16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Oscillator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51EFAE7-03F8-D606-5845-754815024BB2}"/>
                  </a:ext>
                </a:extLst>
              </p:cNvPr>
              <p:cNvSpPr txBox="1"/>
              <p:nvPr/>
            </p:nvSpPr>
            <p:spPr>
              <a:xfrm>
                <a:off x="4560411" y="1931329"/>
                <a:ext cx="6874082" cy="37245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 convert a high-frequency RF signal (2.45 GHz) down to a lower IF signal for easier filtering or processing.</a:t>
                </a:r>
              </a:p>
              <a:p>
                <a:pPr marL="0" marR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It does this by multiplying the RF signal with a Local Oscillator (LO) signal:</a:t>
                </a:r>
              </a:p>
              <a:p>
                <a:pPr marL="0" marR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𝐼𝐹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)×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𝐿𝑂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1800" i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endParaRPr lang="en-US" sz="18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endParaRPr lang="en-US" sz="18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Because of trigonometric properties:</a:t>
                </a:r>
              </a:p>
              <a:p>
                <a:pPr marL="0" marR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cos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cos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𝐿𝑂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cos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𝐿𝑂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cos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𝐿𝑂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sz="1800" i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endParaRPr lang="en-US" sz="18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output contains sum and difference frequencies (IF = |RF – LO|).</a:t>
                </a: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51EFAE7-03F8-D606-5845-754815024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11" y="1931329"/>
                <a:ext cx="6874082" cy="3724546"/>
              </a:xfrm>
              <a:prstGeom prst="rect">
                <a:avLst/>
              </a:prstGeom>
              <a:blipFill>
                <a:blip r:embed="rId6"/>
                <a:stretch>
                  <a:fillRect l="-709" t="-491" r="-709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" name="Picture 56">
            <a:extLst>
              <a:ext uri="{FF2B5EF4-FFF2-40B4-BE49-F238E27FC236}">
                <a16:creationId xmlns:a16="http://schemas.microsoft.com/office/drawing/2014/main" id="{4915E92E-4CAB-232D-AC60-CB6687C75C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388" y="3682017"/>
            <a:ext cx="3429479" cy="21529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41CF70-15B6-2255-359A-0F7F9E2F059F}"/>
              </a:ext>
            </a:extLst>
          </p:cNvPr>
          <p:cNvSpPr/>
          <p:nvPr/>
        </p:nvSpPr>
        <p:spPr>
          <a:xfrm>
            <a:off x="4616840" y="1300361"/>
            <a:ext cx="1391920" cy="44357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b="1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Mixer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F235E0-3C2B-F7FF-91FA-09D35C40A63A}"/>
              </a:ext>
            </a:extLst>
          </p:cNvPr>
          <p:cNvGrpSpPr/>
          <p:nvPr/>
        </p:nvGrpSpPr>
        <p:grpSpPr>
          <a:xfrm>
            <a:off x="7172979" y="6086324"/>
            <a:ext cx="4808822" cy="657158"/>
            <a:chOff x="7172979" y="6086324"/>
            <a:chExt cx="4808822" cy="65715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5E0135F-8226-AAE2-EED5-3C4561E7580D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12CC55-469E-F404-536A-8C15F20B45A8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6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19" name="Picture 18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CC66B853-2749-6CDD-DA51-E76FF0F33B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A6FE19A-E2A3-3EFA-2A01-7E0142447E89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22" name="Freeform 4">
                  <a:extLst>
                    <a:ext uri="{FF2B5EF4-FFF2-40B4-BE49-F238E27FC236}">
                      <a16:creationId xmlns:a16="http://schemas.microsoft.com/office/drawing/2014/main" id="{D6157CA7-8C34-8975-4A63-060B0EB5D96B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6A6C1F1-6E68-F33F-1C19-0B0D184064D0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Suvom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Karmakar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021 221 027</a:t>
                  </a:r>
                </a:p>
              </p:txBody>
            </p:sp>
          </p:grp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6093AA2C-EB07-0F70-B2B6-6601161AC04C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</a:p>
            </p:txBody>
          </p:sp>
        </p:grpSp>
        <p:pic>
          <p:nvPicPr>
            <p:cNvPr id="17" name="Picture 16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DFE8FFF7-5156-5048-65EA-66A69990E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1217" r="14221"/>
            <a:stretch>
              <a:fillRect/>
            </a:stretch>
          </p:blipFill>
          <p:spPr>
            <a:xfrm flipH="1">
              <a:off x="7172979" y="6162716"/>
              <a:ext cx="510694" cy="514368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383794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5CC18-A9F6-D871-E8D6-71AA81A33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0F6AE9-D9FA-1CFB-67FE-40E280E9C4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5AA6F34-7772-E395-DB65-3C15EE670460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Mixer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12468A23-EC68-1B6F-1248-C07482D280D1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CDE778-0344-98A8-363C-4368E6D88358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2EDBFD1-D80D-C66C-2D7B-46D911892DDE}"/>
              </a:ext>
            </a:extLst>
          </p:cNvPr>
          <p:cNvGrpSpPr/>
          <p:nvPr/>
        </p:nvGrpSpPr>
        <p:grpSpPr>
          <a:xfrm>
            <a:off x="1025704" y="1628243"/>
            <a:ext cx="10140591" cy="4172085"/>
            <a:chOff x="543605" y="1507958"/>
            <a:chExt cx="10701586" cy="4562111"/>
          </a:xfrm>
        </p:grpSpPr>
        <p:sp>
          <p:nvSpPr>
            <p:cNvPr id="4" name="Content Placeholder 5">
              <a:extLst>
                <a:ext uri="{FF2B5EF4-FFF2-40B4-BE49-F238E27FC236}">
                  <a16:creationId xmlns:a16="http://schemas.microsoft.com/office/drawing/2014/main" id="{031CA664-BFFE-49B4-4F72-DCE440F2CDFA}"/>
                </a:ext>
              </a:extLst>
            </p:cNvPr>
            <p:cNvSpPr txBox="1">
              <a:spLocks/>
            </p:cNvSpPr>
            <p:nvPr/>
          </p:nvSpPr>
          <p:spPr>
            <a:xfrm>
              <a:off x="682470" y="1507958"/>
              <a:ext cx="9260661" cy="4413789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Picture 2" descr="A diagram of electrical wiring&#10;&#10;AI-generated content may be incorrect.">
              <a:extLst>
                <a:ext uri="{FF2B5EF4-FFF2-40B4-BE49-F238E27FC236}">
                  <a16:creationId xmlns:a16="http://schemas.microsoft.com/office/drawing/2014/main" id="{7F67A943-1B66-0198-CC3F-12A22980F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279" y="1634106"/>
              <a:ext cx="10546912" cy="4435963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C7A6F14-F5D5-55B1-03B8-39B2AAC4B09C}"/>
                </a:ext>
              </a:extLst>
            </p:cNvPr>
            <p:cNvSpPr/>
            <p:nvPr/>
          </p:nvSpPr>
          <p:spPr>
            <a:xfrm>
              <a:off x="543605" y="4266821"/>
              <a:ext cx="3827703" cy="731520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0D9453A-C7CF-2D6C-3296-1B682DD8CDF7}"/>
                </a:ext>
              </a:extLst>
            </p:cNvPr>
            <p:cNvSpPr/>
            <p:nvPr/>
          </p:nvSpPr>
          <p:spPr>
            <a:xfrm>
              <a:off x="820316" y="5122299"/>
              <a:ext cx="3414026" cy="634964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207DFC-6FFD-D618-8137-5E5F2EA0D3DD}"/>
                </a:ext>
              </a:extLst>
            </p:cNvPr>
            <p:cNvSpPr txBox="1"/>
            <p:nvPr/>
          </p:nvSpPr>
          <p:spPr>
            <a:xfrm>
              <a:off x="682470" y="3520751"/>
              <a:ext cx="779707" cy="403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A9BBA77-2FAC-C414-8735-2F03EF7C682E}"/>
                </a:ext>
              </a:extLst>
            </p:cNvPr>
            <p:cNvSpPr txBox="1"/>
            <p:nvPr/>
          </p:nvSpPr>
          <p:spPr>
            <a:xfrm>
              <a:off x="4286038" y="5552961"/>
              <a:ext cx="779707" cy="403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RF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93C95E8-594C-C604-E4F5-0E440F7DBFDC}"/>
                </a:ext>
              </a:extLst>
            </p:cNvPr>
            <p:cNvCxnSpPr>
              <a:cxnSpLocks/>
            </p:cNvCxnSpPr>
            <p:nvPr/>
          </p:nvCxnSpPr>
          <p:spPr>
            <a:xfrm>
              <a:off x="820316" y="3973881"/>
              <a:ext cx="277285" cy="369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A12D4ED-CB64-7A20-D8B5-6BE4CAA829D8}"/>
                </a:ext>
              </a:extLst>
            </p:cNvPr>
            <p:cNvCxnSpPr>
              <a:stCxn id="8" idx="1"/>
              <a:endCxn id="6" idx="5"/>
            </p:cNvCxnSpPr>
            <p:nvPr/>
          </p:nvCxnSpPr>
          <p:spPr>
            <a:xfrm flipH="1" flipV="1">
              <a:off x="3734369" y="5664275"/>
              <a:ext cx="551668" cy="906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6">
            <a:extLst>
              <a:ext uri="{FF2B5EF4-FFF2-40B4-BE49-F238E27FC236}">
                <a16:creationId xmlns:a16="http://schemas.microsoft.com/office/drawing/2014/main" id="{1129247F-5040-13E8-9ACB-C9C00C2D7C99}"/>
              </a:ext>
            </a:extLst>
          </p:cNvPr>
          <p:cNvSpPr txBox="1">
            <a:spLocks/>
          </p:cNvSpPr>
          <p:nvPr/>
        </p:nvSpPr>
        <p:spPr>
          <a:xfrm>
            <a:off x="661270" y="1168793"/>
            <a:ext cx="9152992" cy="7315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Gilbert Cell Circuit is Developed?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18AFFC6-4C87-5FBA-41B2-CB9359E94062}"/>
              </a:ext>
            </a:extLst>
          </p:cNvPr>
          <p:cNvGrpSpPr/>
          <p:nvPr/>
        </p:nvGrpSpPr>
        <p:grpSpPr>
          <a:xfrm>
            <a:off x="7172979" y="6086324"/>
            <a:ext cx="4808822" cy="657158"/>
            <a:chOff x="7172979" y="6086324"/>
            <a:chExt cx="4808822" cy="65715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B4330CF-A012-563B-61BE-536CFF8337E9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46F4C8-42BC-D2F7-6971-A1774E4AF575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6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28" name="Picture 27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B791FD8F-4952-D427-08DE-06077B87BB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CA48AE7-6A4F-912E-06C7-9599BE108A5D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31" name="Freeform 4">
                  <a:extLst>
                    <a:ext uri="{FF2B5EF4-FFF2-40B4-BE49-F238E27FC236}">
                      <a16:creationId xmlns:a16="http://schemas.microsoft.com/office/drawing/2014/main" id="{D9DDAE20-948B-AB06-7152-4A30F8D8192C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96CF6D2-036D-316A-4EF2-4AC2B53B663F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Suvom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Karmakar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021 221 027</a:t>
                  </a:r>
                </a:p>
              </p:txBody>
            </p:sp>
          </p:grp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D129FE93-9D09-B884-B8CA-2F4CC1D09328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</a:p>
            </p:txBody>
          </p:sp>
        </p:grpSp>
        <p:pic>
          <p:nvPicPr>
            <p:cNvPr id="26" name="Picture 25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67A4D659-724A-563D-9B4D-9FF440FD2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17" r="14221"/>
            <a:stretch>
              <a:fillRect/>
            </a:stretch>
          </p:blipFill>
          <p:spPr>
            <a:xfrm flipH="1">
              <a:off x="7172979" y="6162716"/>
              <a:ext cx="510694" cy="514368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551475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796E7-D1B2-0177-5CB7-599D1062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7A168F-73E9-3165-A0ED-73A11D082F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A18781E-4A88-0842-5ABB-A9FDA48E88AC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Mixer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2272F9BC-3833-ADD1-8585-F4881717CBFF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54D11F-0EFA-38F4-FD0E-10C9F3863AA3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FB39604-AD59-2D8A-573A-894394D8480F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516B5E7B-B100-A832-AF67-9ED64532A141}"/>
              </a:ext>
            </a:extLst>
          </p:cNvPr>
          <p:cNvSpPr txBox="1">
            <a:spLocks/>
          </p:cNvSpPr>
          <p:nvPr/>
        </p:nvSpPr>
        <p:spPr>
          <a:xfrm>
            <a:off x="592473" y="1158891"/>
            <a:ext cx="9152992" cy="7315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Calculation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6E09EAA-9791-94C2-852A-A659B67EB71D}"/>
              </a:ext>
            </a:extLst>
          </p:cNvPr>
          <p:cNvSpPr txBox="1">
            <a:spLocks/>
          </p:cNvSpPr>
          <p:nvPr/>
        </p:nvSpPr>
        <p:spPr>
          <a:xfrm>
            <a:off x="484804" y="1805156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18D6974-068B-13B5-69E4-668F109DF6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6634674"/>
                  </p:ext>
                </p:extLst>
              </p:nvPr>
            </p:nvGraphicFramePr>
            <p:xfrm>
              <a:off x="4538448" y="1624358"/>
              <a:ext cx="7536295" cy="4403817"/>
            </p:xfrm>
            <a:graphic>
              <a:graphicData uri="http://schemas.openxmlformats.org/drawingml/2006/table">
                <a:tbl>
                  <a:tblPr/>
                  <a:tblGrid>
                    <a:gridCol w="2231022">
                      <a:extLst>
                        <a:ext uri="{9D8B030D-6E8A-4147-A177-3AD203B41FA5}">
                          <a16:colId xmlns:a16="http://schemas.microsoft.com/office/drawing/2014/main" val="2753369210"/>
                        </a:ext>
                      </a:extLst>
                    </a:gridCol>
                    <a:gridCol w="2157511">
                      <a:extLst>
                        <a:ext uri="{9D8B030D-6E8A-4147-A177-3AD203B41FA5}">
                          <a16:colId xmlns:a16="http://schemas.microsoft.com/office/drawing/2014/main" val="3132673464"/>
                        </a:ext>
                      </a:extLst>
                    </a:gridCol>
                    <a:gridCol w="1391049">
                      <a:extLst>
                        <a:ext uri="{9D8B030D-6E8A-4147-A177-3AD203B41FA5}">
                          <a16:colId xmlns:a16="http://schemas.microsoft.com/office/drawing/2014/main" val="4239453562"/>
                        </a:ext>
                      </a:extLst>
                    </a:gridCol>
                    <a:gridCol w="1756713">
                      <a:extLst>
                        <a:ext uri="{9D8B030D-6E8A-4147-A177-3AD203B41FA5}">
                          <a16:colId xmlns:a16="http://schemas.microsoft.com/office/drawing/2014/main" val="2639507492"/>
                        </a:ext>
                      </a:extLst>
                    </a:gridCol>
                  </a:tblGrid>
                  <a:tr h="278089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FFFFF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Type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35685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FFFFF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35685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>
                              <a:solidFill>
                                <a:srgbClr val="FFFFF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35685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>
                              <a:solidFill>
                                <a:srgbClr val="FFFFF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Units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35685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607397"/>
                      </a:ext>
                    </a:extLst>
                  </a:tr>
                  <a:tr h="409816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Bias Current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𝑏𝑖𝑎𝑠</m:t>
                                    </m:r>
                                  </m:sub>
                                </m:sSub>
                                <m:r>
                                  <a:rPr lang="en-US" sz="1400" i="1" dirty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=</m:t>
                                </m:r>
                                <m:f>
                                  <m:fPr>
                                    <m:ctrlPr>
                                      <a:rPr lang="en-US" sz="1400" i="1" dirty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 dirty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1.25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</a:t>
                          </a:r>
                          <a:endParaRPr lang="el-GR" sz="1400" b="0" dirty="0">
                            <a:solidFill>
                              <a:srgbClr val="434343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6705240"/>
                      </a:ext>
                    </a:extLst>
                  </a:tr>
                  <a:tr h="4880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per Branch 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=</m:t>
                                </m:r>
                                <m:f>
                                  <m:fPr>
                                    <m:ctrlPr>
                                      <a:rPr lang="en-US" sz="1400" b="0" i="1" dirty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err="1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err="1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𝑏𝑖𝑎𝑠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400" b="0" i="1" dirty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​​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0.625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0968211"/>
                      </a:ext>
                    </a:extLst>
                  </a:tr>
                  <a:tr h="4580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Transconductance 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=</m:t>
                                </m:r>
                                <m:f>
                                  <m:f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b="0" i="1" dirty="0" smtClean="0">
                                                <a:solidFill>
                                                  <a:srgbClr val="434343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 dirty="0" smtClean="0">
                                                <a:solidFill>
                                                  <a:srgbClr val="434343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dirty="0" smtClean="0">
                                                <a:solidFill>
                                                  <a:srgbClr val="434343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𝑣</m:t>
                                            </m:r>
                                          </m:sub>
                                        </m:sSub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∗</m:t>
                                        </m:r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2∗</m:t>
                                    </m:r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err="1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err="1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𝑙𝑜𝑎𝑑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400" b="0" dirty="0">
                            <a:solidFill>
                              <a:srgbClr val="434343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15.708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mS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3293311"/>
                      </a:ext>
                    </a:extLst>
                  </a:tr>
                  <a:tr h="42539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Rf Overdrive Voltage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𝑜𝑣</m:t>
                                    </m:r>
                                  </m:sub>
                                </m:sSub>
                                <m:r>
                                  <a:rPr lang="en-US" sz="1400" b="0" i="1" dirty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=2∗</m:t>
                                </m:r>
                                <m:f>
                                  <m:fPr>
                                    <m:ctrlPr>
                                      <a:rPr lang="en-US" sz="1400" b="0" i="1" dirty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400" b="0" dirty="0">
                            <a:solidFill>
                              <a:srgbClr val="434343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mV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4680029"/>
                      </a:ext>
                    </a:extLst>
                  </a:tr>
                  <a:tr h="4546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RF Stage (M1, M2) Sizing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r>
                                  <a:rPr lang="en-US" sz="1400" b="0" i="1" dirty="0" smtClean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2∗</m:t>
                                    </m:r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𝑒𝑓𝑓</m:t>
                                        </m:r>
                                      </m:sub>
                                    </m:sSub>
                                    <m:r>
                                      <a:rPr lang="en-US" sz="1400" b="0" i="1" dirty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∗</m:t>
                                    </m:r>
                                    <m:sSubSup>
                                      <m:sSubSup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b="0" i="1" dirty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𝑜𝑣</m:t>
                                        </m:r>
                                      </m:sub>
                                      <m:sup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oMath>
                            </m:oMathPara>
                          </a14:m>
                          <a:endParaRPr lang="en-US" sz="1400" b="0" dirty="0">
                            <a:solidFill>
                              <a:srgbClr val="434343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528.6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3139810"/>
                      </a:ext>
                    </a:extLst>
                  </a:tr>
                  <a:tr h="4159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 Source Voltage</a:t>
                          </a:r>
                        </a:p>
                        <a:p>
                          <a:pPr algn="ctr" rtl="0" fontAlgn="ctr">
                            <a:buNone/>
                          </a:pPr>
                          <a:endParaRPr lang="en-US" sz="1400" b="0" dirty="0">
                            <a:solidFill>
                              <a:srgbClr val="434343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𝐿𝑜</m:t>
                                    </m:r>
                                  </m:sub>
                                </m:sSub>
                                <m:r>
                                  <a:rPr lang="en-US" sz="1400" b="0" i="1" dirty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1400" b="0" i="1" dirty="0" err="1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𝑉𝑐</m:t>
                                </m:r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err="1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400" b="0" i="1" dirty="0" err="1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𝑟𝑓</m:t>
                                    </m:r>
                                  </m:sub>
                                </m:sSub>
                                <m:r>
                                  <a:rPr lang="en-US" sz="1400" b="0" i="1" dirty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dirty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𝑡h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dirty="0">
                            <a:solidFill>
                              <a:srgbClr val="434343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0.405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4506616"/>
                      </a:ext>
                    </a:extLst>
                  </a:tr>
                  <a:tr h="4098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 Overdrive Voltage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𝑜𝑣</m:t>
                                    </m:r>
                                  </m:sub>
                                </m:sSub>
                                <m:r>
                                  <a:rPr lang="en-US" sz="1400" b="0" i="1" dirty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1400" b="0" i="1" dirty="0" err="1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𝑉𝑐</m:t>
                                </m:r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err="1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400" b="0" i="1" dirty="0" err="1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𝑙𝑜</m:t>
                                    </m:r>
                                  </m:sub>
                                </m:sSub>
                                <m:r>
                                  <a:rPr lang="en-US" sz="1400" b="0" i="1" dirty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1400" b="0" i="1" dirty="0" err="1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err="1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400" b="0" i="1" dirty="0" err="1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𝐿𝑜</m:t>
                                    </m:r>
                                  </m:sub>
                                </m:sSub>
                                <m:r>
                                  <a:rPr lang="en-US" sz="1400" b="0" i="1" dirty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dirty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𝑡h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dirty="0">
                            <a:solidFill>
                              <a:srgbClr val="434343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899678"/>
                      </a:ext>
                    </a:extLst>
                  </a:tr>
                  <a:tr h="45462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 Stage Sizing </a:t>
                          </a:r>
                        </a:p>
                        <a:p>
                          <a:pPr algn="ctr"/>
                          <a:endParaRPr lang="en-US"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r>
                                  <a:rPr lang="en-US" sz="1400" b="0" i="1" dirty="0" smtClean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2∗</m:t>
                                    </m:r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𝑒𝑓𝑓</m:t>
                                        </m:r>
                                      </m:sub>
                                    </m:sSub>
                                    <m:r>
                                      <a:rPr lang="en-US" sz="1400" b="0" i="1" dirty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∗</m:t>
                                    </m:r>
                                    <m:sSubSup>
                                      <m:sSubSup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b="0" i="1" dirty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𝑜𝑣</m:t>
                                        </m:r>
                                      </m:sub>
                                      <m:sup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oMath>
                            </m:oMathPara>
                          </a14:m>
                          <a:endParaRPr lang="en-US" sz="1400" b="0" dirty="0">
                            <a:solidFill>
                              <a:srgbClr val="434343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345.3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6770354"/>
                      </a:ext>
                    </a:extLst>
                  </a:tr>
                  <a:tr h="45462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Tail Sizing </a:t>
                          </a:r>
                        </a:p>
                        <a:p>
                          <a:pPr algn="ctr"/>
                          <a:endParaRPr lang="en-US"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r>
                                  <a:rPr lang="en-US" sz="1400" b="0" i="1" dirty="0" smtClean="0">
                                    <a:solidFill>
                                      <a:srgbClr val="434343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dirty="0" smtClean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2∗</m:t>
                                    </m:r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𝑒𝑓𝑓</m:t>
                                        </m:r>
                                      </m:sub>
                                    </m:sSub>
                                    <m:r>
                                      <a:rPr lang="en-US" sz="1400" b="0" i="1" dirty="0">
                                        <a:solidFill>
                                          <a:srgbClr val="43434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∗</m:t>
                                    </m:r>
                                    <m:sSubSup>
                                      <m:sSubSup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b="0" i="1" dirty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𝑜𝑣</m:t>
                                        </m:r>
                                      </m:sub>
                                      <m:sup>
                                        <m:r>
                                          <a:rPr lang="en-US" sz="1400" b="0" i="1" dirty="0" smtClean="0">
                                            <a:solidFill>
                                              <a:srgbClr val="434343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oMath>
                            </m:oMathPara>
                          </a14:m>
                          <a:endParaRPr lang="en-US" sz="1400" b="0" dirty="0">
                            <a:solidFill>
                              <a:srgbClr val="434343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83.6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90853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18D6974-068B-13B5-69E4-668F109DF6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6634674"/>
                  </p:ext>
                </p:extLst>
              </p:nvPr>
            </p:nvGraphicFramePr>
            <p:xfrm>
              <a:off x="4538448" y="1624358"/>
              <a:ext cx="7536295" cy="4403817"/>
            </p:xfrm>
            <a:graphic>
              <a:graphicData uri="http://schemas.openxmlformats.org/drawingml/2006/table">
                <a:tbl>
                  <a:tblPr/>
                  <a:tblGrid>
                    <a:gridCol w="2231022">
                      <a:extLst>
                        <a:ext uri="{9D8B030D-6E8A-4147-A177-3AD203B41FA5}">
                          <a16:colId xmlns:a16="http://schemas.microsoft.com/office/drawing/2014/main" val="2753369210"/>
                        </a:ext>
                      </a:extLst>
                    </a:gridCol>
                    <a:gridCol w="2157511">
                      <a:extLst>
                        <a:ext uri="{9D8B030D-6E8A-4147-A177-3AD203B41FA5}">
                          <a16:colId xmlns:a16="http://schemas.microsoft.com/office/drawing/2014/main" val="3132673464"/>
                        </a:ext>
                      </a:extLst>
                    </a:gridCol>
                    <a:gridCol w="1391049">
                      <a:extLst>
                        <a:ext uri="{9D8B030D-6E8A-4147-A177-3AD203B41FA5}">
                          <a16:colId xmlns:a16="http://schemas.microsoft.com/office/drawing/2014/main" val="4239453562"/>
                        </a:ext>
                      </a:extLst>
                    </a:gridCol>
                    <a:gridCol w="1756713">
                      <a:extLst>
                        <a:ext uri="{9D8B030D-6E8A-4147-A177-3AD203B41FA5}">
                          <a16:colId xmlns:a16="http://schemas.microsoft.com/office/drawing/2014/main" val="2639507492"/>
                        </a:ext>
                      </a:extLst>
                    </a:gridCol>
                  </a:tblGrid>
                  <a:tr h="278089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FFFFF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Type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35685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FFFFF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35685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>
                              <a:solidFill>
                                <a:srgbClr val="FFFFF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35685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>
                              <a:solidFill>
                                <a:srgbClr val="FFFFFF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Units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35685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607397"/>
                      </a:ext>
                    </a:extLst>
                  </a:tr>
                  <a:tr h="414074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Bias Current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672" t="-72059" r="-146610" b="-9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1.25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</a:t>
                          </a:r>
                          <a:endParaRPr lang="el-GR" sz="1400" b="0" dirty="0">
                            <a:solidFill>
                              <a:srgbClr val="434343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6705240"/>
                      </a:ext>
                    </a:extLst>
                  </a:tr>
                  <a:tr h="4880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Current per Branch 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672" t="-146250" r="-146610" b="-67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0.625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0968211"/>
                      </a:ext>
                    </a:extLst>
                  </a:tr>
                  <a:tr h="4661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Transconductance 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672" t="-259211" r="-146610" b="-6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15.708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mS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3293311"/>
                      </a:ext>
                    </a:extLst>
                  </a:tr>
                  <a:tr h="45287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Rf Overdrive Voltage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672" t="-364000" r="-146610" b="-5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mV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4680029"/>
                      </a:ext>
                    </a:extLst>
                  </a:tr>
                  <a:tr h="4839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RF Stage (M1, M2) Sizing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672" t="-440506" r="-146610" b="-3873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528.6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3139810"/>
                      </a:ext>
                    </a:extLst>
                  </a:tr>
                  <a:tr h="44277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 Source Voltage</a:t>
                          </a:r>
                        </a:p>
                        <a:p>
                          <a:pPr algn="ctr" rtl="0" fontAlgn="ctr">
                            <a:buNone/>
                          </a:pPr>
                          <a:endParaRPr lang="en-US" sz="1400" b="0" dirty="0">
                            <a:solidFill>
                              <a:srgbClr val="434343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672" t="-584932" r="-146610" b="-3191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0.405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4506616"/>
                      </a:ext>
                    </a:extLst>
                  </a:tr>
                  <a:tr h="4098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 Overdrive Voltage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672" t="-746269" r="-146610" b="-2477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899678"/>
                      </a:ext>
                    </a:extLst>
                  </a:tr>
                  <a:tr h="48398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 Stage Sizing </a:t>
                          </a:r>
                        </a:p>
                        <a:p>
                          <a:pPr algn="ctr"/>
                          <a:endParaRPr lang="en-US"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672" t="-708750" r="-146610" b="-10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345.3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6770354"/>
                      </a:ext>
                    </a:extLst>
                  </a:tr>
                  <a:tr h="48398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Tail Sizing </a:t>
                          </a:r>
                        </a:p>
                        <a:p>
                          <a:pPr algn="ctr"/>
                          <a:endParaRPr lang="en-US"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672" t="-818987" r="-146610" b="-88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83.6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400" b="0" dirty="0">
                              <a:solidFill>
                                <a:srgbClr val="434343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32113" marR="32113" marT="8028" marB="8028" anchor="ctr">
                        <a:lnL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284E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908537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7F8F8252-DE13-3E12-D56E-FA579A5F0E67}"/>
              </a:ext>
            </a:extLst>
          </p:cNvPr>
          <p:cNvGrpSpPr/>
          <p:nvPr/>
        </p:nvGrpSpPr>
        <p:grpSpPr>
          <a:xfrm>
            <a:off x="7172979" y="6086324"/>
            <a:ext cx="4808822" cy="657158"/>
            <a:chOff x="7172979" y="6086324"/>
            <a:chExt cx="4808822" cy="65715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C96817A-AFD6-FC01-66EA-6A9C7E788F81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29AB172-5B6E-4864-1D98-B988A5045C8C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6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24" name="Picture 23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58233639-DA08-0290-C06D-DCBAE229FA2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C6744CB6-A417-F3C8-DA69-560585F0A902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27" name="Freeform 4">
                  <a:extLst>
                    <a:ext uri="{FF2B5EF4-FFF2-40B4-BE49-F238E27FC236}">
                      <a16:creationId xmlns:a16="http://schemas.microsoft.com/office/drawing/2014/main" id="{D15CADC7-1A21-4FB7-F9DD-F0BF669866F4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62834F9-7850-71C0-00B6-71B70CAC7539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Suvom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Karmakar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021 221 027</a:t>
                  </a:r>
                </a:p>
              </p:txBody>
            </p:sp>
          </p:grp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89099CE1-A6F5-7C70-78C6-2B811EB9B8E5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</a:p>
            </p:txBody>
          </p:sp>
        </p:grpSp>
        <p:pic>
          <p:nvPicPr>
            <p:cNvPr id="22" name="Picture 21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C5CF1267-91A5-1956-AC48-CD5446305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217" r="14221"/>
            <a:stretch>
              <a:fillRect/>
            </a:stretch>
          </p:blipFill>
          <p:spPr>
            <a:xfrm flipH="1">
              <a:off x="7172979" y="6162716"/>
              <a:ext cx="510694" cy="514368"/>
            </a:xfrm>
            <a:prstGeom prst="round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D4288E84-63AA-3320-4F0E-756A4F5291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6220372"/>
                  </p:ext>
                </p:extLst>
              </p:nvPr>
            </p:nvGraphicFramePr>
            <p:xfrm>
              <a:off x="706758" y="1624358"/>
              <a:ext cx="3535453" cy="4403814"/>
            </p:xfrm>
            <a:graphic>
              <a:graphicData uri="http://schemas.openxmlformats.org/drawingml/2006/table">
                <a:tbl>
                  <a:tblPr/>
                  <a:tblGrid>
                    <a:gridCol w="1908330">
                      <a:extLst>
                        <a:ext uri="{9D8B030D-6E8A-4147-A177-3AD203B41FA5}">
                          <a16:colId xmlns:a16="http://schemas.microsoft.com/office/drawing/2014/main" val="766919429"/>
                        </a:ext>
                      </a:extLst>
                    </a:gridCol>
                    <a:gridCol w="1627123">
                      <a:extLst>
                        <a:ext uri="{9D8B030D-6E8A-4147-A177-3AD203B41FA5}">
                          <a16:colId xmlns:a16="http://schemas.microsoft.com/office/drawing/2014/main" val="3186396304"/>
                        </a:ext>
                      </a:extLst>
                    </a:gridCol>
                  </a:tblGrid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 Parameter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Specification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4F81B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19851"/>
                      </a:ext>
                    </a:extLst>
                  </a:tr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Supply voltage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1.2 V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98141062"/>
                      </a:ext>
                    </a:extLst>
                  </a:tr>
                  <a:tr h="8158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Power Consumption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&lt;2.5 </a:t>
                          </a:r>
                          <a:r>
                            <a:rPr lang="en-US" sz="14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mW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entury" panose="020406040505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83025209"/>
                      </a:ext>
                    </a:extLst>
                  </a:tr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RF frequency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2.45 GHz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8416113"/>
                      </a:ext>
                    </a:extLst>
                  </a:tr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Lo Frequency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2.43Ghz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01192090"/>
                      </a:ext>
                    </a:extLst>
                  </a:tr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Conversion Gain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&gt;10 dB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65461929"/>
                      </a:ext>
                    </a:extLst>
                  </a:tr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Load Resistance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sz="14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𝑜h𝑚</m:t>
                                </m:r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75238080"/>
                      </a:ext>
                    </a:extLst>
                  </a:tr>
                  <a:tr h="63970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𝑒𝑓𝑓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362</m:t>
                                    </m:r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𝑢𝐴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400" b="0" i="1" u="none" strike="noStrike" dirty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0" i="1" u="none" strike="noStrike" dirty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  <m:sup>
                                        <m:r>
                                          <a:rPr lang="en-US" sz="1400" b="0" i="1" u="none" strike="noStrike" dirty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5428016"/>
                      </a:ext>
                    </a:extLst>
                  </a:tr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u="none" strike="noStrike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𝑡h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355mV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22699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D4288E84-63AA-3320-4F0E-756A4F5291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6220372"/>
                  </p:ext>
                </p:extLst>
              </p:nvPr>
            </p:nvGraphicFramePr>
            <p:xfrm>
              <a:off x="706758" y="1624358"/>
              <a:ext cx="3535453" cy="4403814"/>
            </p:xfrm>
            <a:graphic>
              <a:graphicData uri="http://schemas.openxmlformats.org/drawingml/2006/table">
                <a:tbl>
                  <a:tblPr/>
                  <a:tblGrid>
                    <a:gridCol w="1908330">
                      <a:extLst>
                        <a:ext uri="{9D8B030D-6E8A-4147-A177-3AD203B41FA5}">
                          <a16:colId xmlns:a16="http://schemas.microsoft.com/office/drawing/2014/main" val="766919429"/>
                        </a:ext>
                      </a:extLst>
                    </a:gridCol>
                    <a:gridCol w="1627123">
                      <a:extLst>
                        <a:ext uri="{9D8B030D-6E8A-4147-A177-3AD203B41FA5}">
                          <a16:colId xmlns:a16="http://schemas.microsoft.com/office/drawing/2014/main" val="3186396304"/>
                        </a:ext>
                      </a:extLst>
                    </a:gridCol>
                  </a:tblGrid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 Parameter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Specification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4F81B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19851"/>
                      </a:ext>
                    </a:extLst>
                  </a:tr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Supply voltage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1.2 V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98141062"/>
                      </a:ext>
                    </a:extLst>
                  </a:tr>
                  <a:tr h="8158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Power Consumption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&lt;2.5 </a:t>
                          </a:r>
                          <a:r>
                            <a:rPr lang="en-US" sz="14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mW</a:t>
                          </a:r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entury" panose="020406040505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83025209"/>
                      </a:ext>
                    </a:extLst>
                  </a:tr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RF frequency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2.45 GHz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8416113"/>
                      </a:ext>
                    </a:extLst>
                  </a:tr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Lo Frequency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2.43Ghz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01192090"/>
                      </a:ext>
                    </a:extLst>
                  </a:tr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Conversion Gain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entury" panose="02040604050505020304" pitchFamily="18" charset="0"/>
                              <a:cs typeface="Times New Roman" panose="02020603050405020304" pitchFamily="18" charset="0"/>
                            </a:rPr>
                            <a:t>&gt;10 dB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65461929"/>
                      </a:ext>
                    </a:extLst>
                  </a:tr>
                  <a:tr h="42118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Load Resistance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17603" t="-697101" r="-375" b="-2536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5238080"/>
                      </a:ext>
                    </a:extLst>
                  </a:tr>
                  <a:tr h="639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523810" r="-85350" b="-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17603" t="-523810" r="-375" b="-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5428016"/>
                      </a:ext>
                    </a:extLst>
                  </a:tr>
                  <a:tr h="421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949275" r="-85350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355mV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22699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77960500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0E47F-E22E-E6C4-6DFA-471BFC74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8A0787F-0100-B599-165E-61C5A3A822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20BB806-85E5-7865-4C80-84604B728F55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Mixer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3420DF96-DA20-E2B7-E1F1-635E3775B51F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9BDF66-38F0-81CE-761B-20283B695937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B9AEF74-4A72-A3B4-B6B4-EDC3BDD0856F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8AF3CB-0303-2BA8-2CDD-0CEE2A2644E7}"/>
              </a:ext>
            </a:extLst>
          </p:cNvPr>
          <p:cNvGrpSpPr/>
          <p:nvPr/>
        </p:nvGrpSpPr>
        <p:grpSpPr>
          <a:xfrm>
            <a:off x="7172979" y="6086324"/>
            <a:ext cx="4808822" cy="657158"/>
            <a:chOff x="7172979" y="6086324"/>
            <a:chExt cx="4808822" cy="6571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B911E66-F8B3-09CA-9F5F-04ED5DD4880C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8E7404-0E54-C302-0D83-0C80635256B8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6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20" name="Picture 19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73DA2EB2-6F4B-456F-7F44-11A239EF96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1DD0CB3-286F-4A7E-B141-DE93E6FC2C5A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23" name="Freeform 4">
                  <a:extLst>
                    <a:ext uri="{FF2B5EF4-FFF2-40B4-BE49-F238E27FC236}">
                      <a16:creationId xmlns:a16="http://schemas.microsoft.com/office/drawing/2014/main" id="{6F78417E-1711-DE0B-CEA1-CD493E856FD1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9D538E4-2733-866B-AE48-204FB0B1628F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Suvom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Karmakar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021 221 027</a:t>
                  </a:r>
                </a:p>
              </p:txBody>
            </p:sp>
          </p:grp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21DAA2D1-5D2B-BAB8-7905-5CD8015F7B07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</a:t>
                </a:r>
              </a:p>
            </p:txBody>
          </p:sp>
        </p:grpSp>
        <p:pic>
          <p:nvPicPr>
            <p:cNvPr id="18" name="Picture 17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18141768-FB68-6FF0-290B-8FB889716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217" r="14221"/>
            <a:stretch>
              <a:fillRect/>
            </a:stretch>
          </p:blipFill>
          <p:spPr>
            <a:xfrm flipH="1">
              <a:off x="7172979" y="6162716"/>
              <a:ext cx="510694" cy="514368"/>
            </a:xfrm>
            <a:prstGeom prst="roundRect">
              <a:avLst/>
            </a:prstGeom>
          </p:spPr>
        </p:pic>
      </p:grpSp>
      <p:pic>
        <p:nvPicPr>
          <p:cNvPr id="26" name="Picture 25" descr="A diagram of a circuit">
            <a:extLst>
              <a:ext uri="{FF2B5EF4-FFF2-40B4-BE49-F238E27FC236}">
                <a16:creationId xmlns:a16="http://schemas.microsoft.com/office/drawing/2014/main" id="{ED97BD1A-A14C-C7E7-697C-509032065B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160" y="1483561"/>
            <a:ext cx="9036457" cy="4302816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C930588-3FAE-094F-F52C-33FCB1B635B7}"/>
              </a:ext>
            </a:extLst>
          </p:cNvPr>
          <p:cNvSpPr/>
          <p:nvPr/>
        </p:nvSpPr>
        <p:spPr>
          <a:xfrm>
            <a:off x="3900496" y="1112235"/>
            <a:ext cx="4391005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Schematic Diagram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32F8E3F-35CE-5F21-55B0-98803DF2568F}"/>
              </a:ext>
            </a:extLst>
          </p:cNvPr>
          <p:cNvGrpSpPr/>
          <p:nvPr/>
        </p:nvGrpSpPr>
        <p:grpSpPr>
          <a:xfrm>
            <a:off x="1835715" y="5818764"/>
            <a:ext cx="3660006" cy="505357"/>
            <a:chOff x="768274" y="4750391"/>
            <a:chExt cx="3355525" cy="505357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3648DEF9-99D8-CBC1-946A-945DE0904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8274" y="4750391"/>
              <a:ext cx="505357" cy="50535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6A0CD5E-8B47-46BE-B3CC-D39035FA9346}"/>
                    </a:ext>
                  </a:extLst>
                </p:cNvPr>
                <p:cNvSpPr txBox="1"/>
                <p:nvPr/>
              </p:nvSpPr>
              <p:spPr>
                <a:xfrm>
                  <a:off x="1358787" y="4848674"/>
                  <a:ext cx="276501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Power Consumption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2.51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𝑚𝑊</m:t>
                      </m:r>
                    </m:oMath>
                  </a14:m>
                  <a:endPara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6A0CD5E-8B47-46BE-B3CC-D39035FA93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8787" y="4848674"/>
                  <a:ext cx="2765012" cy="338554"/>
                </a:xfrm>
                <a:prstGeom prst="rect">
                  <a:avLst/>
                </a:prstGeom>
                <a:blipFill>
                  <a:blip r:embed="rId7"/>
                  <a:stretch>
                    <a:fillRect l="-1212" t="-545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3753350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4FF5F-D059-DEBE-5B5B-FD58EE7B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CE2E95-ACE4-52D2-EA34-7DCF4AD290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98BA2A3-8775-9565-2BE9-7F5505880C00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Mixer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FE034719-D8FE-8805-5343-6894711760F7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795683-CD6F-553D-8B3E-7C525B523EFA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7DAFAAF-A007-756E-1637-02486655D991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DEFA0341-0926-DF4D-EBD4-1CA8790C6031}"/>
              </a:ext>
            </a:extLst>
          </p:cNvPr>
          <p:cNvSpPr txBox="1">
            <a:spLocks/>
          </p:cNvSpPr>
          <p:nvPr/>
        </p:nvSpPr>
        <p:spPr>
          <a:xfrm>
            <a:off x="658173" y="1075008"/>
            <a:ext cx="9152992" cy="7315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DCC8801-31B2-6EF6-3119-5D1EFC3181FE}"/>
              </a:ext>
            </a:extLst>
          </p:cNvPr>
          <p:cNvSpPr txBox="1">
            <a:spLocks/>
          </p:cNvSpPr>
          <p:nvPr/>
        </p:nvSpPr>
        <p:spPr>
          <a:xfrm>
            <a:off x="865350" y="1624657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1E253-C619-83D8-FE75-1601CDF167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6" t="25596" r="1354" b="25494"/>
          <a:stretch>
            <a:fillRect/>
          </a:stretch>
        </p:blipFill>
        <p:spPr>
          <a:xfrm>
            <a:off x="1195232" y="3860598"/>
            <a:ext cx="10016615" cy="153346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F29C62B4-29EA-2504-572F-E60084A85AAF}"/>
              </a:ext>
            </a:extLst>
          </p:cNvPr>
          <p:cNvGrpSpPr/>
          <p:nvPr/>
        </p:nvGrpSpPr>
        <p:grpSpPr>
          <a:xfrm>
            <a:off x="7172979" y="6086324"/>
            <a:ext cx="4808822" cy="657158"/>
            <a:chOff x="7172979" y="6086324"/>
            <a:chExt cx="4808822" cy="65715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5F41153-1F20-AC53-B854-3411076966C1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4252F7D-E439-7E52-DE66-74EA65176D5F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6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33" name="Picture 32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4CCBF619-9096-BED4-ED94-E326AB3FC6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B1A4A552-2F68-A895-53CE-3C78E4ADBA33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36" name="Freeform 4">
                  <a:extLst>
                    <a:ext uri="{FF2B5EF4-FFF2-40B4-BE49-F238E27FC236}">
                      <a16:creationId xmlns:a16="http://schemas.microsoft.com/office/drawing/2014/main" id="{F1012582-8E71-F723-D722-30E301054B06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0E9364E-F8C1-8668-1E02-C0D3D569CBED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Suvom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Karmakar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021 221 027</a:t>
                  </a:r>
                </a:p>
              </p:txBody>
            </p:sp>
          </p:grp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685615D6-1269-EC49-F751-5FA71C720C65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</p:txBody>
          </p:sp>
        </p:grpSp>
        <p:pic>
          <p:nvPicPr>
            <p:cNvPr id="31" name="Picture 30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13728052-8F5A-2C78-3A04-6CF468E9F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17" r="14221"/>
            <a:stretch>
              <a:fillRect/>
            </a:stretch>
          </p:blipFill>
          <p:spPr>
            <a:xfrm flipH="1">
              <a:off x="7172979" y="6162716"/>
              <a:ext cx="510694" cy="514368"/>
            </a:xfrm>
            <a:prstGeom prst="round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B89D613-AEA2-D25A-2A76-CEC1BEFAD00F}"/>
              </a:ext>
            </a:extLst>
          </p:cNvPr>
          <p:cNvGrpSpPr/>
          <p:nvPr/>
        </p:nvGrpSpPr>
        <p:grpSpPr>
          <a:xfrm>
            <a:off x="1195232" y="1296899"/>
            <a:ext cx="10016615" cy="2553742"/>
            <a:chOff x="1178560" y="1337488"/>
            <a:chExt cx="9356950" cy="222502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99BE097-CDAB-9DA6-EEF5-003A2C434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541" t="12277" r="17860" b="39238"/>
            <a:stretch>
              <a:fillRect/>
            </a:stretch>
          </p:blipFill>
          <p:spPr>
            <a:xfrm>
              <a:off x="1178560" y="1337488"/>
              <a:ext cx="9356950" cy="1466672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DECEBEC-09B9-4B39-A9BC-138BC056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541" t="75077" r="17860" b="-145"/>
            <a:stretch>
              <a:fillRect/>
            </a:stretch>
          </p:blipFill>
          <p:spPr>
            <a:xfrm>
              <a:off x="1178560" y="2804160"/>
              <a:ext cx="9356950" cy="758352"/>
            </a:xfrm>
            <a:prstGeom prst="rect">
              <a:avLst/>
            </a:prstGeom>
          </p:spPr>
        </p:pic>
      </p:grp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BCF63BB-C0D7-E08C-6213-8DE12D9FAA0A}"/>
              </a:ext>
            </a:extLst>
          </p:cNvPr>
          <p:cNvSpPr/>
          <p:nvPr/>
        </p:nvSpPr>
        <p:spPr>
          <a:xfrm>
            <a:off x="4355326" y="903383"/>
            <a:ext cx="4391005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Transient Analysis</a:t>
            </a:r>
            <a:endParaRPr lang="en-US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AB07367-C5D0-4A24-CB4C-DA7DD5218A3E}"/>
              </a:ext>
            </a:extLst>
          </p:cNvPr>
          <p:cNvSpPr/>
          <p:nvPr/>
        </p:nvSpPr>
        <p:spPr>
          <a:xfrm>
            <a:off x="1199611" y="5559393"/>
            <a:ext cx="3752688" cy="44719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= 15.34 dB</a:t>
            </a:r>
          </a:p>
        </p:txBody>
      </p:sp>
    </p:spTree>
    <p:extLst>
      <p:ext uri="{BB962C8B-B14F-4D97-AF65-F5344CB8AC3E}">
        <p14:creationId xmlns:p14="http://schemas.microsoft.com/office/powerpoint/2010/main" val="2769846109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305D0-A0D7-0EA2-C0F8-3F9A6F75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716169-807D-350D-FE44-AA4015FE87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181DB38-5C6D-103F-EBFA-CF97B4D35CD7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Low Noise Amplifier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92914F65-3DAA-2D2D-861D-666792C45A70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B586F1-8067-F6D3-12E5-EEEDEC93ECA9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6D2D9FB-333F-CF97-D55C-EDE0D2FD4E74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86B8C130-4201-4277-2CA0-DFD27478D2CB}"/>
              </a:ext>
            </a:extLst>
          </p:cNvPr>
          <p:cNvSpPr txBox="1">
            <a:spLocks/>
          </p:cNvSpPr>
          <p:nvPr/>
        </p:nvSpPr>
        <p:spPr>
          <a:xfrm>
            <a:off x="597006" y="1344387"/>
            <a:ext cx="9152992" cy="7315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Description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C414B04-728A-EFAF-6711-9C9F995B6DF9}"/>
              </a:ext>
            </a:extLst>
          </p:cNvPr>
          <p:cNvSpPr txBox="1">
            <a:spLocks/>
          </p:cNvSpPr>
          <p:nvPr/>
        </p:nvSpPr>
        <p:spPr>
          <a:xfrm>
            <a:off x="875343" y="1691847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A4D89B7-8A02-3811-F795-9673B1F36C48}"/>
              </a:ext>
            </a:extLst>
          </p:cNvPr>
          <p:cNvGrpSpPr/>
          <p:nvPr/>
        </p:nvGrpSpPr>
        <p:grpSpPr>
          <a:xfrm>
            <a:off x="875343" y="2386962"/>
            <a:ext cx="3375660" cy="981567"/>
            <a:chOff x="0" y="0"/>
            <a:chExt cx="3070860" cy="1003082"/>
          </a:xfrm>
          <a:noFill/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A4265E85-6070-835B-746E-59EDAF1BC0A3}"/>
                </a:ext>
              </a:extLst>
            </p:cNvPr>
            <p:cNvSpPr/>
            <p:nvPr/>
          </p:nvSpPr>
          <p:spPr>
            <a:xfrm rot="5400000">
              <a:off x="1031985" y="-130919"/>
              <a:ext cx="1003082" cy="1264920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defPPr>
                <a:defRPr lang="en-US"/>
              </a:defPPr>
              <a:lvl1pPr marL="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931FC57-96F8-5D3C-F583-FA5D4FA7D02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71943"/>
              <a:ext cx="902970" cy="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5222AD0-C2C3-C444-DD31-3543ABF70EFA}"/>
                </a:ext>
              </a:extLst>
            </p:cNvPr>
            <p:cNvCxnSpPr>
              <a:cxnSpLocks/>
            </p:cNvCxnSpPr>
            <p:nvPr/>
          </p:nvCxnSpPr>
          <p:spPr>
            <a:xfrm>
              <a:off x="2167890" y="494803"/>
              <a:ext cx="902970" cy="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37">
              <a:extLst>
                <a:ext uri="{FF2B5EF4-FFF2-40B4-BE49-F238E27FC236}">
                  <a16:creationId xmlns:a16="http://schemas.microsoft.com/office/drawing/2014/main" id="{20E6AEC0-C867-0502-C3BA-5F9CF686200E}"/>
                </a:ext>
              </a:extLst>
            </p:cNvPr>
            <p:cNvSpPr txBox="1"/>
            <p:nvPr/>
          </p:nvSpPr>
          <p:spPr>
            <a:xfrm>
              <a:off x="154305" y="102611"/>
              <a:ext cx="594360" cy="37742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in</a:t>
              </a:r>
            </a:p>
          </p:txBody>
        </p:sp>
        <p:sp>
          <p:nvSpPr>
            <p:cNvPr id="14" name="TextBox 38">
              <a:extLst>
                <a:ext uri="{FF2B5EF4-FFF2-40B4-BE49-F238E27FC236}">
                  <a16:creationId xmlns:a16="http://schemas.microsoft.com/office/drawing/2014/main" id="{B9410CE4-1A5D-804E-144A-C753E7D572CF}"/>
                </a:ext>
              </a:extLst>
            </p:cNvPr>
            <p:cNvSpPr txBox="1"/>
            <p:nvPr/>
          </p:nvSpPr>
          <p:spPr>
            <a:xfrm>
              <a:off x="2322195" y="102611"/>
              <a:ext cx="594360" cy="37742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  <p:sp>
          <p:nvSpPr>
            <p:cNvPr id="15" name="Text Box 19">
              <a:extLst>
                <a:ext uri="{FF2B5EF4-FFF2-40B4-BE49-F238E27FC236}">
                  <a16:creationId xmlns:a16="http://schemas.microsoft.com/office/drawing/2014/main" id="{25C0FA48-6664-4C5B-4264-8EAA15E716DC}"/>
                </a:ext>
              </a:extLst>
            </p:cNvPr>
            <p:cNvSpPr txBox="1"/>
            <p:nvPr/>
          </p:nvSpPr>
          <p:spPr>
            <a:xfrm>
              <a:off x="1013460" y="292385"/>
              <a:ext cx="740748" cy="35911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square" lIns="76200" tIns="38100" rIns="76200" bIns="381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5000"/>
                </a:lnSpc>
                <a:spcAft>
                  <a:spcPts val="667"/>
                </a:spcAft>
              </a:pPr>
              <a:r>
                <a:rPr lang="en-US" sz="2000" b="1" kern="100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LNA</a:t>
              </a:r>
              <a:endParaRPr lang="en-US" sz="1667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4">
            <a:extLst>
              <a:ext uri="{FF2B5EF4-FFF2-40B4-BE49-F238E27FC236}">
                <a16:creationId xmlns:a16="http://schemas.microsoft.com/office/drawing/2014/main" id="{F91C0394-72BF-3C64-1D72-60A39C2A8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70" y="3778946"/>
            <a:ext cx="386383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LNA amplifies the weak received signal with minimal noise.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1215BF1-36C6-DFAA-3D00-0863F983D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334672"/>
              </p:ext>
            </p:extLst>
          </p:nvPr>
        </p:nvGraphicFramePr>
        <p:xfrm>
          <a:off x="6049448" y="2075907"/>
          <a:ext cx="5267209" cy="2903368"/>
        </p:xfrm>
        <a:graphic>
          <a:graphicData uri="http://schemas.openxmlformats.org/drawingml/2006/table">
            <a:tbl>
              <a:tblPr/>
              <a:tblGrid>
                <a:gridCol w="2890185">
                  <a:extLst>
                    <a:ext uri="{9D8B030D-6E8A-4147-A177-3AD203B41FA5}">
                      <a16:colId xmlns:a16="http://schemas.microsoft.com/office/drawing/2014/main" val="3602675001"/>
                    </a:ext>
                  </a:extLst>
                </a:gridCol>
                <a:gridCol w="2377024">
                  <a:extLst>
                    <a:ext uri="{9D8B030D-6E8A-4147-A177-3AD203B41FA5}">
                      <a16:colId xmlns:a16="http://schemas.microsoft.com/office/drawing/2014/main" val="3804843438"/>
                    </a:ext>
                  </a:extLst>
                </a:gridCol>
              </a:tblGrid>
              <a:tr h="27245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61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Noise Amplifier (LNA) Specification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260380"/>
                  </a:ext>
                </a:extLst>
              </a:tr>
              <a:tr h="1873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33061"/>
                  </a:ext>
                </a:extLst>
              </a:tr>
              <a:tr h="2327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 voltage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 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344761"/>
                  </a:ext>
                </a:extLst>
              </a:tr>
              <a:tr h="2156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Consumption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2mW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971742"/>
                  </a:ext>
                </a:extLst>
              </a:tr>
              <a:tr h="2156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2.45 GHz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615846"/>
                  </a:ext>
                </a:extLst>
              </a:tr>
              <a:tr h="204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 (50 </a:t>
                      </a: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3dB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34509"/>
                  </a:ext>
                </a:extLst>
              </a:tr>
              <a:tr h="204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15 - 20 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694862"/>
                  </a:ext>
                </a:extLst>
              </a:tr>
              <a:tr h="2440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S11(Input Return Loss)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347152"/>
                  </a:ext>
                </a:extLst>
              </a:tr>
              <a:tr h="2884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S22(Output Return Loss)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716178"/>
                  </a:ext>
                </a:extLst>
              </a:tr>
              <a:tr h="2979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S21(Forward Gain)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15dB - 20dB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371727"/>
                  </a:ext>
                </a:extLst>
              </a:tr>
              <a:tr h="2842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S12(Reverse Isolation)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-25dB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700836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F953813C-824B-28CA-9C88-976564096A96}"/>
              </a:ext>
            </a:extLst>
          </p:cNvPr>
          <p:cNvGrpSpPr/>
          <p:nvPr/>
        </p:nvGrpSpPr>
        <p:grpSpPr>
          <a:xfrm>
            <a:off x="7172979" y="6086324"/>
            <a:ext cx="4808822" cy="657158"/>
            <a:chOff x="7172979" y="6086324"/>
            <a:chExt cx="4808822" cy="6571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AAEF6AC-2611-F8D0-161A-A2D2705E9917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14B30EE-6AB1-4745-AB5D-526FC23129D7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6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30" name="Picture 29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1881C499-E52A-7C45-EEE0-0B78AD9BC9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80C197EB-CF0C-4C77-A6A1-E064943F7488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33" name="Freeform 4">
                  <a:extLst>
                    <a:ext uri="{FF2B5EF4-FFF2-40B4-BE49-F238E27FC236}">
                      <a16:creationId xmlns:a16="http://schemas.microsoft.com/office/drawing/2014/main" id="{86DBD589-344A-726F-9952-52FDA99681C0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8708DEE-F686-90AC-0D90-F407B3BE61BC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Suvom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Karmakar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021 221 027</a:t>
                  </a:r>
                </a:p>
              </p:txBody>
            </p:sp>
          </p:grp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F940A107-C20D-B997-7A22-3F15663F0BEC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</a:p>
            </p:txBody>
          </p:sp>
        </p:grpSp>
        <p:pic>
          <p:nvPicPr>
            <p:cNvPr id="28" name="Picture 27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6882CD19-9853-3AC0-471C-E3FD0799B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217" r="14221"/>
            <a:stretch>
              <a:fillRect/>
            </a:stretch>
          </p:blipFill>
          <p:spPr>
            <a:xfrm flipH="1">
              <a:off x="7172979" y="6162716"/>
              <a:ext cx="510694" cy="514368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2689875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DF6C-887B-7B46-654A-7A6A31379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652339-960F-370C-1ECB-149FF3FEF9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21E2012-CEA7-3231-7578-362AB3837F03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Low Noise Amplifier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480C877-B4A9-7E0E-D07F-DE8DB0EA5E8D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5B4037-9368-2C47-233A-B1887BE1A48F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B6451B6-01A3-FC07-5517-28AC68D78B46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52CC34EA-21A0-B956-EA79-D40BEEF1E082}"/>
              </a:ext>
            </a:extLst>
          </p:cNvPr>
          <p:cNvSpPr txBox="1">
            <a:spLocks/>
          </p:cNvSpPr>
          <p:nvPr/>
        </p:nvSpPr>
        <p:spPr>
          <a:xfrm>
            <a:off x="636750" y="1796980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9EBEF5-04C4-08AC-1EAB-E4F744374B76}"/>
                  </a:ext>
                </a:extLst>
              </p:cNvPr>
              <p:cNvSpPr txBox="1"/>
              <p:nvPr/>
            </p:nvSpPr>
            <p:spPr>
              <a:xfrm>
                <a:off x="616206" y="1705635"/>
                <a:ext cx="8728071" cy="824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impedance,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𝐿𝑔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𝑔𝑠𝑡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𝑔𝑠𝑡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9EBEF5-04C4-08AC-1EAB-E4F744374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06" y="1705635"/>
                <a:ext cx="8728071" cy="824585"/>
              </a:xfrm>
              <a:prstGeom prst="rect">
                <a:avLst/>
              </a:prstGeom>
              <a:blipFill>
                <a:blip r:embed="rId3"/>
                <a:stretch>
                  <a:fillRect l="-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82B9BE9C-0B28-930F-C6AC-4C69693718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5282943"/>
                  </p:ext>
                </p:extLst>
              </p:nvPr>
            </p:nvGraphicFramePr>
            <p:xfrm>
              <a:off x="682470" y="3981007"/>
              <a:ext cx="10971848" cy="1948180"/>
            </p:xfrm>
            <a:graphic>
              <a:graphicData uri="http://schemas.openxmlformats.org/drawingml/2006/table">
                <a:tbl>
                  <a:tblPr/>
                  <a:tblGrid>
                    <a:gridCol w="4240776">
                      <a:extLst>
                        <a:ext uri="{9D8B030D-6E8A-4147-A177-3AD203B41FA5}">
                          <a16:colId xmlns:a16="http://schemas.microsoft.com/office/drawing/2014/main" val="934346490"/>
                        </a:ext>
                      </a:extLst>
                    </a:gridCol>
                    <a:gridCol w="6731072">
                      <a:extLst>
                        <a:ext uri="{9D8B030D-6E8A-4147-A177-3AD203B41FA5}">
                          <a16:colId xmlns:a16="http://schemas.microsoft.com/office/drawing/2014/main" val="364524168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en-US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64219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Supply Voltage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VDD = 1.2 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42600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Transistor Length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 = 180 nm (Minimum length: 45 nm, set to 4 times minimum)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930973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Threshold Voltage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0.32 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394238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Electron Mobility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l-G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μ</a:t>
                          </a:r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220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sSup>
                                    <m:sSupPr>
                                      <m:ctrlPr>
                                        <a:rPr lang="en-US" sz="140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sz="140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.</m:t>
                                  </m:r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oMath>
                          </a14:m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792422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Gate Oxide Thickness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𝑜𝑥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1.8 nm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430165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82B9BE9C-0B28-930F-C6AC-4C69693718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5282943"/>
                  </p:ext>
                </p:extLst>
              </p:nvPr>
            </p:nvGraphicFramePr>
            <p:xfrm>
              <a:off x="682470" y="3981007"/>
              <a:ext cx="10971848" cy="1948180"/>
            </p:xfrm>
            <a:graphic>
              <a:graphicData uri="http://schemas.openxmlformats.org/drawingml/2006/table">
                <a:tbl>
                  <a:tblPr/>
                  <a:tblGrid>
                    <a:gridCol w="4240776">
                      <a:extLst>
                        <a:ext uri="{9D8B030D-6E8A-4147-A177-3AD203B41FA5}">
                          <a16:colId xmlns:a16="http://schemas.microsoft.com/office/drawing/2014/main" val="934346490"/>
                        </a:ext>
                      </a:extLst>
                    </a:gridCol>
                    <a:gridCol w="6731072">
                      <a:extLst>
                        <a:ext uri="{9D8B030D-6E8A-4147-A177-3AD203B41FA5}">
                          <a16:colId xmlns:a16="http://schemas.microsoft.com/office/drawing/2014/main" val="364524168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  <a:endParaRPr lang="en-US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642198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Supply Voltage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VDD = 1.2 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426008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Transistor Length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 = 180 nm (Minimum length: 45 nm, set to 4 times minimum)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930973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Threshold Voltage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3077" t="-304000" r="-181" b="-2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9423805"/>
                      </a:ext>
                    </a:extLst>
                  </a:tr>
                  <a:tr h="4241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Electron Mobility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3077" t="-288571" r="-181" b="-8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924225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Gate Oxide Thickness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3077" t="-544000" r="-181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30165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Rectangle 8">
            <a:extLst>
              <a:ext uri="{FF2B5EF4-FFF2-40B4-BE49-F238E27FC236}">
                <a16:creationId xmlns:a16="http://schemas.microsoft.com/office/drawing/2014/main" id="{1EF7F429-3B62-738A-7DB8-1D8CEAC6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10" y="3548460"/>
            <a:ext cx="50577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transistor parameters in 45 nm technology are,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F124AAD-AAE1-A653-B768-DEE2E99CB410}"/>
                  </a:ext>
                </a:extLst>
              </p:cNvPr>
              <p:cNvSpPr txBox="1"/>
              <p:nvPr/>
            </p:nvSpPr>
            <p:spPr>
              <a:xfrm>
                <a:off x="245278" y="2255260"/>
                <a:ext cx="3832710" cy="645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𝑔𝑠𝑡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F124AAD-AAE1-A653-B768-DEE2E99CB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78" y="2255260"/>
                <a:ext cx="3832710" cy="6451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5AA65B-98DC-9D46-EE73-D19AD44F1E95}"/>
                  </a:ext>
                </a:extLst>
              </p:cNvPr>
              <p:cNvSpPr txBox="1"/>
              <p:nvPr/>
            </p:nvSpPr>
            <p:spPr>
              <a:xfrm>
                <a:off x="616206" y="2922196"/>
                <a:ext cx="3832710" cy="54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𝑔𝑠𝑡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5AA65B-98DC-9D46-EE73-D19AD44F1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06" y="2922196"/>
                <a:ext cx="3832710" cy="547586"/>
              </a:xfrm>
              <a:prstGeom prst="rect">
                <a:avLst/>
              </a:prstGeom>
              <a:blipFill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2505C89B-3D99-2C50-826D-83E6E0FC4075}"/>
              </a:ext>
            </a:extLst>
          </p:cNvPr>
          <p:cNvGrpSpPr/>
          <p:nvPr/>
        </p:nvGrpSpPr>
        <p:grpSpPr>
          <a:xfrm>
            <a:off x="7172979" y="6086324"/>
            <a:ext cx="4808822" cy="657158"/>
            <a:chOff x="7172979" y="6086324"/>
            <a:chExt cx="4808822" cy="6571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0FCD424-523A-36D1-7278-CAA0AEA842A6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AE7382-2E08-D03E-39CE-A6176C501346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6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8" name="Picture 7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5B5C3B79-67C4-2567-C5ED-011BB762BA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98FF100-5E61-2EE8-B66B-3523778A7F20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11" name="Freeform 4">
                  <a:extLst>
                    <a:ext uri="{FF2B5EF4-FFF2-40B4-BE49-F238E27FC236}">
                      <a16:creationId xmlns:a16="http://schemas.microsoft.com/office/drawing/2014/main" id="{F5F0EA3E-3C46-ED1D-08A1-94F69EF0B035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7F7AB1D-3822-129A-92BD-56D634267095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Suvom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Karmakar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021 221 027</a:t>
                  </a:r>
                </a:p>
              </p:txBody>
            </p:sp>
          </p:grp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02121DC-7160-9B57-F4E2-47B76CC476EA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</a:p>
            </p:txBody>
          </p:sp>
        </p:grpSp>
        <p:pic>
          <p:nvPicPr>
            <p:cNvPr id="6" name="Picture 5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3CCC51A8-E899-11AF-A486-5104C91F2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217" r="14221"/>
            <a:stretch>
              <a:fillRect/>
            </a:stretch>
          </p:blipFill>
          <p:spPr>
            <a:xfrm flipH="1">
              <a:off x="7172979" y="6162716"/>
              <a:ext cx="510694" cy="514368"/>
            </a:xfrm>
            <a:prstGeom prst="round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8F4D539-F36D-CDE0-9F77-56A7792D2E15}"/>
              </a:ext>
            </a:extLst>
          </p:cNvPr>
          <p:cNvSpPr txBox="1"/>
          <p:nvPr/>
        </p:nvSpPr>
        <p:spPr>
          <a:xfrm>
            <a:off x="574910" y="12256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Theoretical Background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484005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FF6E9-6FA2-7DA6-5D2C-299026C9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EF48D7-2FEA-C0AE-D4DD-0AD7814EDE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BC0143F-3112-A362-2D37-178812455D5A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Low Noise Amplifier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81BDE14-957F-3A17-1302-2FCA4FEADE40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5D4467-C15F-B309-F1B3-3B493C532EE1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9A6C234-6D5E-7EC8-D37B-0E9FD597C35D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FD9532D7-FABC-CEF7-4CE7-2695D1161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200"/>
          <a:stretch>
            <a:fillRect/>
          </a:stretch>
        </p:blipFill>
        <p:spPr>
          <a:xfrm>
            <a:off x="288019" y="2117188"/>
            <a:ext cx="6211103" cy="2923900"/>
          </a:xfrm>
          <a:prstGeom prst="rect">
            <a:avLst/>
          </a:prstGeom>
        </p:spPr>
      </p:pic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C87FC33-916A-AC63-43E6-709E5E2F1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08" b="20705"/>
          <a:stretch>
            <a:fillRect/>
          </a:stretch>
        </p:blipFill>
        <p:spPr>
          <a:xfrm>
            <a:off x="6418479" y="2117187"/>
            <a:ext cx="5450746" cy="1611070"/>
          </a:xfrm>
          <a:prstGeom prst="rect">
            <a:avLst/>
          </a:prstGeom>
        </p:spPr>
      </p:pic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A220892-64EA-861A-38F5-3D2DFDD0D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83" b="2156"/>
          <a:stretch>
            <a:fillRect/>
          </a:stretch>
        </p:blipFill>
        <p:spPr>
          <a:xfrm>
            <a:off x="6418478" y="3728257"/>
            <a:ext cx="5450746" cy="131987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5BD8FF0-C183-6414-3A5A-16B17E6F18B3}"/>
              </a:ext>
            </a:extLst>
          </p:cNvPr>
          <p:cNvGrpSpPr/>
          <p:nvPr/>
        </p:nvGrpSpPr>
        <p:grpSpPr>
          <a:xfrm>
            <a:off x="7172979" y="6086324"/>
            <a:ext cx="4808822" cy="657158"/>
            <a:chOff x="7172979" y="6086324"/>
            <a:chExt cx="4808822" cy="65715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A77B8E9-DF9B-1ECB-E03F-7BB32B44B355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490B283-AFC0-0E8B-5C60-2EFAF9E0FD24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6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22" name="Picture 21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BD43772C-9E18-A7E8-951A-21725ED823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9F6752B-A265-F465-F8CA-3BF8B5B8B224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25" name="Freeform 4">
                  <a:extLst>
                    <a:ext uri="{FF2B5EF4-FFF2-40B4-BE49-F238E27FC236}">
                      <a16:creationId xmlns:a16="http://schemas.microsoft.com/office/drawing/2014/main" id="{DA5DCDC0-A135-4AC8-9C17-AA9373913961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9259172-2ECF-20A4-7D5F-9055E0C69CCA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Suvom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Karmakar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021 221 027</a:t>
                  </a:r>
                </a:p>
              </p:txBody>
            </p:sp>
          </p:grp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24BCD7A-E2D8-21C0-EA18-FBE1E6A21AF8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23</a:t>
                </a:r>
              </a:p>
            </p:txBody>
          </p:sp>
        </p:grpSp>
        <p:pic>
          <p:nvPicPr>
            <p:cNvPr id="20" name="Picture 19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B04949F4-7BC9-8210-5DA6-08097A8A8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17" r="14221"/>
            <a:stretch>
              <a:fillRect/>
            </a:stretch>
          </p:blipFill>
          <p:spPr>
            <a:xfrm flipH="1">
              <a:off x="7172979" y="6162716"/>
              <a:ext cx="510694" cy="514368"/>
            </a:xfrm>
            <a:prstGeom prst="round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0484DA0-4470-4262-1E57-1F53FFB21D7B}"/>
              </a:ext>
            </a:extLst>
          </p:cNvPr>
          <p:cNvSpPr txBox="1"/>
          <p:nvPr/>
        </p:nvSpPr>
        <p:spPr>
          <a:xfrm>
            <a:off x="237067" y="161251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Calculation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9401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0E43F-CD3D-4927-5169-F012B102E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3816EE-D735-01A5-25B7-93D902EAA7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E07E233-2C42-01EB-C0ED-B5001AD6899C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Low Noise Amplifier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16844DA5-9BBE-6E54-B7D7-763B9F2F5884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CA1A02-2443-6A1B-C6AE-6141BC9F5C6D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D89BF0F-3CC8-ADD4-5C6D-05433EAA2EF9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E7BA2AB-9B97-91CE-0B6E-50E56F9A2A5C}"/>
              </a:ext>
            </a:extLst>
          </p:cNvPr>
          <p:cNvSpPr txBox="1">
            <a:spLocks/>
          </p:cNvSpPr>
          <p:nvPr/>
        </p:nvSpPr>
        <p:spPr>
          <a:xfrm>
            <a:off x="699848" y="1702555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4D8A03-0B40-FCAB-C655-3102DA005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3"/>
          <a:stretch>
            <a:fillRect/>
          </a:stretch>
        </p:blipFill>
        <p:spPr>
          <a:xfrm>
            <a:off x="2248870" y="1427664"/>
            <a:ext cx="8040014" cy="434920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855F1BF-6B3D-E8F0-EEA3-2BA2D09CED33}"/>
              </a:ext>
            </a:extLst>
          </p:cNvPr>
          <p:cNvGrpSpPr/>
          <p:nvPr/>
        </p:nvGrpSpPr>
        <p:grpSpPr>
          <a:xfrm>
            <a:off x="7172979" y="6086324"/>
            <a:ext cx="4808822" cy="657158"/>
            <a:chOff x="7172979" y="6086324"/>
            <a:chExt cx="4808822" cy="6571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2C6836A-B1AC-4663-4627-B34DD90A0538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5F2FCF-1DED-C0E8-4312-FD9898AE4455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6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8" name="Picture 7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A0453F63-087D-2A1A-6534-530374F143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C1EE225-D2FD-7852-47B8-F8428E0DFD65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25" name="Freeform 4">
                  <a:extLst>
                    <a:ext uri="{FF2B5EF4-FFF2-40B4-BE49-F238E27FC236}">
                      <a16:creationId xmlns:a16="http://schemas.microsoft.com/office/drawing/2014/main" id="{61893973-7EAE-619F-7E76-89C9625A22F2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C937F7E-25FD-95C9-B2AE-6585A5A473F1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Suvom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Karmakar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021 221 027</a:t>
                  </a:r>
                </a:p>
              </p:txBody>
            </p:sp>
          </p:grp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6461B400-3C29-3E6A-3E37-4486EDD5D1DA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24</a:t>
                </a:r>
              </a:p>
            </p:txBody>
          </p:sp>
        </p:grpSp>
        <p:pic>
          <p:nvPicPr>
            <p:cNvPr id="6" name="Picture 5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FABA6754-E87E-29C5-0AC1-C2383418F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17" r="14221"/>
            <a:stretch>
              <a:fillRect/>
            </a:stretch>
          </p:blipFill>
          <p:spPr>
            <a:xfrm flipH="1">
              <a:off x="7172979" y="6162716"/>
              <a:ext cx="510694" cy="514368"/>
            </a:xfrm>
            <a:prstGeom prst="roundRect">
              <a:avLst/>
            </a:prstGeom>
          </p:spPr>
        </p:pic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99705E0-D655-24B8-5DD0-55DECB7DF653}"/>
              </a:ext>
            </a:extLst>
          </p:cNvPr>
          <p:cNvSpPr/>
          <p:nvPr/>
        </p:nvSpPr>
        <p:spPr>
          <a:xfrm>
            <a:off x="4345167" y="1074317"/>
            <a:ext cx="4158754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Schematic Design</a:t>
            </a:r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7D7FA91-4186-BF3B-42D9-B07FD6D55763}"/>
              </a:ext>
            </a:extLst>
          </p:cNvPr>
          <p:cNvGrpSpPr/>
          <p:nvPr/>
        </p:nvGrpSpPr>
        <p:grpSpPr>
          <a:xfrm>
            <a:off x="2188852" y="5888677"/>
            <a:ext cx="3336366" cy="584775"/>
            <a:chOff x="768274" y="4750391"/>
            <a:chExt cx="3336366" cy="58477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ECD4C3-7230-591E-4076-8B2466CAA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8274" y="4750391"/>
              <a:ext cx="571354" cy="57135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CA40AFC-6C49-8FDD-44FC-8E5658EE419A}"/>
                    </a:ext>
                  </a:extLst>
                </p:cNvPr>
                <p:cNvSpPr txBox="1"/>
                <p:nvPr/>
              </p:nvSpPr>
              <p:spPr>
                <a:xfrm>
                  <a:off x="1339628" y="4750391"/>
                  <a:ext cx="276501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Power Consumption </a:t>
                  </a:r>
                </a:p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81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82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𝑚𝑊</m:t>
                      </m:r>
                    </m:oMath>
                  </a14:m>
                  <a:endPara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CA40AFC-6C49-8FDD-44FC-8E5658EE4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9628" y="4750391"/>
                  <a:ext cx="2765012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1325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49085698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47496-696C-AA68-FFEF-E173EA6F9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F708886-F549-1815-66C2-EABC06C434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97EE4DA-6C8B-29BF-77CD-AE8C8FB625C9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Low Noise Amplifier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87C29D11-7064-1E76-2B55-ED0AD5B823BC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A14847-C7AB-1FAC-54F3-D18BCA804AE1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E940B63-3BB4-5300-E8DE-278432D51DB0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8BE410F-C2B7-DDA0-4A75-0A02699CD2B5}"/>
              </a:ext>
            </a:extLst>
          </p:cNvPr>
          <p:cNvSpPr txBox="1">
            <a:spLocks/>
          </p:cNvSpPr>
          <p:nvPr/>
        </p:nvSpPr>
        <p:spPr>
          <a:xfrm>
            <a:off x="849781" y="1707940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E9E302-16B7-1983-913B-E1FFB40F531B}"/>
              </a:ext>
            </a:extLst>
          </p:cNvPr>
          <p:cNvGrpSpPr/>
          <p:nvPr/>
        </p:nvGrpSpPr>
        <p:grpSpPr>
          <a:xfrm>
            <a:off x="7172979" y="6086324"/>
            <a:ext cx="4808822" cy="657158"/>
            <a:chOff x="7172979" y="6086324"/>
            <a:chExt cx="4808822" cy="65715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D620007-F484-CE89-EC72-7F84A7D718E7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98CFF9-A479-B365-70A7-33EFA8C9255E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6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23" name="Picture 22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8D07F0DA-6F6C-2006-26F2-15C6939E03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4FBCDE2-60FF-8BF3-4416-0346042C739B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26" name="Freeform 4">
                  <a:extLst>
                    <a:ext uri="{FF2B5EF4-FFF2-40B4-BE49-F238E27FC236}">
                      <a16:creationId xmlns:a16="http://schemas.microsoft.com/office/drawing/2014/main" id="{47189279-363F-DE00-F8F5-90D62209D639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69B6189-7613-C736-256A-5999E8DE674F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Suvom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Karmakar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021 221 027</a:t>
                  </a:r>
                </a:p>
              </p:txBody>
            </p:sp>
          </p:grp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55BCC8B7-7EE1-6A61-B691-8DA6D5BAFE99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</a:t>
                </a:r>
              </a:p>
            </p:txBody>
          </p:sp>
        </p:grpSp>
        <p:pic>
          <p:nvPicPr>
            <p:cNvPr id="21" name="Picture 20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B193F366-FBA1-3A70-BFC4-70E36C150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217" r="14221"/>
            <a:stretch>
              <a:fillRect/>
            </a:stretch>
          </p:blipFill>
          <p:spPr>
            <a:xfrm flipH="1">
              <a:off x="7172979" y="6162716"/>
              <a:ext cx="510694" cy="514368"/>
            </a:xfrm>
            <a:prstGeom prst="round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F6D9EA2D-FD1B-D18C-0E50-1EAEC992BA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0"/>
          <a:stretch>
            <a:fillRect/>
          </a:stretch>
        </p:blipFill>
        <p:spPr>
          <a:xfrm>
            <a:off x="370970" y="2093141"/>
            <a:ext cx="5465052" cy="321008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04E1D68-2A5A-8D13-C04F-98A8E9EC0A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545" y="2071662"/>
            <a:ext cx="5651724" cy="3255938"/>
          </a:xfrm>
          <a:prstGeom prst="rect">
            <a:avLst/>
          </a:prstGeom>
          <a:noFill/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B7F39BD-4ADD-9F5B-ABE8-853910FC5886}"/>
              </a:ext>
            </a:extLst>
          </p:cNvPr>
          <p:cNvSpPr/>
          <p:nvPr/>
        </p:nvSpPr>
        <p:spPr>
          <a:xfrm>
            <a:off x="370971" y="1631023"/>
            <a:ext cx="5465052" cy="3358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 Analysis</a:t>
            </a:r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AC68C82-3F36-812D-02C4-2EBB1E33ACEE}"/>
              </a:ext>
            </a:extLst>
          </p:cNvPr>
          <p:cNvSpPr/>
          <p:nvPr/>
        </p:nvSpPr>
        <p:spPr>
          <a:xfrm>
            <a:off x="6228545" y="1631024"/>
            <a:ext cx="5651724" cy="31774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Stability Factor &amp; NF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103040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A702-AA7D-C369-4BB8-C7DCB13C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AD3334-EE4B-CD3D-6B2A-BEE4BAEB53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9B32292-7675-D4E6-50F0-05FD03978363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Low Noise Amplifier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6447C55E-809B-B503-FF5B-5AE3B3C34E6C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8EBACD-A172-7320-F449-4B61DD90A280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6C8AFD3-53FF-5892-5F25-D3746C276D09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03952DB-436B-061B-F99C-848FD83D207C}"/>
              </a:ext>
            </a:extLst>
          </p:cNvPr>
          <p:cNvSpPr txBox="1">
            <a:spLocks/>
          </p:cNvSpPr>
          <p:nvPr/>
        </p:nvSpPr>
        <p:spPr>
          <a:xfrm>
            <a:off x="788878" y="161950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E8BF5B-3B7B-EC8B-844A-28F3F758F57C}"/>
              </a:ext>
            </a:extLst>
          </p:cNvPr>
          <p:cNvGrpSpPr/>
          <p:nvPr/>
        </p:nvGrpSpPr>
        <p:grpSpPr>
          <a:xfrm>
            <a:off x="7172979" y="6086324"/>
            <a:ext cx="4808822" cy="657158"/>
            <a:chOff x="7172979" y="6086324"/>
            <a:chExt cx="4808822" cy="6571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5044E6-EDBB-25F4-BCAC-26A6601BBBD8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15A2D3-70A4-DAFE-A138-DA18B95A208C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6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8" name="Picture 7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1112016E-6C8A-F446-B46E-42107F62CC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D2E8F9F-BCDC-D88E-4AC2-B6F4277CE135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28" name="Freeform 4">
                  <a:extLst>
                    <a:ext uri="{FF2B5EF4-FFF2-40B4-BE49-F238E27FC236}">
                      <a16:creationId xmlns:a16="http://schemas.microsoft.com/office/drawing/2014/main" id="{5EA9CD20-DCFB-AE9B-85E5-45CC94A852BA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248B111-379E-8000-B01D-71148D937381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Suvom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Karmakar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021 221 027</a:t>
                  </a:r>
                </a:p>
              </p:txBody>
            </p:sp>
          </p:grp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786406B4-E473-5C3B-3C35-C1DAF3C87C3F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26</a:t>
                </a:r>
              </a:p>
            </p:txBody>
          </p:sp>
        </p:grpSp>
        <p:pic>
          <p:nvPicPr>
            <p:cNvPr id="6" name="Picture 5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3811FB67-EBCA-697E-959C-74EBC27DA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217" r="14221"/>
            <a:stretch>
              <a:fillRect/>
            </a:stretch>
          </p:blipFill>
          <p:spPr>
            <a:xfrm flipH="1">
              <a:off x="7172979" y="6162716"/>
              <a:ext cx="510694" cy="514368"/>
            </a:xfrm>
            <a:prstGeom prst="round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9C84543C-0755-F3B3-6043-F0A16D55C0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5609" y="1764580"/>
            <a:ext cx="4786575" cy="36675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B6BBD4-6D4B-4024-0106-84EAB8930714}"/>
                  </a:ext>
                </a:extLst>
              </p:cNvPr>
              <p:cNvSpPr txBox="1"/>
              <p:nvPr/>
            </p:nvSpPr>
            <p:spPr>
              <a:xfrm>
                <a:off x="581581" y="5529487"/>
                <a:ext cx="3895675" cy="5127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49.541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48.414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477.318−461.314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b="0" dirty="0">
                  <a:latin typeface="Century" panose="020406040505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B6BBD4-6D4B-4024-0106-84EAB8930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81" y="5529487"/>
                <a:ext cx="3895675" cy="5127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D02A46A-E968-0598-CFF1-BAB32B3C4868}"/>
                  </a:ext>
                </a:extLst>
              </p:cNvPr>
              <p:cNvSpPr txBox="1"/>
              <p:nvPr/>
            </p:nvSpPr>
            <p:spPr>
              <a:xfrm>
                <a:off x="-610608" y="6110291"/>
                <a:ext cx="389567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=16.3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b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D02A46A-E968-0598-CFF1-BAB32B3C4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0608" y="6110291"/>
                <a:ext cx="3895675" cy="246221"/>
              </a:xfrm>
              <a:prstGeom prst="rect">
                <a:avLst/>
              </a:prstGeom>
              <a:blipFill>
                <a:blip r:embed="rId7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FEB7B03A-919A-C52C-4AB0-6FCFD40CE9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41" y="1632277"/>
            <a:ext cx="6187593" cy="3897210"/>
          </a:xfrm>
          <a:prstGeom prst="rect">
            <a:avLst/>
          </a:prstGeom>
          <a:noFill/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1E88A96-6181-BC7B-64E9-42D372D436C0}"/>
              </a:ext>
            </a:extLst>
          </p:cNvPr>
          <p:cNvSpPr/>
          <p:nvPr/>
        </p:nvSpPr>
        <p:spPr>
          <a:xfrm>
            <a:off x="969519" y="1240546"/>
            <a:ext cx="4158754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Transient Analysis</a:t>
            </a:r>
            <a:endParaRPr 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9B6692F-4BCC-15EF-9F3B-5A6A29D769B6}"/>
              </a:ext>
            </a:extLst>
          </p:cNvPr>
          <p:cNvSpPr/>
          <p:nvPr/>
        </p:nvSpPr>
        <p:spPr>
          <a:xfrm>
            <a:off x="6679499" y="1233244"/>
            <a:ext cx="4158754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S-Parameter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891073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F3071-3A81-B806-6266-6517BB66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44F196-517B-8F64-D862-9E39E25241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5D7123F-77BC-F7BB-FE4A-81483AAC3637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Low Noise Amplifier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3C8A83C8-2272-4D1F-19D0-224F837A9B44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CA3036-DE2D-A9BC-FC27-32934F83D095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01183C5-C737-B2BB-D764-DAC6B07FF7EF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CC11748C-0B5E-F93E-E244-7D9D4BDB4F3C}"/>
              </a:ext>
            </a:extLst>
          </p:cNvPr>
          <p:cNvSpPr txBox="1">
            <a:spLocks/>
          </p:cNvSpPr>
          <p:nvPr/>
        </p:nvSpPr>
        <p:spPr>
          <a:xfrm>
            <a:off x="562451" y="1171471"/>
            <a:ext cx="9152992" cy="7315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Performance Summary: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39A44200-9ADE-F13B-0801-0241A1CCF05F}"/>
              </a:ext>
            </a:extLst>
          </p:cNvPr>
          <p:cNvSpPr txBox="1">
            <a:spLocks/>
          </p:cNvSpPr>
          <p:nvPr/>
        </p:nvSpPr>
        <p:spPr>
          <a:xfrm>
            <a:off x="769628" y="1756010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94B032-9982-F82A-0DC5-9695FA9BD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445613"/>
              </p:ext>
            </p:extLst>
          </p:nvPr>
        </p:nvGraphicFramePr>
        <p:xfrm>
          <a:off x="682471" y="1728581"/>
          <a:ext cx="10827061" cy="3745931"/>
        </p:xfrm>
        <a:graphic>
          <a:graphicData uri="http://schemas.openxmlformats.org/drawingml/2006/table">
            <a:tbl>
              <a:tblPr/>
              <a:tblGrid>
                <a:gridCol w="2585528">
                  <a:extLst>
                    <a:ext uri="{9D8B030D-6E8A-4147-A177-3AD203B41FA5}">
                      <a16:colId xmlns:a16="http://schemas.microsoft.com/office/drawing/2014/main" val="1338746392"/>
                    </a:ext>
                  </a:extLst>
                </a:gridCol>
                <a:gridCol w="3107409">
                  <a:extLst>
                    <a:ext uri="{9D8B030D-6E8A-4147-A177-3AD203B41FA5}">
                      <a16:colId xmlns:a16="http://schemas.microsoft.com/office/drawing/2014/main" val="3105364926"/>
                    </a:ext>
                  </a:extLst>
                </a:gridCol>
                <a:gridCol w="2917956">
                  <a:extLst>
                    <a:ext uri="{9D8B030D-6E8A-4147-A177-3AD203B41FA5}">
                      <a16:colId xmlns:a16="http://schemas.microsoft.com/office/drawing/2014/main" val="1762178361"/>
                    </a:ext>
                  </a:extLst>
                </a:gridCol>
                <a:gridCol w="2216168">
                  <a:extLst>
                    <a:ext uri="{9D8B030D-6E8A-4147-A177-3AD203B41FA5}">
                      <a16:colId xmlns:a16="http://schemas.microsoft.com/office/drawing/2014/main" val="1751673593"/>
                    </a:ext>
                  </a:extLst>
                </a:gridCol>
              </a:tblGrid>
              <a:tr h="4406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Metric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Measurement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Simulation Result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673005"/>
                  </a:ext>
                </a:extLst>
              </a:tr>
              <a:tr h="4406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Return Loss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S11​ at 2.45 GHz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−11.03 dB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≤−10 dB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759234"/>
                  </a:ext>
                </a:extLst>
              </a:tr>
              <a:tr h="4406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Forward Gain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S21 at 2.45 GHz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20.72 dB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 dB −20 dB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60866"/>
                  </a:ext>
                </a:extLst>
              </a:tr>
              <a:tr h="8580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Gain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 at 2.45 GHz 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da-DK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23.47 dB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≥15 dB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358264"/>
                  </a:ext>
                </a:extLst>
              </a:tr>
              <a:tr h="4508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Noise Figure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 at 2.45 GHz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2.32 dB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&lt;3.0 dB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427788"/>
                  </a:ext>
                </a:extLst>
              </a:tr>
              <a:tr h="4406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Return Loss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S22​ at 2.45 GHz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−12.25 dB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≤−10 dB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370385"/>
                  </a:ext>
                </a:extLst>
              </a:tr>
              <a:tr h="6745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Reverse Isolation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S12​ at 2.45 GHz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−42.19dB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dirty="0">
                          <a:solidFill>
                            <a:srgbClr val="43434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≤−25 dB</a:t>
                      </a:r>
                    </a:p>
                  </a:txBody>
                  <a:tcPr marL="43513" marR="43513" marT="10878" marB="1087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84145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14B3688B-0B09-BC14-5E89-A8DA4301181D}"/>
              </a:ext>
            </a:extLst>
          </p:cNvPr>
          <p:cNvGrpSpPr/>
          <p:nvPr/>
        </p:nvGrpSpPr>
        <p:grpSpPr>
          <a:xfrm>
            <a:off x="7172979" y="6086324"/>
            <a:ext cx="4808822" cy="657158"/>
            <a:chOff x="7172979" y="6086324"/>
            <a:chExt cx="4808822" cy="65715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B33D45E-DB9C-F4FB-257B-406556DE6D34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4B60A9B-64CA-5463-9D8E-06DDB8DB175B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6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22" name="Picture 21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E51F3274-B3C4-2611-67D6-3B351ED393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30D7067-7DF0-9C73-2507-D83C33A88544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25" name="Freeform 4">
                  <a:extLst>
                    <a:ext uri="{FF2B5EF4-FFF2-40B4-BE49-F238E27FC236}">
                      <a16:creationId xmlns:a16="http://schemas.microsoft.com/office/drawing/2014/main" id="{6B0213A7-BB56-6DA4-C9BD-905195BB4CD9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4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3C2EEB3-70CF-C366-A9AD-8369741FE3EA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Suvom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Karmakar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021 221 027</a:t>
                  </a:r>
                </a:p>
              </p:txBody>
            </p:sp>
          </p:grp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4D24CBD-D50B-E274-393F-E4F7FA4BA61B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</a:t>
                </a:r>
              </a:p>
            </p:txBody>
          </p:sp>
        </p:grpSp>
        <p:pic>
          <p:nvPicPr>
            <p:cNvPr id="20" name="Picture 19" descr="A person with a mustache and beard&#10;&#10;AI-generated content may be incorrect.">
              <a:extLst>
                <a:ext uri="{FF2B5EF4-FFF2-40B4-BE49-F238E27FC236}">
                  <a16:creationId xmlns:a16="http://schemas.microsoft.com/office/drawing/2014/main" id="{7A65EA80-090D-0510-F110-1AE22F13D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217" r="14221"/>
            <a:stretch>
              <a:fillRect/>
            </a:stretch>
          </p:blipFill>
          <p:spPr>
            <a:xfrm flipH="1">
              <a:off x="7172979" y="6162716"/>
              <a:ext cx="510694" cy="514368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731671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63312-A1B6-A47B-B52C-2AD7BB7D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3301F6-02E9-6B7A-3D32-690F61EEEE64}"/>
              </a:ext>
            </a:extLst>
          </p:cNvPr>
          <p:cNvSpPr/>
          <p:nvPr/>
        </p:nvSpPr>
        <p:spPr>
          <a:xfrm>
            <a:off x="2128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C82BEFB-B406-CC79-D5AD-49BDAC67A807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Band Pass Filter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91B02D19-97DB-EF7E-D7C6-FDB2E7A17780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94A0082-1500-F262-C8C1-5F4634B8D155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CCBB26-421C-29D2-019A-561B5F836693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16992" y="5996305"/>
            <a:chExt cx="4933052" cy="78535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B254AEA-273E-6C89-F60A-B379EFDD1143}"/>
                </a:ext>
              </a:extLst>
            </p:cNvPr>
            <p:cNvSpPr txBox="1"/>
            <p:nvPr/>
          </p:nvSpPr>
          <p:spPr>
            <a:xfrm>
              <a:off x="11496358" y="6375400"/>
              <a:ext cx="5536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01</a:t>
              </a:r>
            </a:p>
          </p:txBody>
        </p:sp>
        <p:pic>
          <p:nvPicPr>
            <p:cNvPr id="37" name="Picture 36" descr="Contact - UIU - Department of Biotechnology and Genetic Engineering">
              <a:extLst>
                <a:ext uri="{FF2B5EF4-FFF2-40B4-BE49-F238E27FC236}">
                  <a16:creationId xmlns:a16="http://schemas.microsoft.com/office/drawing/2014/main" id="{1AC5AFC9-653F-9788-99B7-1C19309C4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249" y="5996305"/>
              <a:ext cx="785351" cy="78535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DC29353-8ADB-2F17-7F94-3BED12D3F048}"/>
                </a:ext>
              </a:extLst>
            </p:cNvPr>
            <p:cNvGrpSpPr/>
            <p:nvPr/>
          </p:nvGrpSpPr>
          <p:grpSpPr>
            <a:xfrm>
              <a:off x="7116992" y="6066113"/>
              <a:ext cx="3504214" cy="688015"/>
              <a:chOff x="668166" y="6036446"/>
              <a:chExt cx="3504214" cy="688015"/>
            </a:xfrm>
          </p:grpSpPr>
          <p:sp>
            <p:nvSpPr>
              <p:cNvPr id="40" name="Freeform 4">
                <a:extLst>
                  <a:ext uri="{FF2B5EF4-FFF2-40B4-BE49-F238E27FC236}">
                    <a16:creationId xmlns:a16="http://schemas.microsoft.com/office/drawing/2014/main" id="{D088E452-6250-5483-133A-5FE8E0D02F66}"/>
                  </a:ext>
                </a:extLst>
              </p:cNvPr>
              <p:cNvSpPr/>
              <p:nvPr/>
            </p:nvSpPr>
            <p:spPr>
              <a:xfrm rot="5400000">
                <a:off x="2095934" y="4608678"/>
                <a:ext cx="648677" cy="350421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/>
              <a:lstStyle/>
              <a:p>
                <a:endParaRPr lang="en-US" sz="12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DD05CBF-E472-1E32-29E7-D4B290EC7B69}"/>
                  </a:ext>
                </a:extLst>
              </p:cNvPr>
              <p:cNvSpPr txBox="1"/>
              <p:nvPr/>
            </p:nvSpPr>
            <p:spPr>
              <a:xfrm>
                <a:off x="1060106" y="6099175"/>
                <a:ext cx="2801376" cy="625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buNone/>
                </a:pPr>
                <a:r>
                  <a:rPr lang="en-US" sz="14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Tahman</a:t>
                </a: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Hossain</a:t>
                </a:r>
              </a:p>
              <a:p>
                <a:pPr algn="ctr">
                  <a:buNone/>
                </a:pP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021 221 099</a:t>
                </a:r>
              </a:p>
            </p:txBody>
          </p:sp>
        </p:grp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23DF5C9-8BFE-744F-00F7-48ADED11F2EB}"/>
                </a:ext>
              </a:extLst>
            </p:cNvPr>
            <p:cNvSpPr/>
            <p:nvPr/>
          </p:nvSpPr>
          <p:spPr>
            <a:xfrm>
              <a:off x="11509075" y="6063172"/>
              <a:ext cx="540969" cy="6516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28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61FE34B-525D-483E-C03B-B8287A4466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166" y="1576388"/>
            <a:ext cx="10896997" cy="387343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1C895C-3368-E327-8B3C-2DF6DC845DE3}"/>
              </a:ext>
            </a:extLst>
          </p:cNvPr>
          <p:cNvSpPr/>
          <p:nvPr/>
        </p:nvSpPr>
        <p:spPr>
          <a:xfrm>
            <a:off x="4037287" y="1213747"/>
            <a:ext cx="4158754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Schematic Design</a:t>
            </a:r>
            <a:endParaRPr lang="en-US" dirty="0"/>
          </a:p>
        </p:txBody>
      </p:sp>
      <p:pic>
        <p:nvPicPr>
          <p:cNvPr id="8" name="Picture 7" descr="A person with his arms crossed&#10;&#10;AI-generated content may be incorrect.">
            <a:extLst>
              <a:ext uri="{FF2B5EF4-FFF2-40B4-BE49-F238E27FC236}">
                <a16:creationId xmlns:a16="http://schemas.microsoft.com/office/drawing/2014/main" id="{B57C5C58-C9BF-D947-0651-5ADA7311CE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764" r="15354" b="17343"/>
          <a:stretch>
            <a:fillRect/>
          </a:stretch>
        </p:blipFill>
        <p:spPr>
          <a:xfrm>
            <a:off x="7181501" y="6118004"/>
            <a:ext cx="560850" cy="564885"/>
          </a:xfrm>
          <a:prstGeom prst="round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D55B446-158D-512B-26A3-53F0B8831D8C}"/>
              </a:ext>
            </a:extLst>
          </p:cNvPr>
          <p:cNvGrpSpPr/>
          <p:nvPr/>
        </p:nvGrpSpPr>
        <p:grpSpPr>
          <a:xfrm>
            <a:off x="668166" y="5742828"/>
            <a:ext cx="3664273" cy="492492"/>
            <a:chOff x="768274" y="4829253"/>
            <a:chExt cx="3664273" cy="49249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E3642F3-3DCD-1E1F-959F-1004C5551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8274" y="4829253"/>
              <a:ext cx="492492" cy="4924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3AFD733-6372-DA86-87F9-820292E69EC1}"/>
                    </a:ext>
                  </a:extLst>
                </p:cNvPr>
                <p:cNvSpPr txBox="1"/>
                <p:nvPr/>
              </p:nvSpPr>
              <p:spPr>
                <a:xfrm>
                  <a:off x="1339629" y="4859076"/>
                  <a:ext cx="309291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Power Consumption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</m:oMath>
                  </a14:m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1.63mW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3AFD733-6372-DA86-87F9-820292E69E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9629" y="4859076"/>
                  <a:ext cx="3092918" cy="338554"/>
                </a:xfrm>
                <a:prstGeom prst="rect">
                  <a:avLst/>
                </a:prstGeom>
                <a:blipFill>
                  <a:blip r:embed="rId7"/>
                  <a:stretch>
                    <a:fillRect l="-984" t="-545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67624211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2">
            <a:extLst>
              <a:ext uri="{FF2B5EF4-FFF2-40B4-BE49-F238E27FC236}">
                <a16:creationId xmlns:a16="http://schemas.microsoft.com/office/drawing/2014/main" id="{D35DB5C3-2785-68F7-F9F3-9E2BEE560934}"/>
              </a:ext>
            </a:extLst>
          </p:cNvPr>
          <p:cNvSpPr/>
          <p:nvPr/>
        </p:nvSpPr>
        <p:spPr>
          <a:xfrm>
            <a:off x="2128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4" name="TextBox 13">
            <a:extLst>
              <a:ext uri="{FF2B5EF4-FFF2-40B4-BE49-F238E27FC236}">
                <a16:creationId xmlns:a16="http://schemas.microsoft.com/office/drawing/2014/main" id="{4CB11273-BDB5-5C3D-E9E7-8B894E62F6DF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Band Pass Filter</a:t>
            </a:r>
          </a:p>
        </p:txBody>
      </p:sp>
      <p:sp>
        <p:nvSpPr>
          <p:cNvPr id="65" name="AutoShape 16">
            <a:extLst>
              <a:ext uri="{FF2B5EF4-FFF2-40B4-BE49-F238E27FC236}">
                <a16:creationId xmlns:a16="http://schemas.microsoft.com/office/drawing/2014/main" id="{7865ECE8-86A1-1E82-F438-2C1175777DDD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E6294C-AA52-7A07-D8FB-63BAB69C22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0150" y="1710562"/>
            <a:ext cx="10027920" cy="35633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6ACB9C4-2FFA-69A9-AF30-D884E8A985CF}"/>
              </a:ext>
            </a:extLst>
          </p:cNvPr>
          <p:cNvSpPr/>
          <p:nvPr/>
        </p:nvSpPr>
        <p:spPr>
          <a:xfrm>
            <a:off x="1347018" y="1337186"/>
            <a:ext cx="5146379" cy="43999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12EE7B-E801-6F58-66C7-D6B9CC0502DD}"/>
              </a:ext>
            </a:extLst>
          </p:cNvPr>
          <p:cNvSpPr/>
          <p:nvPr/>
        </p:nvSpPr>
        <p:spPr>
          <a:xfrm>
            <a:off x="1347018" y="5930942"/>
            <a:ext cx="2624961" cy="537476"/>
          </a:xfrm>
          <a:prstGeom prst="roundRect">
            <a:avLst>
              <a:gd name="adj" fmla="val 47844"/>
            </a:avLst>
          </a:prstGeom>
          <a:solidFill>
            <a:schemeClr val="accent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 Circuit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3DBB09-083D-24D5-538D-9C1925BFC986}"/>
              </a:ext>
            </a:extLst>
          </p:cNvPr>
          <p:cNvSpPr/>
          <p:nvPr/>
        </p:nvSpPr>
        <p:spPr>
          <a:xfrm>
            <a:off x="1294768" y="5915132"/>
            <a:ext cx="659854" cy="5479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9A0129-D641-510B-1682-171597591D57}"/>
              </a:ext>
            </a:extLst>
          </p:cNvPr>
          <p:cNvSpPr/>
          <p:nvPr/>
        </p:nvSpPr>
        <p:spPr>
          <a:xfrm>
            <a:off x="1347018" y="1963661"/>
            <a:ext cx="1824445" cy="236123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D195D3-5F45-B432-06A6-49648F07F0BF}"/>
              </a:ext>
            </a:extLst>
          </p:cNvPr>
          <p:cNvSpPr/>
          <p:nvPr/>
        </p:nvSpPr>
        <p:spPr>
          <a:xfrm>
            <a:off x="3485662" y="1337186"/>
            <a:ext cx="3007735" cy="289590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6DAACD4-E2D9-46E3-0FEF-7D318B33F067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1608881" y="3979101"/>
            <a:ext cx="5321" cy="8128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730CAD4-5BC5-A527-09E2-3897C9B36BAD}"/>
              </a:ext>
            </a:extLst>
          </p:cNvPr>
          <p:cNvSpPr txBox="1"/>
          <p:nvPr/>
        </p:nvSpPr>
        <p:spPr>
          <a:xfrm>
            <a:off x="1347018" y="5008206"/>
            <a:ext cx="797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41FDF90-C171-F754-D1B2-F40B5D612154}"/>
              </a:ext>
            </a:extLst>
          </p:cNvPr>
          <p:cNvCxnSpPr>
            <a:cxnSpLocks/>
          </p:cNvCxnSpPr>
          <p:nvPr/>
        </p:nvCxnSpPr>
        <p:spPr>
          <a:xfrm flipH="1">
            <a:off x="5845215" y="3979101"/>
            <a:ext cx="5321" cy="8128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C5BD9D6-231F-01F1-A58F-74BCFABA563B}"/>
              </a:ext>
            </a:extLst>
          </p:cNvPr>
          <p:cNvSpPr txBox="1"/>
          <p:nvPr/>
        </p:nvSpPr>
        <p:spPr>
          <a:xfrm>
            <a:off x="5446682" y="4874483"/>
            <a:ext cx="797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 Tank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A1A3F4F-6DF8-68BC-8222-D39072F2691A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164D679-F042-6092-13DD-E44BF17A290D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470D1A5-3853-C469-9DA8-A9260FCD14D6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68" name="Picture 67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D2973A2A-9B92-C9DF-12CE-04B287A33A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6C724BF9-AB55-00A0-2AE6-A86F29AED4CF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71" name="Freeform 4">
                  <a:extLst>
                    <a:ext uri="{FF2B5EF4-FFF2-40B4-BE49-F238E27FC236}">
                      <a16:creationId xmlns:a16="http://schemas.microsoft.com/office/drawing/2014/main" id="{584C1D97-1D63-F85F-6489-1FDFEA5C01F4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39306E3E-8EBE-1574-32D9-DC02825F614C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Tahman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Hossain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021 221 099</a:t>
                  </a:r>
                </a:p>
              </p:txBody>
            </p:sp>
          </p:grp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C8F08099-C63D-18DC-321F-B0E5985CCE1D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29</a:t>
                </a:r>
              </a:p>
            </p:txBody>
          </p:sp>
        </p:grpSp>
        <p:pic>
          <p:nvPicPr>
            <p:cNvPr id="73" name="Picture 72" descr="A person with his arms crossed&#10;&#10;AI-generated content may be incorrect.">
              <a:extLst>
                <a:ext uri="{FF2B5EF4-FFF2-40B4-BE49-F238E27FC236}">
                  <a16:creationId xmlns:a16="http://schemas.microsoft.com/office/drawing/2014/main" id="{03F1919C-8A42-BF79-6443-85B77705D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764" r="15354" b="17343"/>
            <a:stretch>
              <a:fillRect/>
            </a:stretch>
          </p:blipFill>
          <p:spPr>
            <a:xfrm>
              <a:off x="7181501" y="6118004"/>
              <a:ext cx="560850" cy="564885"/>
            </a:xfrm>
            <a:prstGeom prst="round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FB47-5311-F50D-7C0E-CE75005D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A97182-E4BE-BFE9-2591-5D99895E1DAC}"/>
              </a:ext>
            </a:extLst>
          </p:cNvPr>
          <p:cNvSpPr/>
          <p:nvPr/>
        </p:nvSpPr>
        <p:spPr>
          <a:xfrm>
            <a:off x="2128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F92476F-9214-C6D2-544B-22D895CB0B72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Band Pass Filter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449725B1-BEEA-7FD8-16FD-B9C431E016A5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79F1F30-EF25-ED72-D5FF-C7AA4315EA67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A53EAC-AA62-77DF-3A4D-E656CA66C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019" y="1913602"/>
            <a:ext cx="5539782" cy="37059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3961C3-92D8-5DBD-D044-CB08D9952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14" y="1913602"/>
            <a:ext cx="6076312" cy="377989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BF30615-2F1C-90BD-1B94-63A71959BEB0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76F50F-DEF0-1F20-4BCB-BDB57F2C82C0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92797B0-C6EB-64DA-06DD-1C2F35A35B7D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11" name="Picture 10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DE692BBC-4961-5CB9-0E13-744C63D612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60CA475-49C3-0519-797D-32998B964202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5"/>
                <a:chOff x="668166" y="6036446"/>
                <a:chExt cx="3504214" cy="688015"/>
              </a:xfrm>
            </p:grpSpPr>
            <p:sp>
              <p:nvSpPr>
                <p:cNvPr id="15" name="Freeform 4">
                  <a:extLst>
                    <a:ext uri="{FF2B5EF4-FFF2-40B4-BE49-F238E27FC236}">
                      <a16:creationId xmlns:a16="http://schemas.microsoft.com/office/drawing/2014/main" id="{83CD5427-128D-8BBF-1EFF-685BD8DB0506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FC1595D-4DA2-ED66-DE67-089C33CDBA84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Tahman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Hossain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021 221 099</a:t>
                  </a:r>
                </a:p>
              </p:txBody>
            </p:sp>
          </p:grp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0EDFC370-F99E-4BEB-11CC-0B5435F386F5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</a:p>
            </p:txBody>
          </p:sp>
        </p:grpSp>
        <p:pic>
          <p:nvPicPr>
            <p:cNvPr id="8" name="Picture 7" descr="A person with his arms crossed&#10;&#10;AI-generated content may be incorrect.">
              <a:extLst>
                <a:ext uri="{FF2B5EF4-FFF2-40B4-BE49-F238E27FC236}">
                  <a16:creationId xmlns:a16="http://schemas.microsoft.com/office/drawing/2014/main" id="{7ADEE563-E4C2-F328-48E6-D5711E4A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764" r="15354" b="17343"/>
            <a:stretch>
              <a:fillRect/>
            </a:stretch>
          </p:blipFill>
          <p:spPr>
            <a:xfrm>
              <a:off x="7181501" y="6118004"/>
              <a:ext cx="560850" cy="564885"/>
            </a:xfrm>
            <a:prstGeom prst="roundRect">
              <a:avLst/>
            </a:prstGeom>
          </p:spPr>
        </p:pic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2160E32-5904-3202-DB70-23D83B8B3F48}"/>
              </a:ext>
            </a:extLst>
          </p:cNvPr>
          <p:cNvSpPr/>
          <p:nvPr/>
        </p:nvSpPr>
        <p:spPr>
          <a:xfrm>
            <a:off x="1319993" y="1420949"/>
            <a:ext cx="4158754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Center Frequency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6F04DD-A3EF-8C8E-EF55-6E97F98F53CE}"/>
              </a:ext>
            </a:extLst>
          </p:cNvPr>
          <p:cNvSpPr/>
          <p:nvPr/>
        </p:nvSpPr>
        <p:spPr>
          <a:xfrm>
            <a:off x="7461926" y="1420949"/>
            <a:ext cx="4158754" cy="3533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 dB Point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105114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E9292-DE96-CFB3-D0B1-C3BB14D67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8EF804-69D7-54D7-E7A1-B338A4D50261}"/>
              </a:ext>
            </a:extLst>
          </p:cNvPr>
          <p:cNvSpPr/>
          <p:nvPr/>
        </p:nvSpPr>
        <p:spPr>
          <a:xfrm>
            <a:off x="2128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DA5D7D7-C40F-D666-3C51-323DF9B09606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Band Pass Filter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B445A73-60C7-FE7C-8B31-B93F0D720B86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E8528BC-6D08-0867-A087-D213895B9F32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EF90AB-0828-5A0D-DDDC-F2CEDDACEB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56"/>
          <a:stretch>
            <a:fillRect/>
          </a:stretch>
        </p:blipFill>
        <p:spPr>
          <a:xfrm>
            <a:off x="2155865" y="1609801"/>
            <a:ext cx="7922241" cy="443869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442932A-F228-93FE-691A-32D4B37A7792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6BBC203-FB45-22F1-B048-4A3D005729B6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4C4AF9-4FC1-01F4-15F0-38A0425E6A13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9" name="Picture 8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9A4CC545-30F5-4431-531C-A7F586108D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F0EE2B3-DBC1-E5B5-38C5-5CCC3F3EF8C3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88018"/>
                <a:chOff x="668166" y="6036446"/>
                <a:chExt cx="3504214" cy="688018"/>
              </a:xfrm>
            </p:grpSpPr>
            <p:sp>
              <p:nvSpPr>
                <p:cNvPr id="12" name="Freeform 4">
                  <a:extLst>
                    <a:ext uri="{FF2B5EF4-FFF2-40B4-BE49-F238E27FC236}">
                      <a16:creationId xmlns:a16="http://schemas.microsoft.com/office/drawing/2014/main" id="{4105BF20-88D4-CBDC-8564-9D844D739C8B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3905BCF-C8A5-7118-96BF-19B548545486}"/>
                    </a:ext>
                  </a:extLst>
                </p:cNvPr>
                <p:cNvSpPr txBox="1"/>
                <p:nvPr/>
              </p:nvSpPr>
              <p:spPr>
                <a:xfrm>
                  <a:off x="1060106" y="6099178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Tahman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Hossain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021 221 099</a:t>
                  </a:r>
                </a:p>
              </p:txBody>
            </p:sp>
          </p:grp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E9D3CA3-39BA-5D12-10AD-C84F85F9FA50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</a:p>
            </p:txBody>
          </p:sp>
        </p:grpSp>
        <p:pic>
          <p:nvPicPr>
            <p:cNvPr id="7" name="Picture 6" descr="A person with his arms crossed&#10;&#10;AI-generated content may be incorrect.">
              <a:extLst>
                <a:ext uri="{FF2B5EF4-FFF2-40B4-BE49-F238E27FC236}">
                  <a16:creationId xmlns:a16="http://schemas.microsoft.com/office/drawing/2014/main" id="{C719EAF9-F81A-7A03-4994-2C69FC305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764" r="15354" b="17343"/>
            <a:stretch>
              <a:fillRect/>
            </a:stretch>
          </p:blipFill>
          <p:spPr>
            <a:xfrm>
              <a:off x="7181501" y="6118004"/>
              <a:ext cx="560850" cy="564885"/>
            </a:xfrm>
            <a:prstGeom prst="roundRect">
              <a:avLst/>
            </a:prstGeom>
          </p:spPr>
        </p:pic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498AC8B-94BA-FAA1-47F5-A7B813BE02FD}"/>
              </a:ext>
            </a:extLst>
          </p:cNvPr>
          <p:cNvSpPr/>
          <p:nvPr/>
        </p:nvSpPr>
        <p:spPr>
          <a:xfrm>
            <a:off x="3794217" y="1071289"/>
            <a:ext cx="4852071" cy="3680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Transient &amp; DFT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056902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25822-A4E2-131E-5CDC-2ABBC56E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60A384-4863-DD3B-CECD-4D159E4F93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BC4C947-D1BD-177D-943F-715A8BE05596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F48D9192-3CF2-76EF-52ED-26F15880B6B1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15C6007-C4FF-3BA2-1A56-B4C52CCC67C4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EC8294-B365-A80C-CE91-D489ECF3FB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44"/>
          <a:stretch>
            <a:fillRect/>
          </a:stretch>
        </p:blipFill>
        <p:spPr>
          <a:xfrm>
            <a:off x="419365" y="1462592"/>
            <a:ext cx="11450892" cy="20482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094E804-7934-FBCC-AF55-185BC970D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311" y="3937151"/>
            <a:ext cx="4318639" cy="189623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C0CD250-6BAB-7E39-DFDB-2904377FF385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8E4F1EE-2A80-3BEE-82CD-C6507C0099A1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397E22-4218-4774-5C45-A34A0107737D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21" name="Picture 20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E7E2BBFA-F51D-EA7E-0198-779DBA0A44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42CF8F7-4BA7-4181-A2FB-D91E17236A11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24" name="Freeform 4">
                  <a:extLst>
                    <a:ext uri="{FF2B5EF4-FFF2-40B4-BE49-F238E27FC236}">
                      <a16:creationId xmlns:a16="http://schemas.microsoft.com/office/drawing/2014/main" id="{90684570-857C-CD9D-317E-3995E5EEEB09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5EB4E9D-C2E2-AEB3-540B-D6703C72292D}"/>
                    </a:ext>
                  </a:extLst>
                </p:cNvPr>
                <p:cNvSpPr txBox="1"/>
                <p:nvPr/>
              </p:nvSpPr>
              <p:spPr>
                <a:xfrm>
                  <a:off x="1060106" y="6099175"/>
                  <a:ext cx="2801376" cy="3678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endPara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4D61151D-9CE3-1B60-E92A-6F182D896678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</a:p>
            </p:txBody>
          </p:sp>
        </p:grpSp>
        <p:pic>
          <p:nvPicPr>
            <p:cNvPr id="19" name="Picture 18" descr="A person with his arms crossed&#10;&#10;AI-generated content may be incorrect.">
              <a:extLst>
                <a:ext uri="{FF2B5EF4-FFF2-40B4-BE49-F238E27FC236}">
                  <a16:creationId xmlns:a16="http://schemas.microsoft.com/office/drawing/2014/main" id="{42457E16-9C42-ED45-607C-008FB59A8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764" r="15354" b="17343"/>
            <a:stretch>
              <a:fillRect/>
            </a:stretch>
          </p:blipFill>
          <p:spPr>
            <a:xfrm>
              <a:off x="7181501" y="6118004"/>
              <a:ext cx="560850" cy="564885"/>
            </a:xfrm>
            <a:prstGeom prst="roundRect">
              <a:avLst/>
            </a:prstGeom>
          </p:spPr>
        </p:pic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FCEF083-CD6E-0ED7-2396-F50B5DC9D1B0}"/>
              </a:ext>
            </a:extLst>
          </p:cNvPr>
          <p:cNvSpPr/>
          <p:nvPr/>
        </p:nvSpPr>
        <p:spPr>
          <a:xfrm>
            <a:off x="3718775" y="1109078"/>
            <a:ext cx="4852071" cy="3680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Integration of RF Blocks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3E39AD8-CB21-F4E0-C6BA-12671E1906CA}"/>
              </a:ext>
            </a:extLst>
          </p:cNvPr>
          <p:cNvSpPr/>
          <p:nvPr/>
        </p:nvSpPr>
        <p:spPr>
          <a:xfrm>
            <a:off x="3049050" y="3563373"/>
            <a:ext cx="6630976" cy="3348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Uploading MATLAB Generated Modulation Signal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4E2689-21CE-EE58-D76C-0A5A9BB31FD6}"/>
              </a:ext>
            </a:extLst>
          </p:cNvPr>
          <p:cNvSpPr txBox="1"/>
          <p:nvPr/>
        </p:nvSpPr>
        <p:spPr>
          <a:xfrm>
            <a:off x="7562894" y="6197229"/>
            <a:ext cx="2725989" cy="523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Tahman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Hossain</a:t>
            </a:r>
          </a:p>
          <a:p>
            <a:pPr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021 221 099</a:t>
            </a:r>
          </a:p>
        </p:txBody>
      </p:sp>
    </p:spTree>
    <p:extLst>
      <p:ext uri="{BB962C8B-B14F-4D97-AF65-F5344CB8AC3E}">
        <p14:creationId xmlns:p14="http://schemas.microsoft.com/office/powerpoint/2010/main" val="4201359386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749D1-971F-6B72-CC0F-7BA4701D5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907C38-799F-4A2A-B8A6-3885D1EAD6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6F42BF2-AE83-E936-62C1-1F18761602B1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968273D8-EAB4-B888-FBF8-E0EE0FA62FAA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CC334EE-DFFE-CAB3-5FC4-0AF178ACC4EB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58BBC-6405-EEE0-B695-4B32798DE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0" t="2260"/>
          <a:stretch>
            <a:fillRect/>
          </a:stretch>
        </p:blipFill>
        <p:spPr>
          <a:xfrm>
            <a:off x="767954" y="1609801"/>
            <a:ext cx="11004681" cy="298431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D57D5D7-2BDF-2495-0BE1-4BBB72F26F7E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401067F-64FA-9933-D086-61523C13207E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89BC7C-C73C-79FD-EC5B-88635C14A6A4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9" name="Picture 8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090EC116-EAB2-BE3B-8728-0A9EE3DBD9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CFFC537-04B4-ABED-B97B-503590340457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12" name="Freeform 4">
                  <a:extLst>
                    <a:ext uri="{FF2B5EF4-FFF2-40B4-BE49-F238E27FC236}">
                      <a16:creationId xmlns:a16="http://schemas.microsoft.com/office/drawing/2014/main" id="{A737C9CD-B74F-DF52-7015-07A78809856A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B4B9E84-550A-310F-083B-611027167BA0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07668D17-8D3A-5B05-B1F1-926B067CDC07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</a:p>
            </p:txBody>
          </p:sp>
        </p:grpSp>
        <p:pic>
          <p:nvPicPr>
            <p:cNvPr id="17" name="Picture 16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252626EA-64E8-322F-5443-35248DC06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43D72CF-BB66-1B3B-4F92-4A3615DE3716}"/>
              </a:ext>
            </a:extLst>
          </p:cNvPr>
          <p:cNvSpPr txBox="1"/>
          <p:nvPr/>
        </p:nvSpPr>
        <p:spPr>
          <a:xfrm>
            <a:off x="767954" y="4672395"/>
            <a:ext cx="41165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Massage signal - 10MHz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 frequency - 2.45GHz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 - 50uV</a:t>
            </a:r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429D914-8498-8F96-2254-2C7393223CCD}"/>
              </a:ext>
            </a:extLst>
          </p:cNvPr>
          <p:cNvSpPr/>
          <p:nvPr/>
        </p:nvSpPr>
        <p:spPr>
          <a:xfrm>
            <a:off x="3953363" y="1155808"/>
            <a:ext cx="4852071" cy="3680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DSB-SC Transient analysis</a:t>
            </a:r>
          </a:p>
        </p:txBody>
      </p:sp>
    </p:spTree>
    <p:extLst>
      <p:ext uri="{BB962C8B-B14F-4D97-AF65-F5344CB8AC3E}">
        <p14:creationId xmlns:p14="http://schemas.microsoft.com/office/powerpoint/2010/main" val="2862654907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ADE7-C04A-3F7F-E33F-1D445420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91D300-0B3B-7778-088E-7029DDDBDE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BC02E2E-BB99-3C50-0134-094F500FC959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2139F2F-B259-530F-2928-2FB7DB42F337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66F5F64-039D-DCEC-B6B6-CFB9D536809F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B349CE-74B1-747E-1FB7-34302D7E7C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4" t="746"/>
          <a:stretch>
            <a:fillRect/>
          </a:stretch>
        </p:blipFill>
        <p:spPr>
          <a:xfrm>
            <a:off x="459372" y="1596043"/>
            <a:ext cx="11273256" cy="381107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A4866E0-41BA-2F6E-5032-30880DFB9CF5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6124639-8118-F0B2-20BA-D200A9BB8626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D10956-48C4-362D-6FE9-BD296F33F25B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22" name="Picture 21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F8CC9198-1258-44C9-2511-ED663E6BD6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B790F80-B6B7-814E-C0BA-EFE1F0074FB5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25" name="Freeform 4">
                  <a:extLst>
                    <a:ext uri="{FF2B5EF4-FFF2-40B4-BE49-F238E27FC236}">
                      <a16:creationId xmlns:a16="http://schemas.microsoft.com/office/drawing/2014/main" id="{5D72C88A-1FDB-FCF9-0DFC-EC22B8BF9F50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080B871-870F-7AFA-BA49-B18029A879AA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FDBD7D34-6545-12B1-9215-17C9F4B2671D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34</a:t>
                </a:r>
              </a:p>
            </p:txBody>
          </p:sp>
        </p:grpSp>
        <p:pic>
          <p:nvPicPr>
            <p:cNvPr id="19" name="Picture 18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7CA4E51C-234E-B907-EE5D-536F2497A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4AE5365-36F2-513B-B63E-9C29F4FAA0BA}"/>
              </a:ext>
            </a:extLst>
          </p:cNvPr>
          <p:cNvSpPr/>
          <p:nvPr/>
        </p:nvSpPr>
        <p:spPr>
          <a:xfrm>
            <a:off x="4034386" y="1022735"/>
            <a:ext cx="4852071" cy="3680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DSB-SC Transient analysis (cont.)</a:t>
            </a:r>
          </a:p>
        </p:txBody>
      </p:sp>
    </p:spTree>
    <p:extLst>
      <p:ext uri="{BB962C8B-B14F-4D97-AF65-F5344CB8AC3E}">
        <p14:creationId xmlns:p14="http://schemas.microsoft.com/office/powerpoint/2010/main" val="2744763204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ED703-E07E-3AF4-2069-D4418EB6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A4CDF37-3C27-5B62-6DA4-E6E16D9A0A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327BCDA-FC77-1CA7-6B28-21214DECF49D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33BDE3E9-2253-05A0-5977-F01B87D7E48A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8C0FAE3-E726-FE75-EA88-852D5F388A76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A1862-FCB4-B8AC-0B9D-55B4CBE5DD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50"/>
          <a:stretch>
            <a:fillRect/>
          </a:stretch>
        </p:blipFill>
        <p:spPr>
          <a:xfrm>
            <a:off x="685099" y="1628016"/>
            <a:ext cx="7365087" cy="4379692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5F48F6D-DBCD-B53E-0A72-6DFF762BE771}"/>
              </a:ext>
            </a:extLst>
          </p:cNvPr>
          <p:cNvSpPr/>
          <p:nvPr/>
        </p:nvSpPr>
        <p:spPr>
          <a:xfrm>
            <a:off x="1732864" y="1199399"/>
            <a:ext cx="4852071" cy="3680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DSB-SC Transient analysis (cont.)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84AEA58-D149-2832-8A0E-4CD24D94669E}"/>
              </a:ext>
            </a:extLst>
          </p:cNvPr>
          <p:cNvSpPr/>
          <p:nvPr/>
        </p:nvSpPr>
        <p:spPr>
          <a:xfrm>
            <a:off x="8320882" y="2825362"/>
            <a:ext cx="3409913" cy="200806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737D51-55DD-291D-FE7F-ECA9192CDCCE}"/>
                  </a:ext>
                </a:extLst>
              </p:cNvPr>
              <p:cNvSpPr txBox="1"/>
              <p:nvPr/>
            </p:nvSpPr>
            <p:spPr>
              <a:xfrm>
                <a:off x="8334307" y="2954084"/>
                <a:ext cx="3409913" cy="1958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𝑝𝑒𝑎𝑘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𝑡𝑜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𝑝𝑒𝑎𝑘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𝑝𝑒𝑎𝑘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𝑝𝑒𝑎𝑘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​​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50 dB</a:t>
                </a:r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marR="0" indent="-285750">
                  <a:lnSpc>
                    <a:spcPct val="115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endParaRPr lang="en-US" sz="1800" i="1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737D51-55DD-291D-FE7F-ECA9192CD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307" y="2954084"/>
                <a:ext cx="3409913" cy="1958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7DA8841-6BE5-B851-57F8-EC93D7A29EA0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558595F-88A3-5D53-A4CC-6BC8A95AECD4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83E73E4-AE7D-7CFA-CD1F-BCBDB47EC51B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38" name="Picture 37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F7121F22-1723-9428-FE92-7C635E89AA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6A1FBD92-098A-3972-9BB6-D214061CD286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41" name="Freeform 4">
                  <a:extLst>
                    <a:ext uri="{FF2B5EF4-FFF2-40B4-BE49-F238E27FC236}">
                      <a16:creationId xmlns:a16="http://schemas.microsoft.com/office/drawing/2014/main" id="{8F0D4EA4-E2CE-ED8C-6D02-CD3D35C10181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A3E18CF-92B4-BC7B-AB69-9CC0F9B2607E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CA191FC6-829D-E681-6034-8E8801960339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35</a:t>
                </a:r>
              </a:p>
            </p:txBody>
          </p:sp>
        </p:grpSp>
        <p:pic>
          <p:nvPicPr>
            <p:cNvPr id="36" name="Picture 35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D300F661-39F1-ADE7-72C1-4C5F7D611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795899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F1377-29DE-822E-FADC-0CB707BC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F959C4-7B71-2A5B-FDDF-2AD60D62CF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B9810A9-C8E9-0085-86F0-7E6BDB0671BD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7E0D9219-1751-F272-0AE2-D3B0BD513EB8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2460A17-8C15-5A59-EF62-739EFB12AC68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56386A-ED6C-D790-D003-4CC89AEFBB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46"/>
          <a:stretch>
            <a:fillRect/>
          </a:stretch>
        </p:blipFill>
        <p:spPr>
          <a:xfrm>
            <a:off x="860392" y="1710585"/>
            <a:ext cx="7494471" cy="41642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B12766-98A9-F11A-3CCD-B0D08A630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862" y="1394957"/>
            <a:ext cx="3065877" cy="26272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7E63BC-05C1-C738-EF99-C9D6E4C7F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862" y="4061160"/>
            <a:ext cx="3066149" cy="181247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C7FD524-61E9-1CF4-B172-D96257EE8FCB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A672035-123C-F0B0-2654-9C869C0F7D41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F722A3C-DF91-E4E9-CDF3-6473ADCCBBB1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24" name="Picture 23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1CE4C774-4EDF-CC34-62B0-F5DDD665D4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ACAD59C-9CC3-9D79-406D-1FD6692F95C8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27" name="Freeform 4">
                  <a:extLst>
                    <a:ext uri="{FF2B5EF4-FFF2-40B4-BE49-F238E27FC236}">
                      <a16:creationId xmlns:a16="http://schemas.microsoft.com/office/drawing/2014/main" id="{1EEFF96B-F89F-5492-BB1B-680561F91CEC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F5984C1-6E62-8BE8-7B82-D01360AF5C65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2E066FA7-AFAD-6689-1710-4BDFCC1583AE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36</a:t>
                </a:r>
              </a:p>
            </p:txBody>
          </p:sp>
        </p:grpSp>
        <p:pic>
          <p:nvPicPr>
            <p:cNvPr id="21" name="Picture 20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CDA7B657-1797-DD6F-E7EB-B5D0F3E58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EF141E4-8B33-C554-7BB6-5B05E3F62983}"/>
              </a:ext>
            </a:extLst>
          </p:cNvPr>
          <p:cNvSpPr/>
          <p:nvPr/>
        </p:nvSpPr>
        <p:spPr>
          <a:xfrm>
            <a:off x="2181591" y="1210935"/>
            <a:ext cx="4852071" cy="3680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DSB-SC DFT Analysis</a:t>
            </a:r>
          </a:p>
        </p:txBody>
      </p:sp>
    </p:spTree>
    <p:extLst>
      <p:ext uri="{BB962C8B-B14F-4D97-AF65-F5344CB8AC3E}">
        <p14:creationId xmlns:p14="http://schemas.microsoft.com/office/powerpoint/2010/main" val="630998914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51248-AA85-FD3F-8084-319814DA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53981E-2A5D-8474-38EE-5242D536F4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0E0093B-0414-399F-B1B5-C171CFEE4D90}"/>
              </a:ext>
            </a:extLst>
          </p:cNvPr>
          <p:cNvSpPr/>
          <p:nvPr/>
        </p:nvSpPr>
        <p:spPr>
          <a:xfrm>
            <a:off x="7452181" y="5213804"/>
            <a:ext cx="3218095" cy="66890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598228C-9E4D-D684-D0DF-2F99FDB898E6}"/>
              </a:ext>
            </a:extLst>
          </p:cNvPr>
          <p:cNvSpPr/>
          <p:nvPr/>
        </p:nvSpPr>
        <p:spPr>
          <a:xfrm>
            <a:off x="464204" y="5213804"/>
            <a:ext cx="4719442" cy="66890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A18B55D-DA13-FC5D-87BD-6FFDD879BCA1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9D24688-53D8-CAA9-2E6E-31D3F8E6938F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1188AA8-1088-BF44-AAFB-C72561402B41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75EB1-D371-F514-86D7-A38464990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39" y="1865511"/>
            <a:ext cx="5496979" cy="31612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8DE984-C281-BE98-2D67-FB463826999A}"/>
                  </a:ext>
                </a:extLst>
              </p:cNvPr>
              <p:cNvSpPr txBox="1"/>
              <p:nvPr/>
            </p:nvSpPr>
            <p:spPr>
              <a:xfrm>
                <a:off x="419365" y="5177448"/>
                <a:ext cx="4940207" cy="668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𝑆𝑁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𝑠𝑖𝑔𝑛𝑎𝑙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𝑛𝑜𝑖𝑠𝑒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𝑆𝑁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107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.85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𝑑𝐵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−156.5 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𝑑𝐵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49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8DE984-C281-BE98-2D67-FB4638269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65" y="5177448"/>
                <a:ext cx="4940207" cy="6689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E5419931-A456-202B-983B-255F1BFFCE07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EEFD55C-0226-99A5-EA9D-91C494BFAB1E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BA09AA6-28B8-4909-152F-5A306F2F961E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31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23" name="Picture 22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3CC147EC-4BD2-ED49-E0EB-726717C37B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9E5DE7F-3EC1-A459-2EC3-EF66A7C4C862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26" name="Freeform 4">
                  <a:extLst>
                    <a:ext uri="{FF2B5EF4-FFF2-40B4-BE49-F238E27FC236}">
                      <a16:creationId xmlns:a16="http://schemas.microsoft.com/office/drawing/2014/main" id="{B5AF4ADA-D5D6-BAC8-8B27-B7299A8A9180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336B4D0-E589-AA68-5798-2567A47AAAA0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6BA39305-0D16-6761-7145-B18776D1ADE7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37</a:t>
                </a:r>
              </a:p>
            </p:txBody>
          </p:sp>
        </p:grpSp>
        <p:pic>
          <p:nvPicPr>
            <p:cNvPr id="20" name="Picture 19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39EEF600-624D-2E8A-389F-DBE51D108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C8B2B00-304F-A350-26CF-60A0D6A18C91}"/>
              </a:ext>
            </a:extLst>
          </p:cNvPr>
          <p:cNvSpPr/>
          <p:nvPr/>
        </p:nvSpPr>
        <p:spPr>
          <a:xfrm>
            <a:off x="565892" y="1343406"/>
            <a:ext cx="4852071" cy="3680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PSD Analysis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E62A6A1-BD19-9DEC-BD7E-4A9590452A2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495"/>
          <a:stretch>
            <a:fillRect/>
          </a:stretch>
        </p:blipFill>
        <p:spPr>
          <a:xfrm>
            <a:off x="5879888" y="1893575"/>
            <a:ext cx="6068673" cy="3161253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A329D39-EEFA-CD66-4F94-2ECCAF2B4C85}"/>
              </a:ext>
            </a:extLst>
          </p:cNvPr>
          <p:cNvSpPr/>
          <p:nvPr/>
        </p:nvSpPr>
        <p:spPr>
          <a:xfrm>
            <a:off x="6582422" y="1266860"/>
            <a:ext cx="4852071" cy="3680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Linearity Analysis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7EB9A1-B2FD-6527-4AA5-86A295AD9458}"/>
              </a:ext>
            </a:extLst>
          </p:cNvPr>
          <p:cNvSpPr txBox="1"/>
          <p:nvPr/>
        </p:nvSpPr>
        <p:spPr>
          <a:xfrm>
            <a:off x="7566440" y="5343599"/>
            <a:ext cx="7603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Linearity range : 1uV – 1.3mV</a:t>
            </a:r>
          </a:p>
        </p:txBody>
      </p:sp>
    </p:spTree>
    <p:extLst>
      <p:ext uri="{BB962C8B-B14F-4D97-AF65-F5344CB8AC3E}">
        <p14:creationId xmlns:p14="http://schemas.microsoft.com/office/powerpoint/2010/main" val="1262754946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0A9E6-2B4C-D447-06FB-5BB07112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6E215B-EA58-591B-A8F3-B84B03E184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0954AE9-B5AF-D5C4-756A-97BF368C65BC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C590CA7F-5370-394E-CE6C-EF72DF1372D4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BBF3A66-DA58-C05A-1A35-7B17E04F9553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B5E7FA-D990-3424-76A2-AAC7FAA19F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09"/>
          <a:stretch>
            <a:fillRect/>
          </a:stretch>
        </p:blipFill>
        <p:spPr>
          <a:xfrm>
            <a:off x="1616334" y="1373861"/>
            <a:ext cx="9176562" cy="424985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638ECEC-D904-1CF7-9AC6-AD9A28F2F589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45A7C49-08F7-E024-FF22-DD964D1D2144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6290C9-6A4A-8A11-B42F-4C02451F5D8A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22" name="Picture 21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3DF54969-1F09-046D-1D0F-754D7B2826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C1DC6EE-E739-183D-7718-E0ED7860B0E3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25" name="Freeform 4">
                  <a:extLst>
                    <a:ext uri="{FF2B5EF4-FFF2-40B4-BE49-F238E27FC236}">
                      <a16:creationId xmlns:a16="http://schemas.microsoft.com/office/drawing/2014/main" id="{5D555E4C-B7E7-DB86-B907-8FE0F8972536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74D9B9F-3CEE-0B62-9135-96BF44B059BC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1D35A03-DE60-B486-F959-26036D3746E1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38</a:t>
                </a:r>
              </a:p>
            </p:txBody>
          </p:sp>
        </p:grpSp>
        <p:pic>
          <p:nvPicPr>
            <p:cNvPr id="19" name="Picture 18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1FAA178D-5AEE-E9FA-24A6-0FEF98C97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70CE81A-87A2-E1FF-1714-C0C052F49EC7}"/>
              </a:ext>
            </a:extLst>
          </p:cNvPr>
          <p:cNvSpPr txBox="1"/>
          <p:nvPr/>
        </p:nvSpPr>
        <p:spPr>
          <a:xfrm>
            <a:off x="1616334" y="5723492"/>
            <a:ext cx="5718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Massage signal – 15MHz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 frequency – 2.45GHz, 5GHz, 10GHz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 – 100uV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D5DDE03-6F52-1DEC-629A-49E0E9C49D89}"/>
              </a:ext>
            </a:extLst>
          </p:cNvPr>
          <p:cNvSpPr/>
          <p:nvPr/>
        </p:nvSpPr>
        <p:spPr>
          <a:xfrm>
            <a:off x="3953363" y="941474"/>
            <a:ext cx="4852071" cy="3680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FDM Transient Analysis</a:t>
            </a:r>
          </a:p>
        </p:txBody>
      </p:sp>
    </p:spTree>
    <p:extLst>
      <p:ext uri="{BB962C8B-B14F-4D97-AF65-F5344CB8AC3E}">
        <p14:creationId xmlns:p14="http://schemas.microsoft.com/office/powerpoint/2010/main" val="2547482391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39BF9-D857-3A03-9796-8F965A832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998AF1B-03CC-8556-52B6-FD6C0F5AC7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A379CE4-D95F-950E-8B9E-36964B63E3F9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D92C8275-CC2C-4740-2EE2-DBB84FE93230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1B41E27-6324-4895-703F-7D1BF15ACB37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B27CDC-59F3-9285-06CF-504B9DA13A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77"/>
          <a:stretch>
            <a:fillRect/>
          </a:stretch>
        </p:blipFill>
        <p:spPr>
          <a:xfrm>
            <a:off x="1648777" y="1458587"/>
            <a:ext cx="9381407" cy="436437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F6F49F2-E8BC-8F73-2746-4191AF6D9712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772CDE1-109A-F0D2-3663-18E54BACD829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734776-4AFE-EBDF-9530-8AE65F382C70}"/>
                  </a:ext>
                </a:extLst>
              </p:cNvPr>
              <p:cNvSpPr txBox="1"/>
              <p:nvPr/>
            </p:nvSpPr>
            <p:spPr>
              <a:xfrm>
                <a:off x="9925657" y="6270433"/>
                <a:ext cx="15707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Shakil Sikder</a:t>
                </a:r>
              </a:p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021 213 048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2B3AAD8-0DD3-4EA8-2AED-3677116296E5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22" name="Picture 21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9BDA8E51-AF14-FC50-7B1B-5AC14A33B5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1778F7A-2496-2E2F-01A9-5FC995B53D59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25" name="Freeform 4">
                  <a:extLst>
                    <a:ext uri="{FF2B5EF4-FFF2-40B4-BE49-F238E27FC236}">
                      <a16:creationId xmlns:a16="http://schemas.microsoft.com/office/drawing/2014/main" id="{EA6B45C2-3C7F-4C45-276A-AC40002F2BE1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B9AC181-CF16-65A8-50BC-BA0083BFD39D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893BF410-096F-BE7E-CD0F-6E91AD5F2E99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39</a:t>
                </a:r>
              </a:p>
            </p:txBody>
          </p:sp>
        </p:grpSp>
        <p:pic>
          <p:nvPicPr>
            <p:cNvPr id="19" name="Picture 18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0672E465-2CA2-1BDF-2EAB-BFEEE9D4E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D5103B5-0CCC-6870-7C80-791F492B48AF}"/>
              </a:ext>
            </a:extLst>
          </p:cNvPr>
          <p:cNvSpPr/>
          <p:nvPr/>
        </p:nvSpPr>
        <p:spPr>
          <a:xfrm>
            <a:off x="3868084" y="1041936"/>
            <a:ext cx="4852071" cy="3680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FDM DFT Analysis</a:t>
            </a:r>
          </a:p>
        </p:txBody>
      </p:sp>
    </p:spTree>
    <p:extLst>
      <p:ext uri="{BB962C8B-B14F-4D97-AF65-F5344CB8AC3E}">
        <p14:creationId xmlns:p14="http://schemas.microsoft.com/office/powerpoint/2010/main" val="1274986968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8939-43C0-81C4-5452-DF264B66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1A1CCE-A745-02E7-730C-E4065D2391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A54E6F7-B004-3AE6-3694-BC2E3DBDD5E3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CDE42050-BE40-6545-82BF-8FDA3B4F9E45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72BC3CD-E270-725E-70EE-28007366A112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775AD3-0D9B-6215-C58D-E6FF2FE9D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59"/>
          <a:stretch>
            <a:fillRect/>
          </a:stretch>
        </p:blipFill>
        <p:spPr>
          <a:xfrm>
            <a:off x="1293404" y="1531127"/>
            <a:ext cx="10141089" cy="382673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C554F0C-22E5-395D-279B-D39A92E6AEC9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3302751-3003-333A-04C2-43DB0DD218B3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E072EB-3723-CBBC-66C5-0569B008B647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22" name="Picture 21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DC689E2E-E93F-1228-8F6E-641915E5D3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F8FB0D8-863B-E533-DFB9-43BB3760D870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25" name="Freeform 4">
                  <a:extLst>
                    <a:ext uri="{FF2B5EF4-FFF2-40B4-BE49-F238E27FC236}">
                      <a16:creationId xmlns:a16="http://schemas.microsoft.com/office/drawing/2014/main" id="{D165F553-5E75-0F46-50A4-C6E473D0A59B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A57F19E-B8E5-3D0B-1865-9281DF267C3C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56488AFC-E8FE-265C-5B38-8F14C3695CD2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</a:p>
            </p:txBody>
          </p:sp>
        </p:grpSp>
        <p:pic>
          <p:nvPicPr>
            <p:cNvPr id="19" name="Picture 18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19DD8573-5919-81A1-100A-332F19E98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FF028B9-358C-3400-1A6B-AEA383B600CF}"/>
              </a:ext>
            </a:extLst>
          </p:cNvPr>
          <p:cNvSpPr/>
          <p:nvPr/>
        </p:nvSpPr>
        <p:spPr>
          <a:xfrm>
            <a:off x="3868084" y="1041936"/>
            <a:ext cx="4852071" cy="36804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FDM Transient Analysis (cont.)</a:t>
            </a:r>
          </a:p>
        </p:txBody>
      </p:sp>
    </p:spTree>
    <p:extLst>
      <p:ext uri="{BB962C8B-B14F-4D97-AF65-F5344CB8AC3E}">
        <p14:creationId xmlns:p14="http://schemas.microsoft.com/office/powerpoint/2010/main" val="2351625666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B0DE0-D497-EF06-D5E1-FC823222D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5712CC-5FCB-B4E6-A55D-B10B5DB13AE2}"/>
              </a:ext>
            </a:extLst>
          </p:cNvPr>
          <p:cNvSpPr/>
          <p:nvPr/>
        </p:nvSpPr>
        <p:spPr>
          <a:xfrm>
            <a:off x="0" y="12094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67AEBB5-7BE7-69D3-0C01-B9211BF13740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5D1AF1D9-429F-DC29-041E-CFE2A03129E8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F106A1-AD71-9E56-F222-5ECC312ED306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FD517F-AA0C-9D02-2E97-398CAAF112DE}"/>
              </a:ext>
            </a:extLst>
          </p:cNvPr>
          <p:cNvGrpSpPr/>
          <p:nvPr/>
        </p:nvGrpSpPr>
        <p:grpSpPr>
          <a:xfrm>
            <a:off x="-443258" y="2429170"/>
            <a:ext cx="6075765" cy="2496653"/>
            <a:chOff x="685813" y="1457878"/>
            <a:chExt cx="5851310" cy="2722094"/>
          </a:xfrm>
        </p:grpSpPr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F62A2B31-19DE-3C88-83A8-518C8A915A1F}"/>
                </a:ext>
              </a:extLst>
            </p:cNvPr>
            <p:cNvSpPr/>
            <p:nvPr/>
          </p:nvSpPr>
          <p:spPr>
            <a:xfrm flipH="1">
              <a:off x="685813" y="1457878"/>
              <a:ext cx="0" cy="0"/>
            </a:xfrm>
            <a:prstGeom prst="line">
              <a:avLst/>
            </a:prstGeom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DCA111A-1E16-3317-6135-F00130A1B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0711" y="2006415"/>
              <a:ext cx="1242646" cy="144514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3B8983D-E3A9-7726-1BFB-237A9744B84F}"/>
                </a:ext>
              </a:extLst>
            </p:cNvPr>
            <p:cNvSpPr txBox="1"/>
            <p:nvPr/>
          </p:nvSpPr>
          <p:spPr>
            <a:xfrm>
              <a:off x="1726435" y="3603481"/>
              <a:ext cx="16112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6mW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78FA6B3-5883-9A2C-B5D6-82611868B93C}"/>
                </a:ext>
              </a:extLst>
            </p:cNvPr>
            <p:cNvSpPr/>
            <p:nvPr/>
          </p:nvSpPr>
          <p:spPr>
            <a:xfrm>
              <a:off x="3705707" y="2156811"/>
              <a:ext cx="1034897" cy="1126423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THD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2AA5B0-ABA2-F4B0-D509-3FE3A5CFBDF3}"/>
                </a:ext>
              </a:extLst>
            </p:cNvPr>
            <p:cNvSpPr txBox="1"/>
            <p:nvPr/>
          </p:nvSpPr>
          <p:spPr>
            <a:xfrm>
              <a:off x="3426123" y="3607290"/>
              <a:ext cx="1611293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1.3%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008531E4-FED9-B640-9724-8B80C2B45BF2}"/>
                </a:ext>
              </a:extLst>
            </p:cNvPr>
            <p:cNvSpPr/>
            <p:nvPr/>
          </p:nvSpPr>
          <p:spPr>
            <a:xfrm>
              <a:off x="5298181" y="2156811"/>
              <a:ext cx="1111510" cy="1141349"/>
            </a:xfrm>
            <a:prstGeom prst="flowChartConnector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SNR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5E6557-F158-45CB-981F-D01140162646}"/>
                </a:ext>
              </a:extLst>
            </p:cNvPr>
            <p:cNvSpPr txBox="1"/>
            <p:nvPr/>
          </p:nvSpPr>
          <p:spPr>
            <a:xfrm>
              <a:off x="5128040" y="3609507"/>
              <a:ext cx="1409083" cy="570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49 dB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6FB127A-D655-140E-ADA9-95B1314CC9E5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61F26B1-E5E9-F17D-95AE-667333C58D40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23FA83-7130-8D76-C334-8898BF2361A6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31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22" name="Picture 21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58D9C53A-1A23-0144-5517-8548BAE097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DF9BE538-80EC-325A-2B66-5BA350FFD939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30" name="Freeform 4">
                  <a:extLst>
                    <a:ext uri="{FF2B5EF4-FFF2-40B4-BE49-F238E27FC236}">
                      <a16:creationId xmlns:a16="http://schemas.microsoft.com/office/drawing/2014/main" id="{74BE461B-1361-8434-0214-E604D5B1908A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BA2FA49-5BEA-7F7F-20E0-EC6CEBFEB7DD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38E3A830-0237-0725-6BBA-97782BFD2F73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41</a:t>
                </a:r>
              </a:p>
            </p:txBody>
          </p:sp>
        </p:grpSp>
        <p:pic>
          <p:nvPicPr>
            <p:cNvPr id="19" name="Picture 18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2E41A82C-F009-7543-F542-2B815CB5D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6D42416-2FAF-58E0-BB5F-25E4B1701392}"/>
              </a:ext>
            </a:extLst>
          </p:cNvPr>
          <p:cNvSpPr/>
          <p:nvPr/>
        </p:nvSpPr>
        <p:spPr>
          <a:xfrm>
            <a:off x="6022775" y="1752143"/>
            <a:ext cx="5573256" cy="4599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Libre Baskerville"/>
                <a:ea typeface="Libre Baskerville"/>
                <a:cs typeface="Libre Baskerville"/>
                <a:sym typeface="Libre Baskerville"/>
              </a:rPr>
              <a:t>Future Direction</a:t>
            </a:r>
            <a:endParaRPr lang="en-US" sz="28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59F3C21-3AE5-739F-F740-0E15CBC2F62E}"/>
              </a:ext>
            </a:extLst>
          </p:cNvPr>
          <p:cNvSpPr/>
          <p:nvPr/>
        </p:nvSpPr>
        <p:spPr>
          <a:xfrm>
            <a:off x="6104206" y="2629754"/>
            <a:ext cx="5566176" cy="6349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entury" panose="02040604050505020304" pitchFamily="18" charset="0"/>
              </a:rPr>
              <a:t>Integration of Advanced Blocks</a:t>
            </a:r>
            <a:endParaRPr lang="en-US" sz="2800" b="1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AE1A826-6BF0-E760-CBA7-313D93EDF5A4}"/>
              </a:ext>
            </a:extLst>
          </p:cNvPr>
          <p:cNvSpPr/>
          <p:nvPr/>
        </p:nvSpPr>
        <p:spPr>
          <a:xfrm>
            <a:off x="6135580" y="3698323"/>
            <a:ext cx="5534801" cy="6349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entury" panose="02040604050505020304" pitchFamily="18" charset="0"/>
              </a:rPr>
              <a:t>Physical Layout Design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66F75E6-23C7-B296-800B-0006E2EDDAC0}"/>
              </a:ext>
            </a:extLst>
          </p:cNvPr>
          <p:cNvSpPr/>
          <p:nvPr/>
        </p:nvSpPr>
        <p:spPr>
          <a:xfrm>
            <a:off x="6154126" y="4772189"/>
            <a:ext cx="5516255" cy="63492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entury" panose="02040604050505020304" pitchFamily="18" charset="0"/>
              </a:rPr>
              <a:t>Further Power Optimization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4EBDEB4E-662C-B7B4-0FA2-0C1CCC3F8CB3}"/>
              </a:ext>
            </a:extLst>
          </p:cNvPr>
          <p:cNvSpPr/>
          <p:nvPr/>
        </p:nvSpPr>
        <p:spPr>
          <a:xfrm>
            <a:off x="7708856" y="4333251"/>
            <a:ext cx="407874" cy="533446"/>
          </a:xfrm>
          <a:prstGeom prst="down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A1A1936A-C169-5734-7926-F8553DC41550}"/>
              </a:ext>
            </a:extLst>
          </p:cNvPr>
          <p:cNvSpPr/>
          <p:nvPr/>
        </p:nvSpPr>
        <p:spPr>
          <a:xfrm>
            <a:off x="7708856" y="3268169"/>
            <a:ext cx="407874" cy="533446"/>
          </a:xfrm>
          <a:prstGeom prst="down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B35ED1E-0C07-ADCD-D913-1591B9A7EAF2}"/>
              </a:ext>
            </a:extLst>
          </p:cNvPr>
          <p:cNvSpPr/>
          <p:nvPr/>
        </p:nvSpPr>
        <p:spPr>
          <a:xfrm>
            <a:off x="701255" y="1741228"/>
            <a:ext cx="5057039" cy="4599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Libre Baskerville"/>
                <a:ea typeface="Libre Baskerville"/>
                <a:cs typeface="Libre Baskerville"/>
                <a:sym typeface="Libre Baskerville"/>
              </a:rPr>
              <a:t>Output Summary</a:t>
            </a:r>
          </a:p>
        </p:txBody>
      </p:sp>
    </p:spTree>
    <p:extLst>
      <p:ext uri="{BB962C8B-B14F-4D97-AF65-F5344CB8AC3E}">
        <p14:creationId xmlns:p14="http://schemas.microsoft.com/office/powerpoint/2010/main" val="3990113863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4A05-DD93-F134-2AAC-F4E20517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A7A483-CA5F-9E47-670E-D57B0B3627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ED111CC-AA45-9EC6-2E0B-0A59DB826798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EAAF5D9E-3E43-AB3E-3F86-C0C044C96975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2BE7C9D-6182-E0C1-829D-E08552115CE8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051755-8A7F-B337-017B-D4CEDACD4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51" y="1807478"/>
            <a:ext cx="11940897" cy="30158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885081-2050-81A2-E265-1747DDD8C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344" y="5068032"/>
            <a:ext cx="643983" cy="66997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010AB3-953C-A199-A013-292780C00730}"/>
              </a:ext>
            </a:extLst>
          </p:cNvPr>
          <p:cNvSpPr txBox="1"/>
          <p:nvPr/>
        </p:nvSpPr>
        <p:spPr>
          <a:xfrm>
            <a:off x="2289327" y="5218353"/>
            <a:ext cx="333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Consumption of 8.79mW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E86FBE-A6A5-4F74-3241-1BEBD5EFEC5E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438F6A8-2EC9-D6A8-4D86-F56CD07A4760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89A28CF-8278-4954-6AFD-0D584993B8C6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23" name="Picture 22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84DD6EA3-33D1-F797-5552-D59C16DF22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A7E822C-9C47-2121-5295-1ECC9911C390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26" name="Freeform 4">
                  <a:extLst>
                    <a:ext uri="{FF2B5EF4-FFF2-40B4-BE49-F238E27FC236}">
                      <a16:creationId xmlns:a16="http://schemas.microsoft.com/office/drawing/2014/main" id="{1E90A345-CF4F-B5DB-1B98-3EEEBE82D1EB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0032C9B-8031-ABA3-0FE5-BCD98524448D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3558503F-A11D-8AE5-7C21-113B66B36FD5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42</a:t>
                </a:r>
              </a:p>
            </p:txBody>
          </p:sp>
        </p:grpSp>
        <p:pic>
          <p:nvPicPr>
            <p:cNvPr id="20" name="Picture 19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337BB0BC-A387-22D5-1FC0-B8D5DE039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F4DFA76-0374-8D88-AD3C-5A90672400F0}"/>
              </a:ext>
            </a:extLst>
          </p:cNvPr>
          <p:cNvSpPr/>
          <p:nvPr/>
        </p:nvSpPr>
        <p:spPr>
          <a:xfrm>
            <a:off x="3832036" y="1272505"/>
            <a:ext cx="5211603" cy="4846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I/Q (In-phase &amp; Quadrature) Structure</a:t>
            </a:r>
          </a:p>
        </p:txBody>
      </p:sp>
    </p:spTree>
    <p:extLst>
      <p:ext uri="{BB962C8B-B14F-4D97-AF65-F5344CB8AC3E}">
        <p14:creationId xmlns:p14="http://schemas.microsoft.com/office/powerpoint/2010/main" val="656609166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061B2-78EE-2763-1B04-4EE54C59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3C2DF0-348F-AC9E-4E85-C5CA30F5BB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2CE5D86-6756-8476-61F0-4FAB580F6324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E30C3D85-4A90-2974-48AB-07A8CD86ABAD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13DC0D1-9A66-44A5-01CC-D88B6A7B7706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703E08-C540-17F1-041A-2D6A2A329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43" y="1807478"/>
            <a:ext cx="10726747" cy="315499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EE36416-5F4A-20E8-7FC6-C5104C5D9828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9CED529-56F9-6542-1F00-4CF3BEFE7394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2B38C0-8747-1B82-31AC-DC11186860E2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8" name="Picture 7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CCDDCF3E-743B-E87C-D3A4-ECCB8B51A4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9A258C7-7075-4533-A776-4AAC296A9936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11" name="Freeform 4">
                  <a:extLst>
                    <a:ext uri="{FF2B5EF4-FFF2-40B4-BE49-F238E27FC236}">
                      <a16:creationId xmlns:a16="http://schemas.microsoft.com/office/drawing/2014/main" id="{B9B15B94-C31C-8B59-BFE0-58748389DD88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B47EA54-727D-2587-A7A1-70B032134E27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6B596BE6-9B92-09A4-71B1-EB0775E55BE9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43</a:t>
                </a:r>
              </a:p>
            </p:txBody>
          </p:sp>
        </p:grpSp>
        <p:pic>
          <p:nvPicPr>
            <p:cNvPr id="6" name="Picture 5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8F15A7E6-A047-1EAE-6FC5-5A1FDEA6C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F43F83-83EC-6A65-9F19-26BF235BA4F0}"/>
              </a:ext>
            </a:extLst>
          </p:cNvPr>
          <p:cNvSpPr/>
          <p:nvPr/>
        </p:nvSpPr>
        <p:spPr>
          <a:xfrm>
            <a:off x="3674854" y="1191808"/>
            <a:ext cx="5211603" cy="4846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Single Tone Test</a:t>
            </a:r>
          </a:p>
        </p:txBody>
      </p:sp>
    </p:spTree>
    <p:extLst>
      <p:ext uri="{BB962C8B-B14F-4D97-AF65-F5344CB8AC3E}">
        <p14:creationId xmlns:p14="http://schemas.microsoft.com/office/powerpoint/2010/main" val="224358622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3F02B-3DD7-959C-0BCE-BBAEE381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56EAF0-0738-A011-BF69-6AF7508DCF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7988AE3-0C0D-7FFA-BA67-9573949287D2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RF Receiver 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8F3EED5A-BB69-8B86-DC30-4C6BF6B1602D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44767D1-D965-2E06-E5DF-C9885D29306E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BB75E2-CE12-C87C-FADD-73D171FA1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29" y="1978037"/>
            <a:ext cx="5718004" cy="4108287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1DE60DE-50D7-9FA2-5B97-A45DD0A3EC25}"/>
              </a:ext>
            </a:extLst>
          </p:cNvPr>
          <p:cNvSpPr/>
          <p:nvPr/>
        </p:nvSpPr>
        <p:spPr>
          <a:xfrm>
            <a:off x="837029" y="1380911"/>
            <a:ext cx="5211603" cy="4846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Lissajous pattern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76C403-5761-CED5-F1B2-E0D61115D589}"/>
              </a:ext>
            </a:extLst>
          </p:cNvPr>
          <p:cNvSpPr txBox="1"/>
          <p:nvPr/>
        </p:nvSpPr>
        <p:spPr>
          <a:xfrm>
            <a:off x="6511515" y="2994811"/>
            <a:ext cx="5226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Century" panose="02040604050505020304" pitchFamily="18" charset="0"/>
              </a:rPr>
              <a:t>The perfect circular Lissajous pattern confirms 0 dB gain mismatch and 0 phase error between the I and Q channels.</a:t>
            </a:r>
          </a:p>
          <a:p>
            <a:pPr algn="just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8395526-BFA9-2EA7-DBD5-5297C5542BA6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80BDA54-E8AB-0116-CD5E-186B53831598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CBF73E-DE24-B275-2C75-A6B6A4366977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01</a:t>
                </a:r>
              </a:p>
            </p:txBody>
          </p:sp>
          <p:pic>
            <p:nvPicPr>
              <p:cNvPr id="22" name="Picture 21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3110C66E-DC48-6ED4-37B1-8802D541F9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AD56CA0-4EB7-345A-E565-001934173445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25" name="Freeform 4">
                  <a:extLst>
                    <a:ext uri="{FF2B5EF4-FFF2-40B4-BE49-F238E27FC236}">
                      <a16:creationId xmlns:a16="http://schemas.microsoft.com/office/drawing/2014/main" id="{69DF667A-DBB1-38BD-F140-41C19E6BC9C3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A006B7E-FCC0-9EF2-620A-B9B36934AD41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1E569091-380B-21F7-E49A-C40D3745345C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44</a:t>
                </a:r>
              </a:p>
            </p:txBody>
          </p:sp>
        </p:grpSp>
        <p:pic>
          <p:nvPicPr>
            <p:cNvPr id="20" name="Picture 19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6A99ECC6-26FD-DD49-917C-987DE764C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6548880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73164-5D2C-E43F-CB05-B26AC601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010F8F7-9D98-1F7D-A2E3-F615B360F7E5}"/>
              </a:ext>
            </a:extLst>
          </p:cNvPr>
          <p:cNvSpPr/>
          <p:nvPr/>
        </p:nvSpPr>
        <p:spPr>
          <a:xfrm>
            <a:off x="0" y="0"/>
            <a:ext cx="12180778" cy="68970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BAB0CAF-AF17-F317-2F8A-587F7C301405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Project Attributes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7231EDAF-4AD0-7B2F-C9BD-D880233CD9CC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3BC6B0-1F9E-4E56-8AE1-F064E823DA40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6090C26-DF28-C8CC-6E15-64B58A121BDD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D817EBBB-19F1-EA19-D71C-36DB3513E203}"/>
              </a:ext>
            </a:extLst>
          </p:cNvPr>
          <p:cNvSpPr/>
          <p:nvPr/>
        </p:nvSpPr>
        <p:spPr>
          <a:xfrm>
            <a:off x="1813164" y="1707463"/>
            <a:ext cx="8392716" cy="541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5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0BA3715-4510-0859-7A86-98F82A8D0AF4}"/>
              </a:ext>
            </a:extLst>
          </p:cNvPr>
          <p:cNvGrpSpPr/>
          <p:nvPr/>
        </p:nvGrpSpPr>
        <p:grpSpPr>
          <a:xfrm>
            <a:off x="668166" y="2363012"/>
            <a:ext cx="3536543" cy="2919362"/>
            <a:chOff x="606128" y="1910098"/>
            <a:chExt cx="3595638" cy="2682837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C8EE0874-FCF2-28B8-EB1D-BBC352E3AC9A}"/>
                </a:ext>
              </a:extLst>
            </p:cNvPr>
            <p:cNvSpPr/>
            <p:nvPr/>
          </p:nvSpPr>
          <p:spPr>
            <a:xfrm>
              <a:off x="606128" y="2180332"/>
              <a:ext cx="3544491" cy="2412603"/>
            </a:xfrm>
            <a:prstGeom prst="roundRect">
              <a:avLst>
                <a:gd name="adj" fmla="val 4351"/>
              </a:avLst>
            </a:prstGeom>
            <a:solidFill>
              <a:srgbClr val="F9F9FF"/>
            </a:solidFill>
            <a:ln/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F923F942-AA6F-F03E-8D04-43CA671BF1D8}"/>
                </a:ext>
              </a:extLst>
            </p:cNvPr>
            <p:cNvSpPr/>
            <p:nvPr/>
          </p:nvSpPr>
          <p:spPr>
            <a:xfrm>
              <a:off x="606128" y="2161282"/>
              <a:ext cx="3544491" cy="76200"/>
            </a:xfrm>
            <a:prstGeom prst="roundRect">
              <a:avLst>
                <a:gd name="adj" fmla="val 95469"/>
              </a:avLst>
            </a:prstGeom>
            <a:solidFill>
              <a:srgbClr val="1B54DA"/>
            </a:solidFill>
            <a:ln/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28147544-D273-518F-677B-90AE9C36CDD0}"/>
                </a:ext>
              </a:extLst>
            </p:cNvPr>
            <p:cNvSpPr/>
            <p:nvPr/>
          </p:nvSpPr>
          <p:spPr>
            <a:xfrm>
              <a:off x="1888275" y="1910098"/>
              <a:ext cx="790371" cy="462467"/>
            </a:xfrm>
            <a:prstGeom prst="roundRect">
              <a:avLst>
                <a:gd name="adj" fmla="val 146649"/>
              </a:avLst>
            </a:prstGeom>
            <a:solidFill>
              <a:srgbClr val="1B54DA"/>
            </a:solidFill>
            <a:ln/>
          </p:spPr>
          <p:txBody>
            <a:bodyPr/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</a:t>
              </a:r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A1390A86-F8BE-7EEE-9F16-A52C87657070}"/>
                </a:ext>
              </a:extLst>
            </p:cNvPr>
            <p:cNvSpPr/>
            <p:nvPr/>
          </p:nvSpPr>
          <p:spPr>
            <a:xfrm>
              <a:off x="798315" y="2613323"/>
              <a:ext cx="2414191" cy="2705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125"/>
                </a:lnSpc>
              </a:pPr>
              <a:r>
                <a:rPr lang="en-US" sz="1600" b="1" dirty="0"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PO2: Problem Analysis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2">
              <a:extLst>
                <a:ext uri="{FF2B5EF4-FFF2-40B4-BE49-F238E27FC236}">
                  <a16:creationId xmlns:a16="http://schemas.microsoft.com/office/drawing/2014/main" id="{60FE8FAD-91B9-6E7D-6E8C-92421DD4BAD7}"/>
                </a:ext>
              </a:extLst>
            </p:cNvPr>
            <p:cNvSpPr/>
            <p:nvPr/>
          </p:nvSpPr>
          <p:spPr>
            <a:xfrm>
              <a:off x="762844" y="2970452"/>
              <a:ext cx="3438922" cy="5411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125"/>
                </a:lnSpc>
              </a:pPr>
              <a:r>
                <a:rPr lang="en-US" sz="1600" b="1" dirty="0"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PO3: Design/Development of Solutions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18">
              <a:extLst>
                <a:ext uri="{FF2B5EF4-FFF2-40B4-BE49-F238E27FC236}">
                  <a16:creationId xmlns:a16="http://schemas.microsoft.com/office/drawing/2014/main" id="{43583191-53A3-3ED8-A1FD-96BADF2D228A}"/>
                </a:ext>
              </a:extLst>
            </p:cNvPr>
            <p:cNvSpPr/>
            <p:nvPr/>
          </p:nvSpPr>
          <p:spPr>
            <a:xfrm>
              <a:off x="743887" y="3603650"/>
              <a:ext cx="2165053" cy="2705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125"/>
                </a:lnSpc>
              </a:pPr>
              <a:r>
                <a:rPr lang="en-US" sz="1600" b="1" dirty="0"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PO4: Investigation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24">
              <a:extLst>
                <a:ext uri="{FF2B5EF4-FFF2-40B4-BE49-F238E27FC236}">
                  <a16:creationId xmlns:a16="http://schemas.microsoft.com/office/drawing/2014/main" id="{A35D478E-38CD-6A9B-633D-6B8CC75B166C}"/>
                </a:ext>
              </a:extLst>
            </p:cNvPr>
            <p:cNvSpPr/>
            <p:nvPr/>
          </p:nvSpPr>
          <p:spPr>
            <a:xfrm>
              <a:off x="743887" y="3946636"/>
              <a:ext cx="2622352" cy="2705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125"/>
                </a:lnSpc>
              </a:pPr>
              <a:r>
                <a:rPr lang="en-US" sz="1600" b="1" dirty="0"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PO5: Modern Tool Usage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30">
              <a:extLst>
                <a:ext uri="{FF2B5EF4-FFF2-40B4-BE49-F238E27FC236}">
                  <a16:creationId xmlns:a16="http://schemas.microsoft.com/office/drawing/2014/main" id="{199B2B3F-108C-80AE-C801-3F8A0A6FCCF2}"/>
                </a:ext>
              </a:extLst>
            </p:cNvPr>
            <p:cNvSpPr/>
            <p:nvPr/>
          </p:nvSpPr>
          <p:spPr>
            <a:xfrm>
              <a:off x="762844" y="4261743"/>
              <a:ext cx="2850654" cy="2705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125"/>
                </a:lnSpc>
              </a:pPr>
              <a:r>
                <a:rPr lang="en-US" sz="1600" b="1" dirty="0"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PO6: Engineer and Society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A445293-F71C-EE80-8C1D-4A82DF4B1C04}"/>
              </a:ext>
            </a:extLst>
          </p:cNvPr>
          <p:cNvSpPr txBox="1"/>
          <p:nvPr/>
        </p:nvSpPr>
        <p:spPr>
          <a:xfrm>
            <a:off x="767965" y="1330471"/>
            <a:ext cx="345649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83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Outcomes (POs) </a:t>
            </a:r>
          </a:p>
        </p:txBody>
      </p:sp>
      <p:pic>
        <p:nvPicPr>
          <p:cNvPr id="19" name="Graphic 18" descr="Tools with solid fill">
            <a:extLst>
              <a:ext uri="{FF2B5EF4-FFF2-40B4-BE49-F238E27FC236}">
                <a16:creationId xmlns:a16="http://schemas.microsoft.com/office/drawing/2014/main" id="{EDDE787B-6209-26D6-5026-E8B7DC1CE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965" y="1388677"/>
            <a:ext cx="270990" cy="27099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56A6D40-75F7-7A23-4442-B0EAC16B864E}"/>
              </a:ext>
            </a:extLst>
          </p:cNvPr>
          <p:cNvGrpSpPr/>
          <p:nvPr/>
        </p:nvGrpSpPr>
        <p:grpSpPr>
          <a:xfrm>
            <a:off x="4670163" y="2374416"/>
            <a:ext cx="3580359" cy="2907958"/>
            <a:chOff x="606128" y="1920578"/>
            <a:chExt cx="3640187" cy="2672357"/>
          </a:xfrm>
        </p:grpSpPr>
        <p:sp>
          <p:nvSpPr>
            <p:cNvPr id="21" name="Shape 2">
              <a:extLst>
                <a:ext uri="{FF2B5EF4-FFF2-40B4-BE49-F238E27FC236}">
                  <a16:creationId xmlns:a16="http://schemas.microsoft.com/office/drawing/2014/main" id="{52489BAD-93FD-4164-B3F7-820C26B27EA4}"/>
                </a:ext>
              </a:extLst>
            </p:cNvPr>
            <p:cNvSpPr/>
            <p:nvPr/>
          </p:nvSpPr>
          <p:spPr>
            <a:xfrm>
              <a:off x="606128" y="2180332"/>
              <a:ext cx="2366317" cy="2412603"/>
            </a:xfrm>
            <a:prstGeom prst="roundRect">
              <a:avLst>
                <a:gd name="adj" fmla="val 4351"/>
              </a:avLst>
            </a:prstGeom>
            <a:solidFill>
              <a:srgbClr val="F9F9FF"/>
            </a:solidFill>
            <a:ln/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Shape 3">
              <a:extLst>
                <a:ext uri="{FF2B5EF4-FFF2-40B4-BE49-F238E27FC236}">
                  <a16:creationId xmlns:a16="http://schemas.microsoft.com/office/drawing/2014/main" id="{0A6606D7-0ACF-E550-F854-58E08538DA10}"/>
                </a:ext>
              </a:extLst>
            </p:cNvPr>
            <p:cNvSpPr/>
            <p:nvPr/>
          </p:nvSpPr>
          <p:spPr>
            <a:xfrm>
              <a:off x="606128" y="2161282"/>
              <a:ext cx="2366317" cy="70532"/>
            </a:xfrm>
            <a:prstGeom prst="roundRect">
              <a:avLst>
                <a:gd name="adj" fmla="val 95469"/>
              </a:avLst>
            </a:prstGeom>
            <a:solidFill>
              <a:srgbClr val="1B54DA"/>
            </a:solidFill>
            <a:ln/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Shape 4">
              <a:extLst>
                <a:ext uri="{FF2B5EF4-FFF2-40B4-BE49-F238E27FC236}">
                  <a16:creationId xmlns:a16="http://schemas.microsoft.com/office/drawing/2014/main" id="{BBBF9386-DEC7-FA8D-F2FE-17D32D46B5FE}"/>
                </a:ext>
              </a:extLst>
            </p:cNvPr>
            <p:cNvSpPr/>
            <p:nvPr/>
          </p:nvSpPr>
          <p:spPr>
            <a:xfrm>
              <a:off x="1441105" y="1920578"/>
              <a:ext cx="692679" cy="462467"/>
            </a:xfrm>
            <a:prstGeom prst="roundRect">
              <a:avLst>
                <a:gd name="adj" fmla="val 146649"/>
              </a:avLst>
            </a:prstGeom>
            <a:solidFill>
              <a:srgbClr val="1B54DA"/>
            </a:solidFill>
            <a:ln/>
          </p:spPr>
          <p:txBody>
            <a:bodyPr/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K’s</a:t>
              </a:r>
            </a:p>
          </p:txBody>
        </p:sp>
        <p:sp>
          <p:nvSpPr>
            <p:cNvPr id="24" name="Text 6">
              <a:extLst>
                <a:ext uri="{FF2B5EF4-FFF2-40B4-BE49-F238E27FC236}">
                  <a16:creationId xmlns:a16="http://schemas.microsoft.com/office/drawing/2014/main" id="{F0CB63EE-09D1-6850-F4B7-5D676C08CC22}"/>
                </a:ext>
              </a:extLst>
            </p:cNvPr>
            <p:cNvSpPr/>
            <p:nvPr/>
          </p:nvSpPr>
          <p:spPr>
            <a:xfrm>
              <a:off x="811762" y="2623972"/>
              <a:ext cx="2414191" cy="2705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indent="-285750">
                <a:lnSpc>
                  <a:spcPts val="2125"/>
                </a:lnSpc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K01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A64A2706-08E8-CE80-503E-2789DA4757EB}"/>
                </a:ext>
              </a:extLst>
            </p:cNvPr>
            <p:cNvSpPr/>
            <p:nvPr/>
          </p:nvSpPr>
          <p:spPr>
            <a:xfrm>
              <a:off x="807393" y="3794048"/>
              <a:ext cx="3438922" cy="5411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>
                <a:lnSpc>
                  <a:spcPts val="2125"/>
                </a:lnSpc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K05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7120CFDE-AF36-361F-936F-1042E5AFB8AE}"/>
                </a:ext>
              </a:extLst>
            </p:cNvPr>
            <p:cNvSpPr/>
            <p:nvPr/>
          </p:nvSpPr>
          <p:spPr>
            <a:xfrm>
              <a:off x="807393" y="4156416"/>
              <a:ext cx="2165053" cy="2705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indent="-285750">
                <a:lnSpc>
                  <a:spcPts val="2125"/>
                </a:lnSpc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K08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C3AB285A-1591-632F-CF7A-82A6892E86F1}"/>
                </a:ext>
              </a:extLst>
            </p:cNvPr>
            <p:cNvSpPr/>
            <p:nvPr/>
          </p:nvSpPr>
          <p:spPr>
            <a:xfrm>
              <a:off x="807393" y="3022312"/>
              <a:ext cx="2622352" cy="2705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indent="-285750">
                <a:lnSpc>
                  <a:spcPts val="2125"/>
                </a:lnSpc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K03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30">
              <a:extLst>
                <a:ext uri="{FF2B5EF4-FFF2-40B4-BE49-F238E27FC236}">
                  <a16:creationId xmlns:a16="http://schemas.microsoft.com/office/drawing/2014/main" id="{A5D97245-012A-403B-31B2-5AB04D1EBDF4}"/>
                </a:ext>
              </a:extLst>
            </p:cNvPr>
            <p:cNvSpPr/>
            <p:nvPr/>
          </p:nvSpPr>
          <p:spPr>
            <a:xfrm>
              <a:off x="807393" y="3408180"/>
              <a:ext cx="2850654" cy="2705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indent="-285750">
                <a:lnSpc>
                  <a:spcPts val="2125"/>
                </a:lnSpc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K04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5B0CC3-97FE-BAFA-D188-44880EBF0AD8}"/>
              </a:ext>
            </a:extLst>
          </p:cNvPr>
          <p:cNvGrpSpPr/>
          <p:nvPr/>
        </p:nvGrpSpPr>
        <p:grpSpPr>
          <a:xfrm>
            <a:off x="7620494" y="2350321"/>
            <a:ext cx="3670738" cy="2935454"/>
            <a:chOff x="567296" y="1899117"/>
            <a:chExt cx="3732076" cy="2697624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743C44B4-2234-74FB-AA09-1F08919D27F9}"/>
                </a:ext>
              </a:extLst>
            </p:cNvPr>
            <p:cNvSpPr/>
            <p:nvPr/>
          </p:nvSpPr>
          <p:spPr>
            <a:xfrm>
              <a:off x="567296" y="2161282"/>
              <a:ext cx="3732076" cy="2435459"/>
            </a:xfrm>
            <a:prstGeom prst="roundRect">
              <a:avLst>
                <a:gd name="adj" fmla="val 4351"/>
              </a:avLst>
            </a:prstGeom>
            <a:solidFill>
              <a:srgbClr val="F9F9FF"/>
            </a:solidFill>
            <a:ln/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8B717B86-9691-EC3D-0AD3-73BD35475994}"/>
                </a:ext>
              </a:extLst>
            </p:cNvPr>
            <p:cNvSpPr/>
            <p:nvPr/>
          </p:nvSpPr>
          <p:spPr>
            <a:xfrm>
              <a:off x="606128" y="2161282"/>
              <a:ext cx="3693244" cy="64272"/>
            </a:xfrm>
            <a:prstGeom prst="roundRect">
              <a:avLst>
                <a:gd name="adj" fmla="val 95469"/>
              </a:avLst>
            </a:prstGeom>
            <a:solidFill>
              <a:srgbClr val="1B54DA"/>
            </a:solidFill>
            <a:ln/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Shape 4">
              <a:extLst>
                <a:ext uri="{FF2B5EF4-FFF2-40B4-BE49-F238E27FC236}">
                  <a16:creationId xmlns:a16="http://schemas.microsoft.com/office/drawing/2014/main" id="{D2E0C846-D894-B62B-2E40-DA18AFBB63AB}"/>
                </a:ext>
              </a:extLst>
            </p:cNvPr>
            <p:cNvSpPr/>
            <p:nvPr/>
          </p:nvSpPr>
          <p:spPr>
            <a:xfrm>
              <a:off x="2033087" y="1899117"/>
              <a:ext cx="850286" cy="472831"/>
            </a:xfrm>
            <a:prstGeom prst="roundRect">
              <a:avLst>
                <a:gd name="adj" fmla="val 146649"/>
              </a:avLst>
            </a:prstGeom>
            <a:solidFill>
              <a:srgbClr val="1B54DA"/>
            </a:solidFill>
            <a:ln/>
          </p:spPr>
          <p:txBody>
            <a:bodyPr/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SDG</a:t>
              </a:r>
            </a:p>
          </p:txBody>
        </p:sp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583A7CA6-2C3C-B881-91F4-355C520C4B6E}"/>
                </a:ext>
              </a:extLst>
            </p:cNvPr>
            <p:cNvSpPr/>
            <p:nvPr/>
          </p:nvSpPr>
          <p:spPr>
            <a:xfrm>
              <a:off x="825993" y="2587017"/>
              <a:ext cx="2414191" cy="2705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125"/>
                </a:lnSpc>
              </a:pPr>
              <a:r>
                <a:rPr lang="en-US" sz="1600" b="1" u="sng" dirty="0"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SDG 4  </a:t>
              </a:r>
              <a:r>
                <a:rPr lang="en-US" sz="1600" b="1" dirty="0">
                  <a:latin typeface="Times New Roman" panose="02020603050405020304" pitchFamily="18" charset="0"/>
                  <a:ea typeface="Nobile" pitchFamily="34" charset="-122"/>
                  <a:cs typeface="Times New Roman" panose="02020603050405020304" pitchFamily="18" charset="0"/>
                </a:rPr>
                <a:t>Quality Education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12">
              <a:extLst>
                <a:ext uri="{FF2B5EF4-FFF2-40B4-BE49-F238E27FC236}">
                  <a16:creationId xmlns:a16="http://schemas.microsoft.com/office/drawing/2014/main" id="{4903BE58-2717-CBA2-81A5-E185528E8A49}"/>
                </a:ext>
              </a:extLst>
            </p:cNvPr>
            <p:cNvSpPr/>
            <p:nvPr/>
          </p:nvSpPr>
          <p:spPr>
            <a:xfrm>
              <a:off x="825993" y="2926244"/>
              <a:ext cx="3396220" cy="5411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125"/>
                </a:lnSpc>
              </a:pPr>
              <a:r>
                <a:rPr lang="en-US" sz="1600" b="1" u="sng" dirty="0">
                  <a:latin typeface="Times New Roman" panose="02020603050405020304" pitchFamily="18" charset="0"/>
                  <a:ea typeface="Nobile" pitchFamily="34" charset="-122"/>
                  <a:cs typeface="Times New Roman" panose="02020603050405020304" pitchFamily="18" charset="0"/>
                </a:rPr>
                <a:t>SDG 7 </a:t>
              </a:r>
              <a:r>
                <a:rPr lang="en-US" sz="1600" b="1" dirty="0">
                  <a:latin typeface="Times New Roman" panose="02020603050405020304" pitchFamily="18" charset="0"/>
                  <a:ea typeface="Nobile" pitchFamily="34" charset="-122"/>
                  <a:cs typeface="Times New Roman" panose="02020603050405020304" pitchFamily="18" charset="0"/>
                </a:rPr>
                <a:t>Affordable and Clean Energy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18">
              <a:extLst>
                <a:ext uri="{FF2B5EF4-FFF2-40B4-BE49-F238E27FC236}">
                  <a16:creationId xmlns:a16="http://schemas.microsoft.com/office/drawing/2014/main" id="{13906D3B-39F7-0BED-A023-B22FB91391AB}"/>
                </a:ext>
              </a:extLst>
            </p:cNvPr>
            <p:cNvSpPr/>
            <p:nvPr/>
          </p:nvSpPr>
          <p:spPr>
            <a:xfrm>
              <a:off x="809338" y="3488091"/>
              <a:ext cx="2869610" cy="4240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125"/>
                </a:lnSpc>
              </a:pPr>
              <a:r>
                <a:rPr lang="en-US" sz="1600" b="1" u="sng" dirty="0">
                  <a:latin typeface="Times New Roman" panose="02020603050405020304" pitchFamily="18" charset="0"/>
                  <a:ea typeface="Nobile" pitchFamily="34" charset="-122"/>
                  <a:cs typeface="Times New Roman" panose="02020603050405020304" pitchFamily="18" charset="0"/>
                </a:rPr>
                <a:t>SDG 9 </a:t>
              </a:r>
              <a:r>
                <a:rPr lang="en-US" sz="1600" b="1" dirty="0">
                  <a:latin typeface="Times New Roman" panose="02020603050405020304" pitchFamily="18" charset="0"/>
                  <a:ea typeface="Nobile" pitchFamily="34" charset="-122"/>
                  <a:cs typeface="Times New Roman" panose="02020603050405020304" pitchFamily="18" charset="0"/>
                </a:rPr>
                <a:t>Industry, Innovation, and </a:t>
              </a:r>
            </a:p>
            <a:p>
              <a:pPr>
                <a:lnSpc>
                  <a:spcPts val="2125"/>
                </a:lnSpc>
              </a:pPr>
              <a:r>
                <a:rPr lang="en-US" sz="1600" b="1" dirty="0">
                  <a:latin typeface="Times New Roman" panose="02020603050405020304" pitchFamily="18" charset="0"/>
                  <a:ea typeface="Nobile" pitchFamily="34" charset="-122"/>
                  <a:cs typeface="Times New Roman" panose="02020603050405020304" pitchFamily="18" charset="0"/>
                </a:rPr>
                <a:t>Infrastructure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 30">
              <a:extLst>
                <a:ext uri="{FF2B5EF4-FFF2-40B4-BE49-F238E27FC236}">
                  <a16:creationId xmlns:a16="http://schemas.microsoft.com/office/drawing/2014/main" id="{91B55E0E-9EE5-77DC-F268-9051EF777EF0}"/>
                </a:ext>
              </a:extLst>
            </p:cNvPr>
            <p:cNvSpPr/>
            <p:nvPr/>
          </p:nvSpPr>
          <p:spPr>
            <a:xfrm>
              <a:off x="809338" y="4027473"/>
              <a:ext cx="2850654" cy="2705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125"/>
                </a:lnSpc>
              </a:pPr>
              <a:r>
                <a:rPr lang="en-US" sz="1600" b="1" u="sng" dirty="0">
                  <a:latin typeface="Times New Roman" panose="02020603050405020304" pitchFamily="18" charset="0"/>
                  <a:ea typeface="Nobile" pitchFamily="34" charset="-122"/>
                  <a:cs typeface="Times New Roman" panose="02020603050405020304" pitchFamily="18" charset="0"/>
                </a:rPr>
                <a:t>SDG 12 </a:t>
              </a:r>
              <a:r>
                <a:rPr lang="en-US" sz="1600" b="1" dirty="0">
                  <a:latin typeface="Times New Roman" panose="02020603050405020304" pitchFamily="18" charset="0"/>
                  <a:ea typeface="Nobile" pitchFamily="34" charset="-122"/>
                  <a:cs typeface="Times New Roman" panose="02020603050405020304" pitchFamily="18" charset="0"/>
                </a:rPr>
                <a:t>Responsible Consumption </a:t>
              </a:r>
            </a:p>
            <a:p>
              <a:pPr>
                <a:lnSpc>
                  <a:spcPts val="2125"/>
                </a:lnSpc>
              </a:pPr>
              <a:r>
                <a:rPr lang="en-US" sz="1600" b="1" dirty="0">
                  <a:latin typeface="Times New Roman" panose="02020603050405020304" pitchFamily="18" charset="0"/>
                  <a:ea typeface="Nobile" pitchFamily="34" charset="-122"/>
                  <a:cs typeface="Times New Roman" panose="02020603050405020304" pitchFamily="18" charset="0"/>
                </a:rPr>
                <a:t>and Production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E47481C-2443-9B36-9B80-19E9E4481C23}"/>
              </a:ext>
            </a:extLst>
          </p:cNvPr>
          <p:cNvGrpSpPr/>
          <p:nvPr/>
        </p:nvGrpSpPr>
        <p:grpSpPr>
          <a:xfrm>
            <a:off x="4301518" y="1242979"/>
            <a:ext cx="7042960" cy="710382"/>
            <a:chOff x="4309955" y="1198100"/>
            <a:chExt cx="7042960" cy="71038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FD5883C-ECF4-DBD1-9ABE-DC8C6F9B1CCE}"/>
                </a:ext>
              </a:extLst>
            </p:cNvPr>
            <p:cNvSpPr txBox="1"/>
            <p:nvPr/>
          </p:nvSpPr>
          <p:spPr>
            <a:xfrm>
              <a:off x="4599043" y="1277540"/>
              <a:ext cx="6753872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083"/>
                </a:lnSpc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Profile (K)               Sustainability &amp; SDG Alignment</a:t>
              </a:r>
            </a:p>
            <a:p>
              <a:pPr algn="ctr">
                <a:lnSpc>
                  <a:spcPts val="2083"/>
                </a:lnSpc>
              </a:pP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0" name="Graphic 29" descr="Brain in head with solid fill">
              <a:extLst>
                <a:ext uri="{FF2B5EF4-FFF2-40B4-BE49-F238E27FC236}">
                  <a16:creationId xmlns:a16="http://schemas.microsoft.com/office/drawing/2014/main" id="{A9733111-4875-21E0-1FF4-966D64047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09955" y="1249374"/>
              <a:ext cx="380096" cy="380096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48A9A3E-265E-13C7-00D6-0986EC279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51339" y="1198100"/>
              <a:ext cx="380096" cy="472523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703F1E4-65D6-EC08-960B-1F4CEF038877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58F0B78-C320-6A62-B934-6E057540F2E7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B6C0A3D-74FE-A2E1-5DE3-5ED524AF22DF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31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62" name="Picture 61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4E5802E7-7530-568F-A665-1F1752BD91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8D8A76C5-22EB-38D9-02D1-644088D9A593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65" name="Freeform 4">
                  <a:extLst>
                    <a:ext uri="{FF2B5EF4-FFF2-40B4-BE49-F238E27FC236}">
                      <a16:creationId xmlns:a16="http://schemas.microsoft.com/office/drawing/2014/main" id="{797A6E7F-FD64-BFF8-9A70-E6B15F64EBD7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8FFF3370-2B2D-E6DF-2B22-6E2B47307BC2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B7F62E6-88D8-1FA6-5555-C830FAD0A90A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45</a:t>
                </a:r>
              </a:p>
            </p:txBody>
          </p:sp>
        </p:grpSp>
        <p:pic>
          <p:nvPicPr>
            <p:cNvPr id="60" name="Picture 59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3D21ECC0-5C28-9983-A0EE-96D0B7031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1943803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1AC01-44EA-CD6D-25C2-597D01478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26949A4-90A4-1F61-C1FD-D11BC51DAD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8B79DD9-2945-0157-BD61-3BEB4CCFD304}"/>
              </a:ext>
            </a:extLst>
          </p:cNvPr>
          <p:cNvSpPr txBox="1"/>
          <p:nvPr/>
        </p:nvSpPr>
        <p:spPr>
          <a:xfrm>
            <a:off x="685098" y="384548"/>
            <a:ext cx="7167311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Communication &amp; Co-ordination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5EB6348F-05AB-5C29-61A3-CB8176C68B32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4892CD5-B39A-CBBF-B4EF-F0D3A380AD40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933D5E-6B64-A665-1548-14086450BABD}"/>
              </a:ext>
            </a:extLst>
          </p:cNvPr>
          <p:cNvGrpSpPr/>
          <p:nvPr/>
        </p:nvGrpSpPr>
        <p:grpSpPr>
          <a:xfrm>
            <a:off x="494508" y="1191060"/>
            <a:ext cx="11224489" cy="2772869"/>
            <a:chOff x="415756" y="3131840"/>
            <a:chExt cx="11224489" cy="3032258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C1A31F49-46CB-93D0-160C-86A16EF3587F}"/>
                </a:ext>
              </a:extLst>
            </p:cNvPr>
            <p:cNvSpPr/>
            <p:nvPr/>
          </p:nvSpPr>
          <p:spPr>
            <a:xfrm>
              <a:off x="415756" y="3821642"/>
              <a:ext cx="3629068" cy="2342456"/>
            </a:xfrm>
            <a:prstGeom prst="roundRect">
              <a:avLst>
                <a:gd name="adj" fmla="val 3878"/>
              </a:avLst>
            </a:prstGeom>
            <a:solidFill>
              <a:srgbClr val="F9F9FF"/>
            </a:solidFill>
            <a:ln w="30480">
              <a:solidFill>
                <a:srgbClr val="B8C3D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7CC541E5-82CC-1911-A324-5839129455FA}"/>
                </a:ext>
              </a:extLst>
            </p:cNvPr>
            <p:cNvSpPr/>
            <p:nvPr/>
          </p:nvSpPr>
          <p:spPr>
            <a:xfrm>
              <a:off x="1048942" y="4201943"/>
              <a:ext cx="2362696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2292"/>
                </a:lnSpc>
              </a:pPr>
              <a:r>
                <a:rPr lang="en-US" sz="2000" b="1" dirty="0">
                  <a:solidFill>
                    <a:srgbClr val="404155"/>
                  </a:solidFill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Weekly Meetings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B8C2C8B6-DEC4-F960-75EC-14BAB5BD8A69}"/>
                </a:ext>
              </a:extLst>
            </p:cNvPr>
            <p:cNvSpPr/>
            <p:nvPr/>
          </p:nvSpPr>
          <p:spPr>
            <a:xfrm>
              <a:off x="696219" y="4707256"/>
              <a:ext cx="3068142" cy="1209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dirty="0">
                  <a:solidFill>
                    <a:srgbClr val="404155"/>
                  </a:solidFill>
                  <a:latin typeface="Times New Roman" panose="02020603050405020304" pitchFamily="18" charset="0"/>
                  <a:ea typeface="Nobile" pitchFamily="34" charset="-122"/>
                  <a:cs typeface="Times New Roman" panose="02020603050405020304" pitchFamily="18" charset="0"/>
                </a:rPr>
                <a:t>Regular check-ins with supervisors to discuss progress, address challenges, and plan next steps.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905BBE4B-833A-AD5A-5B27-2A95848795E3}"/>
                </a:ext>
              </a:extLst>
            </p:cNvPr>
            <p:cNvSpPr/>
            <p:nvPr/>
          </p:nvSpPr>
          <p:spPr>
            <a:xfrm>
              <a:off x="4347468" y="3131840"/>
              <a:ext cx="3496965" cy="2342456"/>
            </a:xfrm>
            <a:prstGeom prst="roundRect">
              <a:avLst>
                <a:gd name="adj" fmla="val 3878"/>
              </a:avLst>
            </a:prstGeom>
            <a:solidFill>
              <a:srgbClr val="F9F9FF"/>
            </a:solidFill>
            <a:ln w="30480">
              <a:solidFill>
                <a:srgbClr val="B8C3D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DE4F945D-F056-BBD2-D35D-42F216225417}"/>
                </a:ext>
              </a:extLst>
            </p:cNvPr>
            <p:cNvSpPr/>
            <p:nvPr/>
          </p:nvSpPr>
          <p:spPr>
            <a:xfrm>
              <a:off x="4914602" y="3388126"/>
              <a:ext cx="2362696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2292"/>
                </a:lnSpc>
              </a:pPr>
              <a:r>
                <a:rPr lang="en-US" sz="2000" b="1" dirty="0">
                  <a:solidFill>
                    <a:srgbClr val="404155"/>
                  </a:solidFill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Work Division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2DF88525-896C-04F8-2DCC-7ABFC160A4BA}"/>
                </a:ext>
              </a:extLst>
            </p:cNvPr>
            <p:cNvSpPr/>
            <p:nvPr/>
          </p:nvSpPr>
          <p:spPr>
            <a:xfrm>
              <a:off x="4561879" y="3929444"/>
              <a:ext cx="3068142" cy="142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dirty="0">
                  <a:solidFill>
                    <a:srgbClr val="404155"/>
                  </a:solidFill>
                  <a:latin typeface="Times New Roman" panose="02020603050405020304" pitchFamily="18" charset="0"/>
                  <a:ea typeface="Nobile" pitchFamily="34" charset="-122"/>
                  <a:cs typeface="Times New Roman" panose="02020603050405020304" pitchFamily="18" charset="0"/>
                </a:rPr>
                <a:t>Specific responsibilities for BPF, LNA, Mixer, and LPF design, with cross-support for testing and integration.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B7499091-F285-DB0E-DD81-A6DCF75F487F}"/>
                </a:ext>
              </a:extLst>
            </p:cNvPr>
            <p:cNvSpPr/>
            <p:nvPr/>
          </p:nvSpPr>
          <p:spPr>
            <a:xfrm>
              <a:off x="8143280" y="3821642"/>
              <a:ext cx="3496965" cy="2342456"/>
            </a:xfrm>
            <a:prstGeom prst="roundRect">
              <a:avLst>
                <a:gd name="adj" fmla="val 3878"/>
              </a:avLst>
            </a:prstGeom>
            <a:solidFill>
              <a:srgbClr val="F9F9FF"/>
            </a:solidFill>
            <a:ln w="30480">
              <a:solidFill>
                <a:srgbClr val="B8C3DF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38A672C1-6533-7FC0-C3CC-3601AC935EFC}"/>
                </a:ext>
              </a:extLst>
            </p:cNvPr>
            <p:cNvSpPr/>
            <p:nvPr/>
          </p:nvSpPr>
          <p:spPr>
            <a:xfrm>
              <a:off x="8765294" y="4201943"/>
              <a:ext cx="2362696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2292"/>
                </a:lnSpc>
              </a:pPr>
              <a:r>
                <a:rPr lang="en-US" sz="2000" b="1" dirty="0">
                  <a:solidFill>
                    <a:srgbClr val="404155"/>
                  </a:solidFill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Documentation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9ABE5AC5-1527-6B65-F7A4-05DA222FBF3B}"/>
                </a:ext>
              </a:extLst>
            </p:cNvPr>
            <p:cNvSpPr/>
            <p:nvPr/>
          </p:nvSpPr>
          <p:spPr>
            <a:xfrm>
              <a:off x="8397223" y="4707256"/>
              <a:ext cx="3068142" cy="1209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375"/>
                </a:lnSpc>
              </a:pPr>
              <a:r>
                <a:rPr lang="en-US" dirty="0">
                  <a:solidFill>
                    <a:srgbClr val="404155"/>
                  </a:solidFill>
                  <a:latin typeface="Times New Roman" panose="02020603050405020304" pitchFamily="18" charset="0"/>
                  <a:ea typeface="Nobile" pitchFamily="34" charset="-122"/>
                  <a:cs typeface="Times New Roman" panose="02020603050405020304" pitchFamily="18" charset="0"/>
                </a:rPr>
                <a:t>Comprehensive technical reports and design logs to ensure knowledge transfer and traceability.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 3">
            <a:extLst>
              <a:ext uri="{FF2B5EF4-FFF2-40B4-BE49-F238E27FC236}">
                <a16:creationId xmlns:a16="http://schemas.microsoft.com/office/drawing/2014/main" id="{E74D56D7-DB5A-8036-72F6-59454B70D761}"/>
              </a:ext>
            </a:extLst>
          </p:cNvPr>
          <p:cNvSpPr/>
          <p:nvPr/>
        </p:nvSpPr>
        <p:spPr>
          <a:xfrm>
            <a:off x="5781477" y="705283"/>
            <a:ext cx="209649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endParaRPr lang="en-US" sz="16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0B1A7623-2795-8244-1898-D26794B6C1A5}"/>
              </a:ext>
            </a:extLst>
          </p:cNvPr>
          <p:cNvSpPr/>
          <p:nvPr/>
        </p:nvSpPr>
        <p:spPr>
          <a:xfrm>
            <a:off x="4515756" y="3567497"/>
            <a:ext cx="3402330" cy="42529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Key Takeaways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4EA10360-65AF-72F6-1C74-96AB9418514B}"/>
              </a:ext>
            </a:extLst>
          </p:cNvPr>
          <p:cNvSpPr/>
          <p:nvPr/>
        </p:nvSpPr>
        <p:spPr>
          <a:xfrm>
            <a:off x="4211809" y="4125562"/>
            <a:ext cx="40102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Robust RF receiver design for ISM band applications.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99E4B07D-A870-5128-093E-606572E5040F}"/>
              </a:ext>
            </a:extLst>
          </p:cNvPr>
          <p:cNvSpPr/>
          <p:nvPr/>
        </p:nvSpPr>
        <p:spPr>
          <a:xfrm>
            <a:off x="4251317" y="4805142"/>
            <a:ext cx="39707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Strong alignment with engineering program outcomes and knowledge profiles.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1886A60-4751-414C-A49D-2DD094D07BBA}"/>
              </a:ext>
            </a:extLst>
          </p:cNvPr>
          <p:cNvSpPr/>
          <p:nvPr/>
        </p:nvSpPr>
        <p:spPr>
          <a:xfrm>
            <a:off x="6736206" y="4342338"/>
            <a:ext cx="34969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86C265E-70E3-1242-23B7-BD39393AE6B5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BAA886C-B422-DCFF-1710-89ABCAFF6B23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A1C9C78-7B93-46A7-9976-2E4B85682C2E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31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44" name="Picture 43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EBEEC142-7D76-46CB-38CD-57CF0ED777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38EDCDF5-F146-342C-1BE2-5AF05D2E534C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47" name="Freeform 4">
                  <a:extLst>
                    <a:ext uri="{FF2B5EF4-FFF2-40B4-BE49-F238E27FC236}">
                      <a16:creationId xmlns:a16="http://schemas.microsoft.com/office/drawing/2014/main" id="{61D3765E-F3FF-07E1-7A86-A8C1F0359AC9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C5EFFEB-CCA9-26E7-ED14-65ADA689551C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C654ED9D-B49B-3847-66A8-9A595B4A0194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46</a:t>
                </a:r>
              </a:p>
            </p:txBody>
          </p:sp>
        </p:grpSp>
        <p:pic>
          <p:nvPicPr>
            <p:cNvPr id="42" name="Picture 41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DA2200F7-D7BC-1927-442C-8BFAC11CF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7327319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50595-B59C-E814-FBA0-9730334CC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635F92-2881-7800-A1DE-2B497C4F3D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E6152F5-5482-742D-5339-893BEAD5FBA7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Comparison Table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0A1631DE-3750-5DA6-58BB-E2EFE4798C23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0B08B8-9BB4-B9BC-860E-7A23999B18FD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9A3A3E0-7A2F-6FB2-EE2D-D763CFEBDA25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7DE249-A963-0CF4-9A6E-9F2BA2644B56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BBF66DF-7D39-3B48-182F-3077F3B0C578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F87EB46-C9E4-716C-0819-B1C6436437E8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31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21" name="Picture 20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8A2476EF-BCFC-76F6-AC45-E8C6026E2D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D277C87-07DE-3BFB-A0E5-D972F004296E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24" name="Freeform 4">
                  <a:extLst>
                    <a:ext uri="{FF2B5EF4-FFF2-40B4-BE49-F238E27FC236}">
                      <a16:creationId xmlns:a16="http://schemas.microsoft.com/office/drawing/2014/main" id="{CE82B05C-B52B-3EE3-517D-D2CC4B0A589B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6EA8E4D-DFAE-95EA-B54C-F64B3075DDA0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0AD9F9BF-D8FF-3FC0-A973-C3CB2EBAEF71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47</a:t>
                </a:r>
              </a:p>
            </p:txBody>
          </p:sp>
        </p:grpSp>
        <p:pic>
          <p:nvPicPr>
            <p:cNvPr id="19" name="Picture 18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6A823B14-5CE0-C3E9-8458-B5564E851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505DB9-AA2E-049E-20D8-9D9639936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211993"/>
              </p:ext>
            </p:extLst>
          </p:nvPr>
        </p:nvGraphicFramePr>
        <p:xfrm>
          <a:off x="759302" y="1337488"/>
          <a:ext cx="10696088" cy="4335533"/>
        </p:xfrm>
        <a:graphic>
          <a:graphicData uri="http://schemas.openxmlformats.org/drawingml/2006/table">
            <a:tbl>
              <a:tblPr firstRow="1" bandRow="1"/>
              <a:tblGrid>
                <a:gridCol w="665553">
                  <a:extLst>
                    <a:ext uri="{9D8B030D-6E8A-4147-A177-3AD203B41FA5}">
                      <a16:colId xmlns:a16="http://schemas.microsoft.com/office/drawing/2014/main" val="2401612641"/>
                    </a:ext>
                  </a:extLst>
                </a:gridCol>
                <a:gridCol w="1739833">
                  <a:extLst>
                    <a:ext uri="{9D8B030D-6E8A-4147-A177-3AD203B41FA5}">
                      <a16:colId xmlns:a16="http://schemas.microsoft.com/office/drawing/2014/main" val="4222342400"/>
                    </a:ext>
                  </a:extLst>
                </a:gridCol>
                <a:gridCol w="675018">
                  <a:extLst>
                    <a:ext uri="{9D8B030D-6E8A-4147-A177-3AD203B41FA5}">
                      <a16:colId xmlns:a16="http://schemas.microsoft.com/office/drawing/2014/main" val="3722050634"/>
                    </a:ext>
                  </a:extLst>
                </a:gridCol>
                <a:gridCol w="903192">
                  <a:extLst>
                    <a:ext uri="{9D8B030D-6E8A-4147-A177-3AD203B41FA5}">
                      <a16:colId xmlns:a16="http://schemas.microsoft.com/office/drawing/2014/main" val="345470330"/>
                    </a:ext>
                  </a:extLst>
                </a:gridCol>
                <a:gridCol w="1197959">
                  <a:extLst>
                    <a:ext uri="{9D8B030D-6E8A-4147-A177-3AD203B41FA5}">
                      <a16:colId xmlns:a16="http://schemas.microsoft.com/office/drawing/2014/main" val="3573077971"/>
                    </a:ext>
                  </a:extLst>
                </a:gridCol>
                <a:gridCol w="1391277">
                  <a:extLst>
                    <a:ext uri="{9D8B030D-6E8A-4147-A177-3AD203B41FA5}">
                      <a16:colId xmlns:a16="http://schemas.microsoft.com/office/drawing/2014/main" val="2816056884"/>
                    </a:ext>
                  </a:extLst>
                </a:gridCol>
                <a:gridCol w="1219845">
                  <a:extLst>
                    <a:ext uri="{9D8B030D-6E8A-4147-A177-3AD203B41FA5}">
                      <a16:colId xmlns:a16="http://schemas.microsoft.com/office/drawing/2014/main" val="1506422558"/>
                    </a:ext>
                  </a:extLst>
                </a:gridCol>
                <a:gridCol w="519591">
                  <a:extLst>
                    <a:ext uri="{9D8B030D-6E8A-4147-A177-3AD203B41FA5}">
                      <a16:colId xmlns:a16="http://schemas.microsoft.com/office/drawing/2014/main" val="1867883906"/>
                    </a:ext>
                  </a:extLst>
                </a:gridCol>
                <a:gridCol w="2383820">
                  <a:extLst>
                    <a:ext uri="{9D8B030D-6E8A-4147-A177-3AD203B41FA5}">
                      <a16:colId xmlns:a16="http://schemas.microsoft.com/office/drawing/2014/main" val="2066360112"/>
                    </a:ext>
                  </a:extLst>
                </a:gridCol>
              </a:tblGrid>
              <a:tr h="2331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Century" panose="02040604050505020304" pitchFamily="18" charset="0"/>
                        </a:rPr>
                        <a:t>Category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B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Century" panose="02040604050505020304" pitchFamily="18" charset="0"/>
                        </a:rPr>
                        <a:t>Parameter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B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Century" panose="02040604050505020304" pitchFamily="18" charset="0"/>
                        </a:rPr>
                        <a:t>[1]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B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Century" panose="02040604050505020304" pitchFamily="18" charset="0"/>
                        </a:rPr>
                        <a:t>[2] 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B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Century" panose="02040604050505020304" pitchFamily="18" charset="0"/>
                        </a:rPr>
                        <a:t>[3]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B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Century" panose="02040604050505020304" pitchFamily="18" charset="0"/>
                        </a:rPr>
                        <a:t>[4] 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B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Century" panose="02040604050505020304" pitchFamily="18" charset="0"/>
                        </a:rPr>
                        <a:t>[5]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B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Century" panose="02040604050505020304" pitchFamily="18" charset="0"/>
                        </a:rPr>
                        <a:t>[6]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B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Century" panose="02040604050505020304" pitchFamily="18" charset="0"/>
                        </a:rPr>
                        <a:t>This Work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736463"/>
                  </a:ext>
                </a:extLst>
              </a:tr>
              <a:tr h="2884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Process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Technology (nm)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180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600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180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180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40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45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397576"/>
                  </a:ext>
                </a:extLst>
              </a:tr>
              <a:tr h="26520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dirty="0"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entury" panose="02040604050505020304" pitchFamily="18" charset="0"/>
                        </a:rPr>
                        <a:t>Supply Voltage (V)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entury" panose="02040604050505020304" pitchFamily="18" charset="0"/>
                        </a:rPr>
                        <a:t>1.5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entury" panose="02040604050505020304" pitchFamily="18" charset="0"/>
                        </a:rPr>
                        <a:t>3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1.8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1.5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1.1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entury" panose="02040604050505020304" pitchFamily="18" charset="0"/>
                        </a:rPr>
                        <a:t>1.2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991133"/>
                  </a:ext>
                </a:extLst>
              </a:tr>
              <a:tr h="26520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System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Frequency (GHz)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2.4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24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2.4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24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2.42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2.45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38694"/>
                  </a:ext>
                </a:extLst>
              </a:tr>
              <a:tr h="2541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dirty="0"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Total Gain (dB)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entury" panose="02040604050505020304" pitchFamily="18" charset="0"/>
                        </a:rPr>
                        <a:t>35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entury" panose="02040604050505020304" pitchFamily="18" charset="0"/>
                        </a:rPr>
                        <a:t>14.5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entury" panose="02040604050505020304" pitchFamily="18" charset="0"/>
                        </a:rPr>
                        <a:t>12 - 20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entury" panose="02040604050505020304" pitchFamily="18" charset="0"/>
                        </a:rPr>
                        <a:t>25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50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247791"/>
                  </a:ext>
                </a:extLst>
              </a:tr>
              <a:tr h="221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dirty="0"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Total Power (</a:t>
                      </a:r>
                      <a:r>
                        <a:rPr lang="en-US" sz="1200" b="0" dirty="0" err="1">
                          <a:effectLst/>
                          <a:latin typeface="Century" panose="02040604050505020304" pitchFamily="18" charset="0"/>
                        </a:rPr>
                        <a:t>mW</a:t>
                      </a: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40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entury" panose="02040604050505020304" pitchFamily="18" charset="0"/>
                        </a:rPr>
                        <a:t>45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100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25.2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6.261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860935"/>
                  </a:ext>
                </a:extLst>
              </a:tr>
              <a:tr h="2541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LNA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Gain (dB)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15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14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14.7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23.03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292913"/>
                  </a:ext>
                </a:extLst>
              </a:tr>
              <a:tr h="29835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NF (dB)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6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3.5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4.3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2.4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483774"/>
                  </a:ext>
                </a:extLst>
              </a:tr>
              <a:tr h="45306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Topology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Common Gate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Common Source </a:t>
                      </a:r>
                      <a:r>
                        <a:rPr lang="en-US" sz="1200" b="0" dirty="0" err="1">
                          <a:effectLst/>
                          <a:latin typeface="Century" panose="02040604050505020304" pitchFamily="18" charset="0"/>
                        </a:rPr>
                        <a:t>Cascode</a:t>
                      </a:r>
                      <a:endParaRPr lang="en-US" sz="1200" b="0" dirty="0"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Transformer-Coupled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Common Source Inductive Degeneration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206888"/>
                  </a:ext>
                </a:extLst>
              </a:tr>
              <a:tr h="24627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Mixer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Conv. Gain (dB)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12.5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10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8.7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dirty="0"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699480"/>
                  </a:ext>
                </a:extLst>
              </a:tr>
              <a:tr h="3390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Type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Active Gilbert Cell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Active Gilbert Cell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Current-Bleeding Mixer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Active Gilbert Cell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156065"/>
                  </a:ext>
                </a:extLst>
              </a:tr>
              <a:tr h="18869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BPF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Bandwidth (MHz)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38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20-100 (Tunable)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846768"/>
                  </a:ext>
                </a:extLst>
              </a:tr>
              <a:tr h="27438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dirty="0"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Power Consumption (</a:t>
                      </a:r>
                      <a:r>
                        <a:rPr lang="en-US" sz="1200" b="0" dirty="0" err="1">
                          <a:effectLst/>
                          <a:latin typeface="Century" panose="02040604050505020304" pitchFamily="18" charset="0"/>
                        </a:rPr>
                        <a:t>mW</a:t>
                      </a: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1.3 (Single Stage)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1.63 (Differential)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630119"/>
                  </a:ext>
                </a:extLst>
              </a:tr>
              <a:tr h="2602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LPF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Bandwidth (MHz)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20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20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541018"/>
                  </a:ext>
                </a:extLst>
              </a:tr>
              <a:tr h="17110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200" b="0" dirty="0"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Power Consumption (</a:t>
                      </a:r>
                      <a:r>
                        <a:rPr lang="en-US" sz="1200" b="0" dirty="0" err="1">
                          <a:effectLst/>
                          <a:latin typeface="Century" panose="02040604050505020304" pitchFamily="18" charset="0"/>
                        </a:rPr>
                        <a:t>mW</a:t>
                      </a: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)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-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2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entury" panose="02040604050505020304" pitchFamily="18" charset="0"/>
                        </a:rPr>
                        <a:t>0.2</a:t>
                      </a:r>
                    </a:p>
                  </a:txBody>
                  <a:tcPr marL="2564" marR="2564" marT="1709" marB="17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840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105741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4EF9-2EC8-A990-5A39-F80D3923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9EE0E0-B2DF-87BD-D3EC-31B7B5F425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D439350-B3B0-D07E-F5C7-D997CF2EC34D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Conclusion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65DED15F-E45E-22C0-AD50-B68A1697CC09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3C9E08-A84A-FB5A-51E7-79FD0CE28BFB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F0D5753-2637-6FF1-120C-0C0384060E0B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6B43E-7681-E5A3-A676-BCDAF97E60D0}"/>
              </a:ext>
            </a:extLst>
          </p:cNvPr>
          <p:cNvSpPr txBox="1">
            <a:spLocks/>
          </p:cNvSpPr>
          <p:nvPr/>
        </p:nvSpPr>
        <p:spPr>
          <a:xfrm>
            <a:off x="1025912" y="2244604"/>
            <a:ext cx="5366628" cy="46950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2.45 GHz CMOS RF Receiver Design (45 nm).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wireless application.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weak-signal restoration.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C4C37B-C8F4-8CB2-FAC3-B05D5C1A4A05}"/>
              </a:ext>
            </a:extLst>
          </p:cNvPr>
          <p:cNvGrpSpPr/>
          <p:nvPr/>
        </p:nvGrpSpPr>
        <p:grpSpPr>
          <a:xfrm>
            <a:off x="7181501" y="6086324"/>
            <a:ext cx="4800300" cy="657158"/>
            <a:chOff x="7181501" y="6086324"/>
            <a:chExt cx="4800300" cy="6571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FF3F096-4372-45C7-556B-0CAA93AB57E2}"/>
                </a:ext>
              </a:extLst>
            </p:cNvPr>
            <p:cNvGrpSpPr/>
            <p:nvPr/>
          </p:nvGrpSpPr>
          <p:grpSpPr>
            <a:xfrm>
              <a:off x="7181501" y="6086324"/>
              <a:ext cx="4800300" cy="657158"/>
              <a:chOff x="7116992" y="5996305"/>
              <a:chExt cx="4933052" cy="785351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6B0C043-C36C-599F-E69C-679B8F31D4EB}"/>
                  </a:ext>
                </a:extLst>
              </p:cNvPr>
              <p:cNvSpPr txBox="1"/>
              <p:nvPr/>
            </p:nvSpPr>
            <p:spPr>
              <a:xfrm>
                <a:off x="11496358" y="6375400"/>
                <a:ext cx="553686" cy="331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  <p:pic>
            <p:nvPicPr>
              <p:cNvPr id="21" name="Picture 20" descr="Contact - UIU - Department of Biotechnology and Genetic Engineering">
                <a:extLst>
                  <a:ext uri="{FF2B5EF4-FFF2-40B4-BE49-F238E27FC236}">
                    <a16:creationId xmlns:a16="http://schemas.microsoft.com/office/drawing/2014/main" id="{817A9882-1337-F2ED-0901-4F49902FE9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2249" y="5996305"/>
                <a:ext cx="785351" cy="785351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2B95687-377C-39D2-EE9D-1195F8586C73}"/>
                  </a:ext>
                </a:extLst>
              </p:cNvPr>
              <p:cNvGrpSpPr/>
              <p:nvPr/>
            </p:nvGrpSpPr>
            <p:grpSpPr>
              <a:xfrm>
                <a:off x="7116992" y="6066113"/>
                <a:ext cx="3504214" cy="648677"/>
                <a:chOff x="668166" y="6036446"/>
                <a:chExt cx="3504214" cy="648677"/>
              </a:xfrm>
            </p:grpSpPr>
            <p:sp>
              <p:nvSpPr>
                <p:cNvPr id="24" name="Freeform 4">
                  <a:extLst>
                    <a:ext uri="{FF2B5EF4-FFF2-40B4-BE49-F238E27FC236}">
                      <a16:creationId xmlns:a16="http://schemas.microsoft.com/office/drawing/2014/main" id="{09C4681B-6550-1760-71FA-136E3B8858A4}"/>
                    </a:ext>
                  </a:extLst>
                </p:cNvPr>
                <p:cNvSpPr/>
                <p:nvPr/>
              </p:nvSpPr>
              <p:spPr>
                <a:xfrm rot="5400000">
                  <a:off x="2095934" y="4608678"/>
                  <a:ext cx="648677" cy="3504214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/>
                <a:lstStyle/>
                <a:p>
                  <a:endParaRPr lang="en-US" sz="1200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B7F7F0A-FD29-F9B6-F345-AC3525ADAF91}"/>
                    </a:ext>
                  </a:extLst>
                </p:cNvPr>
                <p:cNvSpPr txBox="1"/>
                <p:nvPr/>
              </p:nvSpPr>
              <p:spPr>
                <a:xfrm>
                  <a:off x="1063750" y="6054351"/>
                  <a:ext cx="2801376" cy="62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Sazzad</a:t>
                  </a:r>
                  <a:r>
                    <a:rPr lang="en-US" sz="14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Hossen</a:t>
                  </a:r>
                </a:p>
                <a:p>
                  <a:pPr algn="ctr">
                    <a:buNone/>
                  </a:pPr>
                  <a:r>
                    <a:rPr lang="en-US" sz="14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021 221 026</a:t>
                  </a:r>
                </a:p>
              </p:txBody>
            </p:sp>
          </p:grp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65676B63-0D35-16E9-E2F5-A2D6BC5627CE}"/>
                  </a:ext>
                </a:extLst>
              </p:cNvPr>
              <p:cNvSpPr/>
              <p:nvPr/>
            </p:nvSpPr>
            <p:spPr>
              <a:xfrm>
                <a:off x="11509075" y="6063172"/>
                <a:ext cx="540969" cy="65161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48</a:t>
                </a:r>
              </a:p>
            </p:txBody>
          </p:sp>
        </p:grpSp>
        <p:pic>
          <p:nvPicPr>
            <p:cNvPr id="19" name="Picture 18" descr="A person wearing glasses and a gray shirt&#10;&#10;AI-generated content may be incorrect.">
              <a:extLst>
                <a:ext uri="{FF2B5EF4-FFF2-40B4-BE49-F238E27FC236}">
                  <a16:creationId xmlns:a16="http://schemas.microsoft.com/office/drawing/2014/main" id="{547B3AE4-7C1C-88A9-AF0B-BB2DDC69E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30" t="6589" r="21315" b="6589"/>
            <a:stretch>
              <a:fillRect/>
            </a:stretch>
          </p:blipFill>
          <p:spPr>
            <a:xfrm>
              <a:off x="7181501" y="6130254"/>
              <a:ext cx="541360" cy="545254"/>
            </a:xfrm>
            <a:prstGeom prst="roundRect">
              <a:avLst/>
            </a:prstGeom>
          </p:spPr>
        </p:pic>
      </p:grpSp>
      <p:sp>
        <p:nvSpPr>
          <p:cNvPr id="26" name="Subtitle 2">
            <a:extLst>
              <a:ext uri="{FF2B5EF4-FFF2-40B4-BE49-F238E27FC236}">
                <a16:creationId xmlns:a16="http://schemas.microsoft.com/office/drawing/2014/main" id="{2B19BC34-0768-24FD-6BB0-EC2169363D7B}"/>
              </a:ext>
            </a:extLst>
          </p:cNvPr>
          <p:cNvSpPr txBox="1">
            <a:spLocks/>
          </p:cNvSpPr>
          <p:nvPr/>
        </p:nvSpPr>
        <p:spPr>
          <a:xfrm>
            <a:off x="6632809" y="2222461"/>
            <a:ext cx="4963200" cy="46950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 (6.261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Gain: 320 &amp; THD: 1.319%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advanced modulation.</a:t>
            </a:r>
          </a:p>
        </p:txBody>
      </p:sp>
    </p:spTree>
    <p:extLst>
      <p:ext uri="{BB962C8B-B14F-4D97-AF65-F5344CB8AC3E}">
        <p14:creationId xmlns:p14="http://schemas.microsoft.com/office/powerpoint/2010/main" val="3941362043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D19BEA-C167-A087-4163-9EC04E6807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648CF-7181-7B9F-0C89-AB091FDA334A}"/>
              </a:ext>
            </a:extLst>
          </p:cNvPr>
          <p:cNvSpPr txBox="1"/>
          <p:nvPr/>
        </p:nvSpPr>
        <p:spPr>
          <a:xfrm>
            <a:off x="3804920" y="2905780"/>
            <a:ext cx="48310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400" b="1" dirty="0">
                <a:solidFill>
                  <a:srgbClr val="004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</a:p>
        </p:txBody>
      </p:sp>
      <p:pic>
        <p:nvPicPr>
          <p:cNvPr id="21" name="Picture 12" descr="Complete task - Free files and folders icons">
            <a:extLst>
              <a:ext uri="{FF2B5EF4-FFF2-40B4-BE49-F238E27FC236}">
                <a16:creationId xmlns:a16="http://schemas.microsoft.com/office/drawing/2014/main" id="{B955DD7C-B380-C2F0-CFAE-16355145E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3052" y="6031896"/>
            <a:ext cx="826104" cy="82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8">
            <a:extLst>
              <a:ext uri="{FF2B5EF4-FFF2-40B4-BE49-F238E27FC236}">
                <a16:creationId xmlns:a16="http://schemas.microsoft.com/office/drawing/2014/main" id="{63BD98AF-CD51-B449-73B8-8FBD87250A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99"/>
          <a:stretch>
            <a:fillRect/>
          </a:stretch>
        </p:blipFill>
        <p:spPr bwMode="auto">
          <a:xfrm rot="20984565" flipH="1">
            <a:off x="2632480" y="3088872"/>
            <a:ext cx="877171" cy="71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9">
            <a:extLst>
              <a:ext uri="{FF2B5EF4-FFF2-40B4-BE49-F238E27FC236}">
                <a16:creationId xmlns:a16="http://schemas.microsoft.com/office/drawing/2014/main" id="{4E35F1BC-729D-470C-55FE-F8476E02BE2B}"/>
              </a:ext>
            </a:extLst>
          </p:cNvPr>
          <p:cNvSpPr/>
          <p:nvPr/>
        </p:nvSpPr>
        <p:spPr>
          <a:xfrm rot="16200000" flipH="1">
            <a:off x="10109192" y="-1158419"/>
            <a:ext cx="2069469" cy="2096147"/>
          </a:xfrm>
          <a:custGeom>
            <a:avLst/>
            <a:gdLst/>
            <a:ahLst/>
            <a:cxnLst/>
            <a:rect l="l" t="t" r="r" b="b"/>
            <a:pathLst>
              <a:path w="3104204" h="3144221">
                <a:moveTo>
                  <a:pt x="3104204" y="0"/>
                </a:moveTo>
                <a:lnTo>
                  <a:pt x="0" y="0"/>
                </a:lnTo>
                <a:lnTo>
                  <a:pt x="0" y="3144221"/>
                </a:lnTo>
                <a:lnTo>
                  <a:pt x="3104204" y="3144221"/>
                </a:lnTo>
                <a:lnTo>
                  <a:pt x="3104204" y="0"/>
                </a:lnTo>
                <a:close/>
              </a:path>
            </a:pathLst>
          </a:custGeom>
          <a:blipFill>
            <a:blip r:embed="rId5">
              <a:alphaModFix amt="4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7FCE9F7A-D4AA-64E4-2CBA-91974E4E6CD2}"/>
              </a:ext>
            </a:extLst>
          </p:cNvPr>
          <p:cNvSpPr/>
          <p:nvPr/>
        </p:nvSpPr>
        <p:spPr>
          <a:xfrm>
            <a:off x="-1657350" y="-668526"/>
            <a:ext cx="2709931" cy="2709931"/>
          </a:xfrm>
          <a:custGeom>
            <a:avLst/>
            <a:gdLst/>
            <a:ahLst/>
            <a:cxnLst/>
            <a:rect l="l" t="t" r="r" b="b"/>
            <a:pathLst>
              <a:path w="4064897" h="4064897">
                <a:moveTo>
                  <a:pt x="0" y="0"/>
                </a:moveTo>
                <a:lnTo>
                  <a:pt x="4064897" y="0"/>
                </a:lnTo>
                <a:lnTo>
                  <a:pt x="4064897" y="4064896"/>
                </a:lnTo>
                <a:lnTo>
                  <a:pt x="0" y="40648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1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839144987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6DBAE-4098-BAFE-E02F-6FD34C52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0146C2-52CB-2FFE-89EC-B47AABFFF4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A293C6-FCC7-2441-44D9-09A440625E29}"/>
              </a:ext>
            </a:extLst>
          </p:cNvPr>
          <p:cNvSpPr txBox="1"/>
          <p:nvPr/>
        </p:nvSpPr>
        <p:spPr>
          <a:xfrm>
            <a:off x="3804920" y="2905780"/>
            <a:ext cx="48310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400" b="1" dirty="0">
                <a:solidFill>
                  <a:srgbClr val="004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Any Question?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9DBDBE16-F48A-98BD-7E41-5984D444E363}"/>
              </a:ext>
            </a:extLst>
          </p:cNvPr>
          <p:cNvSpPr/>
          <p:nvPr/>
        </p:nvSpPr>
        <p:spPr>
          <a:xfrm rot="16200000" flipH="1">
            <a:off x="222438" y="-889023"/>
            <a:ext cx="1851949" cy="1778046"/>
          </a:xfrm>
          <a:custGeom>
            <a:avLst/>
            <a:gdLst/>
            <a:ahLst/>
            <a:cxnLst/>
            <a:rect l="l" t="t" r="r" b="b"/>
            <a:pathLst>
              <a:path w="3104204" h="3144221">
                <a:moveTo>
                  <a:pt x="3104204" y="0"/>
                </a:moveTo>
                <a:lnTo>
                  <a:pt x="0" y="0"/>
                </a:lnTo>
                <a:lnTo>
                  <a:pt x="0" y="3144221"/>
                </a:lnTo>
                <a:lnTo>
                  <a:pt x="3104204" y="3144221"/>
                </a:lnTo>
                <a:lnTo>
                  <a:pt x="3104204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C6683A-033A-664A-B493-28A510B86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948190"/>
            <a:ext cx="1915180" cy="191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50234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88330-37EA-92C0-BD15-0F9EF35F1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57A5AD-8FF8-68ED-C67A-9C2D60938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520" y="2114647"/>
            <a:ext cx="2346960" cy="234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38710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739AF-80E0-7A2D-0C33-900154C44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0BF9AD-3975-92AF-E0B9-1ADE778F8B24}"/>
              </a:ext>
            </a:extLst>
          </p:cNvPr>
          <p:cNvSpPr/>
          <p:nvPr/>
        </p:nvSpPr>
        <p:spPr>
          <a:xfrm>
            <a:off x="0" y="20677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F5036AE-B90B-DD54-3F43-E63ACBD25AA7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Receiver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982A990E-B301-4624-82D6-D237D8FA28E6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FD55D07-DCB0-16A8-E901-B6B98EC1AB97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ECE3E-4C3B-0B95-01A5-A77EE11FA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54" y="2214302"/>
            <a:ext cx="10770291" cy="41861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11713B-1A08-1658-B734-B03AEB49625B}"/>
              </a:ext>
            </a:extLst>
          </p:cNvPr>
          <p:cNvSpPr txBox="1"/>
          <p:nvPr/>
        </p:nvSpPr>
        <p:spPr>
          <a:xfrm>
            <a:off x="2816083" y="1000962"/>
            <a:ext cx="70329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(Transient analysis)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Massage signal – 5MHz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 frequency – 2.45GHz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 – 50uV</a:t>
            </a:r>
          </a:p>
        </p:txBody>
      </p:sp>
    </p:spTree>
    <p:extLst>
      <p:ext uri="{BB962C8B-B14F-4D97-AF65-F5344CB8AC3E}">
        <p14:creationId xmlns:p14="http://schemas.microsoft.com/office/powerpoint/2010/main" val="2990833903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8178-DEB7-E8EB-0ABE-CB8BAF1E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7DEE5C-1981-78FD-3AAE-45E0B96285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F2136BF-F9D3-7CC7-F482-68FF454467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79" r="2368"/>
          <a:stretch>
            <a:fillRect/>
          </a:stretch>
        </p:blipFill>
        <p:spPr>
          <a:xfrm>
            <a:off x="7040508" y="4220895"/>
            <a:ext cx="4524238" cy="1778727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98F2CF85-EBC4-AADA-5C17-6B63592161CF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Receiver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67BB71C4-1DBA-3065-10C8-B0126CF13640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9DA1B3C-E234-848C-4280-524280794C5D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285749-C2FC-C6ED-9EB0-2005F9F8B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15" y="1630085"/>
            <a:ext cx="5943600" cy="22371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9570E01-5D72-0C4A-260A-48D836F71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715" y="3896781"/>
            <a:ext cx="5943600" cy="21774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A7DB49-55E1-864B-A40A-BF0753103C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440" y="1611537"/>
            <a:ext cx="3637486" cy="2133321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8C9B734-238B-1757-5172-A16CCB123D19}"/>
              </a:ext>
            </a:extLst>
          </p:cNvPr>
          <p:cNvSpPr/>
          <p:nvPr/>
        </p:nvSpPr>
        <p:spPr>
          <a:xfrm>
            <a:off x="1076497" y="1257620"/>
            <a:ext cx="5211603" cy="32052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QPSK Transient Analysis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DC7A4F8-BED3-B4B6-3164-7B8E4E27A5C9}"/>
              </a:ext>
            </a:extLst>
          </p:cNvPr>
          <p:cNvSpPr/>
          <p:nvPr/>
        </p:nvSpPr>
        <p:spPr>
          <a:xfrm>
            <a:off x="6631698" y="1256729"/>
            <a:ext cx="5211603" cy="28364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Lissajous pattern 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CBBD690-11AA-3A98-7FA4-BBE80E522B47}"/>
              </a:ext>
            </a:extLst>
          </p:cNvPr>
          <p:cNvSpPr/>
          <p:nvPr/>
        </p:nvSpPr>
        <p:spPr>
          <a:xfrm>
            <a:off x="6679499" y="3853853"/>
            <a:ext cx="5211603" cy="28364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Eye Diagram</a:t>
            </a:r>
          </a:p>
        </p:txBody>
      </p:sp>
    </p:spTree>
    <p:extLst>
      <p:ext uri="{BB962C8B-B14F-4D97-AF65-F5344CB8AC3E}">
        <p14:creationId xmlns:p14="http://schemas.microsoft.com/office/powerpoint/2010/main" val="3165113033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EF30A-24D8-9719-341A-8D89C2A8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C89DC5-2411-3790-3EA0-B0387B98A3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7EDE6E4-4232-4E00-030B-0F80547B9BB4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Mixer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6555C0C0-34F0-0A8A-8F57-9A56CC1DB769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6558699-D645-A8C9-DE33-A1E5DC434FFA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04C6EC-D0AA-1EB9-4EEB-F7AD8158E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616" y="1515721"/>
            <a:ext cx="9155617" cy="457780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C828E81-8E58-B489-27AA-4014CB861A83}"/>
              </a:ext>
            </a:extLst>
          </p:cNvPr>
          <p:cNvSpPr txBox="1"/>
          <p:nvPr/>
        </p:nvSpPr>
        <p:spPr>
          <a:xfrm>
            <a:off x="4123943" y="1069859"/>
            <a:ext cx="5197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Mixer schematic with Impedance matching</a:t>
            </a:r>
          </a:p>
        </p:txBody>
      </p:sp>
    </p:spTree>
    <p:extLst>
      <p:ext uri="{BB962C8B-B14F-4D97-AF65-F5344CB8AC3E}">
        <p14:creationId xmlns:p14="http://schemas.microsoft.com/office/powerpoint/2010/main" val="1376490715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64DD-8496-3BD6-DF2D-E3331F6C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86A2DF-9CF3-F9F7-D548-C31235D0F1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FED6896-46AC-1CD1-2A3E-56BE6C594E9B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Mixer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E4C56E76-8E55-6298-F0E4-1DCA22311548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4DB348-1904-52D4-EF84-1DCD85D7DB57}"/>
              </a:ext>
            </a:extLst>
          </p:cNvPr>
          <p:cNvSpPr txBox="1"/>
          <p:nvPr/>
        </p:nvSpPr>
        <p:spPr>
          <a:xfrm>
            <a:off x="11496358" y="6375400"/>
            <a:ext cx="553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F95B73F-BBE0-2EF4-CA95-508092C7E900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AD275AA5-4A47-E8C6-5472-2F81B93D4FA7}"/>
              </a:ext>
            </a:extLst>
          </p:cNvPr>
          <p:cNvSpPr txBox="1">
            <a:spLocks/>
          </p:cNvSpPr>
          <p:nvPr/>
        </p:nvSpPr>
        <p:spPr>
          <a:xfrm>
            <a:off x="4035157" y="1507958"/>
            <a:ext cx="5485330" cy="73152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Conversion Gain Vs. LO Signal Power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302D00AE-0E70-9B10-830D-9E8E8C033F15}"/>
              </a:ext>
            </a:extLst>
          </p:cNvPr>
          <p:cNvSpPr txBox="1">
            <a:spLocks/>
          </p:cNvSpPr>
          <p:nvPr/>
        </p:nvSpPr>
        <p:spPr>
          <a:xfrm>
            <a:off x="682470" y="1507958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7D2911-D7D7-E5A6-AD1B-33D6A7BF71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2" t="15659" r="1138" b="-6305"/>
          <a:stretch>
            <a:fillRect/>
          </a:stretch>
        </p:blipFill>
        <p:spPr>
          <a:xfrm>
            <a:off x="969276" y="1991426"/>
            <a:ext cx="10686875" cy="400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78973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545F-C000-5310-E9EA-51348819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CCFD21-F19D-760F-2794-7FC897B1FE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75E8A71-DCD8-3AA7-AB4B-35C0115C91BC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Mixer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48901309-B300-C499-6F6B-134762F51FC2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129E079-B413-2130-B4B6-127DAC9EC464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9976F8-819D-E31E-C3C4-1BBB43BED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377" y="1354162"/>
            <a:ext cx="8305246" cy="53309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3AE286-2567-0796-5673-14D5806E2ECC}"/>
              </a:ext>
            </a:extLst>
          </p:cNvPr>
          <p:cNvSpPr txBox="1"/>
          <p:nvPr/>
        </p:nvSpPr>
        <p:spPr>
          <a:xfrm>
            <a:off x="4575269" y="924257"/>
            <a:ext cx="5004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Mixer S- Parameter Analysis</a:t>
            </a:r>
          </a:p>
        </p:txBody>
      </p:sp>
    </p:spTree>
    <p:extLst>
      <p:ext uri="{BB962C8B-B14F-4D97-AF65-F5344CB8AC3E}">
        <p14:creationId xmlns:p14="http://schemas.microsoft.com/office/powerpoint/2010/main" val="763697272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1B64B-8366-4463-01A1-51104CEFF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271F6B-EF86-2BD2-46AC-FB3E588970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6E1FE6C-E1C8-CD80-2FB6-0636A3F65D6C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Receiver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C107D67-FE1A-D5BE-A042-5D413B914C98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D3C0212-426C-24A1-B4E3-8A0845A0F257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E21FC-777B-1C89-02C0-567D0B58A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68" y="1806639"/>
            <a:ext cx="5212188" cy="33439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5CDB82-CFF8-5347-2033-EB62FAF45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17" y="1785286"/>
            <a:ext cx="5269978" cy="33866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53FAA52-1E0A-1585-E4B4-C1CFDD4C586C}"/>
              </a:ext>
            </a:extLst>
          </p:cNvPr>
          <p:cNvSpPr txBox="1"/>
          <p:nvPr/>
        </p:nvSpPr>
        <p:spPr>
          <a:xfrm>
            <a:off x="759968" y="1342393"/>
            <a:ext cx="10578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Impedance Matching                                                  After Impedance Matching</a:t>
            </a:r>
          </a:p>
        </p:txBody>
      </p:sp>
    </p:spTree>
    <p:extLst>
      <p:ext uri="{BB962C8B-B14F-4D97-AF65-F5344CB8AC3E}">
        <p14:creationId xmlns:p14="http://schemas.microsoft.com/office/powerpoint/2010/main" val="4091591080"/>
      </p:ext>
    </p:extLst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20A3C-4B17-660B-19B0-17BFED64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52119D-33D2-1076-AF46-9AB0DA3CF0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129B1D7-6E9C-8433-732A-BDA878506D6D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LNA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09EEDF5B-BE0E-B554-1AD4-1AA5D7AF1173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041127A-1AFE-D023-0FB2-581BA13F60A1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11B384-A67C-23ED-CA10-FBEEA92D9AB1}"/>
              </a:ext>
            </a:extLst>
          </p:cNvPr>
          <p:cNvSpPr txBox="1"/>
          <p:nvPr/>
        </p:nvSpPr>
        <p:spPr>
          <a:xfrm>
            <a:off x="4717777" y="823187"/>
            <a:ext cx="322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LNA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042D80-4B77-B303-F347-F27158363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755" y="1310821"/>
            <a:ext cx="7750277" cy="522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836684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0431A-4821-5A4E-F897-57DB5D74C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9099EA-53D0-A9E6-2DB6-4B390A7D03BE}"/>
              </a:ext>
            </a:extLst>
          </p:cNvPr>
          <p:cNvSpPr/>
          <p:nvPr/>
        </p:nvSpPr>
        <p:spPr>
          <a:xfrm>
            <a:off x="2128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44791CA-E904-A424-BF95-9B821F7FFD66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Receiver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6171FB41-51F6-E8F9-6078-61313D9D9C4A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7E72B18-2923-88E2-DE0E-02BF53C89089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512F4E-0B8F-4AEF-C350-F242367D7C71}"/>
              </a:ext>
            </a:extLst>
          </p:cNvPr>
          <p:cNvSpPr txBox="1"/>
          <p:nvPr/>
        </p:nvSpPr>
        <p:spPr>
          <a:xfrm>
            <a:off x="3095625" y="965787"/>
            <a:ext cx="6000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Mixer + LPF (Noisy Output)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72FEB-2756-CC87-4DBE-563E1F1AD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22" y="1535001"/>
            <a:ext cx="10057270" cy="493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25053"/>
      </p:ext>
    </p:extLst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B05D1-068F-D1BC-D440-A6D76A832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53BA0F-7ABC-F835-3A1A-E20A7F3034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9500F3-D7D5-B5AC-C684-D718DF5BD414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Receiver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F34982FD-84B6-ED64-5654-9DB3F720FDCC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921FBB6-C12C-6DC3-EA5C-E196B61838CB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3B1CA-2B48-9F0D-50B2-5838137D49B5}"/>
              </a:ext>
            </a:extLst>
          </p:cNvPr>
          <p:cNvSpPr txBox="1"/>
          <p:nvPr/>
        </p:nvSpPr>
        <p:spPr>
          <a:xfrm>
            <a:off x="3533868" y="1049019"/>
            <a:ext cx="6000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 (Noisy)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89084E-33DF-7EA0-A0E0-A8A4F5707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036" y="1513472"/>
            <a:ext cx="10456648" cy="477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54677"/>
      </p:ext>
    </p:extLst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049B0-A505-3AD1-55C0-BA1451F6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F89ABF-08F9-BB48-EDD6-7B04C48A2F90}"/>
              </a:ext>
            </a:extLst>
          </p:cNvPr>
          <p:cNvSpPr/>
          <p:nvPr/>
        </p:nvSpPr>
        <p:spPr>
          <a:xfrm>
            <a:off x="2128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EFE92C8-A774-13E9-214D-E22E715ECA3A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Receiver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E213CC4A-64FC-FA93-6865-061F18BC2734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1FDE1E9-A79D-D974-B653-00354C8D46BF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D9344-BECD-9C76-F3C5-D14ED0A4E53E}"/>
              </a:ext>
            </a:extLst>
          </p:cNvPr>
          <p:cNvSpPr txBox="1"/>
          <p:nvPr/>
        </p:nvSpPr>
        <p:spPr>
          <a:xfrm>
            <a:off x="2906185" y="971807"/>
            <a:ext cx="6000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LNA + Mixer + LPF (Clean Output)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FB638-40A6-B36A-8442-08B908ED4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88" y="1544547"/>
            <a:ext cx="11137847" cy="492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0295"/>
      </p:ext>
    </p:extLst>
  </p:cSld>
  <p:clrMapOvr>
    <a:masterClrMapping/>
  </p:clrMapOvr>
  <p:transition spd="slow">
    <p:push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2F0BA-254F-AFAB-A6CB-4C99AF7B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F017F5-12C7-AD98-3A45-15D4BE8D72AD}"/>
              </a:ext>
            </a:extLst>
          </p:cNvPr>
          <p:cNvSpPr/>
          <p:nvPr/>
        </p:nvSpPr>
        <p:spPr>
          <a:xfrm>
            <a:off x="2128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6B680C7-FA7A-EE2E-7EC7-875C311A2632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Receiver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3D303DED-816A-4811-2EB4-60C25AFAB2FF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F50BDD9-CAED-C2E8-B51B-0C3765441F75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B03D4-072F-D11C-FBDE-ACEB5AB4655C}"/>
              </a:ext>
            </a:extLst>
          </p:cNvPr>
          <p:cNvSpPr txBox="1"/>
          <p:nvPr/>
        </p:nvSpPr>
        <p:spPr>
          <a:xfrm>
            <a:off x="3116910" y="997458"/>
            <a:ext cx="6000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 (Clean Output)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282C9-6E53-840C-0E7F-690FEAEDF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99" y="1450882"/>
            <a:ext cx="10549890" cy="469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125938"/>
      </p:ext>
    </p:extLst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350E4-584F-0B68-1E3C-63BC829F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98736C-FABA-2C78-8B2E-351806C378CC}"/>
              </a:ext>
            </a:extLst>
          </p:cNvPr>
          <p:cNvSpPr/>
          <p:nvPr/>
        </p:nvSpPr>
        <p:spPr>
          <a:xfrm>
            <a:off x="21285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FBF13B6-F955-E9CA-3D18-9ACA8392742F}"/>
              </a:ext>
            </a:extLst>
          </p:cNvPr>
          <p:cNvSpPr txBox="1"/>
          <p:nvPr/>
        </p:nvSpPr>
        <p:spPr>
          <a:xfrm>
            <a:off x="685099" y="384548"/>
            <a:ext cx="5994400" cy="48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2"/>
              </a:lnSpc>
              <a:spcBef>
                <a:spcPct val="0"/>
              </a:spcBef>
            </a:pPr>
            <a:r>
              <a:rPr lang="en-US" sz="2865" b="1" dirty="0">
                <a:solidFill>
                  <a:srgbClr val="004AAC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Receiver Design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F786CE4-90E3-C678-1AC1-70742306B6EF}"/>
              </a:ext>
            </a:extLst>
          </p:cNvPr>
          <p:cNvSpPr/>
          <p:nvPr/>
        </p:nvSpPr>
        <p:spPr>
          <a:xfrm flipV="1">
            <a:off x="668166" y="1057672"/>
            <a:ext cx="2616901" cy="12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7D8E939-6E99-ABA8-AC94-F549F77B3DA3}"/>
              </a:ext>
            </a:extLst>
          </p:cNvPr>
          <p:cNvSpPr txBox="1">
            <a:spLocks/>
          </p:cNvSpPr>
          <p:nvPr/>
        </p:nvSpPr>
        <p:spPr>
          <a:xfrm>
            <a:off x="419365" y="993329"/>
            <a:ext cx="9260661" cy="4413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0B81DD-B76C-DCB3-2A41-63478203E92E}"/>
              </a:ext>
            </a:extLst>
          </p:cNvPr>
          <p:cNvGrpSpPr/>
          <p:nvPr/>
        </p:nvGrpSpPr>
        <p:grpSpPr>
          <a:xfrm>
            <a:off x="2831688" y="1256730"/>
            <a:ext cx="6735097" cy="5085841"/>
            <a:chOff x="3175819" y="1314606"/>
            <a:chExt cx="5943600" cy="4485722"/>
          </a:xfrm>
        </p:grpSpPr>
        <p:pic>
          <p:nvPicPr>
            <p:cNvPr id="17" name="Picture 16" descr="PPT - DSB-SC &amp;amp; SSB PowerPoint Presentation, free download - ID:7069923">
              <a:extLst>
                <a:ext uri="{FF2B5EF4-FFF2-40B4-BE49-F238E27FC236}">
                  <a16:creationId xmlns:a16="http://schemas.microsoft.com/office/drawing/2014/main" id="{C9F9FFA5-4AEE-C818-8CFA-47C578162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0" r="11052" b="45765"/>
            <a:stretch>
              <a:fillRect/>
            </a:stretch>
          </p:blipFill>
          <p:spPr bwMode="auto">
            <a:xfrm>
              <a:off x="3175819" y="1314606"/>
              <a:ext cx="5943600" cy="24169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Picture 2" descr="PPT - DSB-SC &amp;amp; SSB PowerPoint Presentation, free download - ID:7069923">
              <a:extLst>
                <a:ext uri="{FF2B5EF4-FFF2-40B4-BE49-F238E27FC236}">
                  <a16:creationId xmlns:a16="http://schemas.microsoft.com/office/drawing/2014/main" id="{279EECE9-0530-8532-54D6-2C86D9946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902"/>
            <a:stretch>
              <a:fillRect/>
            </a:stretch>
          </p:blipFill>
          <p:spPr bwMode="auto">
            <a:xfrm>
              <a:off x="3175819" y="3701433"/>
              <a:ext cx="5943600" cy="209889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60672740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Power_electronics_Lab (1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Power_electronics_Lab (1)</Template>
  <TotalTime>19878</TotalTime>
  <Words>2672</Words>
  <Application>Microsoft Office PowerPoint</Application>
  <PresentationFormat>Widescreen</PresentationFormat>
  <Paragraphs>900</Paragraphs>
  <Slides>63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4" baseType="lpstr">
      <vt:lpstr>Aptos</vt:lpstr>
      <vt:lpstr>Arial</vt:lpstr>
      <vt:lpstr>Calibri</vt:lpstr>
      <vt:lpstr>Cambria Math</vt:lpstr>
      <vt:lpstr>Century</vt:lpstr>
      <vt:lpstr>Libre Baskerville</vt:lpstr>
      <vt:lpstr>Noto Sans Symbols</vt:lpstr>
      <vt:lpstr>Poppins</vt:lpstr>
      <vt:lpstr>Times New Roman</vt:lpstr>
      <vt:lpstr>Wingdings</vt:lpstr>
      <vt:lpstr>Power_electronics_Lab (1)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sazzad hossen</cp:lastModifiedBy>
  <cp:revision>441</cp:revision>
  <dcterms:created xsi:type="dcterms:W3CDTF">2025-07-24T05:37:48Z</dcterms:created>
  <dcterms:modified xsi:type="dcterms:W3CDTF">2026-03-01T09:21:33Z</dcterms:modified>
</cp:coreProperties>
</file>